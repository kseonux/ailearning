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1"/>
  </p:notesMasterIdLst>
  <p:sldIdLst>
    <p:sldId id="256" r:id="rId2"/>
    <p:sldId id="313" r:id="rId3"/>
    <p:sldId id="311" r:id="rId4"/>
    <p:sldId id="340" r:id="rId5"/>
    <p:sldId id="314" r:id="rId6"/>
    <p:sldId id="341" r:id="rId7"/>
    <p:sldId id="342" r:id="rId8"/>
    <p:sldId id="343" r:id="rId9"/>
    <p:sldId id="344" r:id="rId10"/>
    <p:sldId id="299" r:id="rId11"/>
    <p:sldId id="300" r:id="rId12"/>
    <p:sldId id="301" r:id="rId13"/>
    <p:sldId id="302" r:id="rId14"/>
    <p:sldId id="303" r:id="rId15"/>
    <p:sldId id="304" r:id="rId16"/>
    <p:sldId id="305" r:id="rId17"/>
    <p:sldId id="306" r:id="rId18"/>
    <p:sldId id="345" r:id="rId19"/>
    <p:sldId id="346" r:id="rId20"/>
    <p:sldId id="347" r:id="rId21"/>
    <p:sldId id="348" r:id="rId22"/>
    <p:sldId id="333" r:id="rId23"/>
    <p:sldId id="334" r:id="rId24"/>
    <p:sldId id="349"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63" r:id="rId38"/>
    <p:sldId id="364" r:id="rId39"/>
    <p:sldId id="365" r:id="rId40"/>
    <p:sldId id="366" r:id="rId41"/>
    <p:sldId id="373" r:id="rId42"/>
    <p:sldId id="367" r:id="rId43"/>
    <p:sldId id="368" r:id="rId44"/>
    <p:sldId id="369" r:id="rId45"/>
    <p:sldId id="370" r:id="rId46"/>
    <p:sldId id="371" r:id="rId47"/>
    <p:sldId id="372" r:id="rId48"/>
    <p:sldId id="381" r:id="rId49"/>
    <p:sldId id="375" r:id="rId50"/>
    <p:sldId id="377" r:id="rId51"/>
    <p:sldId id="315" r:id="rId52"/>
    <p:sldId id="316" r:id="rId53"/>
    <p:sldId id="318" r:id="rId54"/>
    <p:sldId id="319" r:id="rId55"/>
    <p:sldId id="374" r:id="rId56"/>
    <p:sldId id="380" r:id="rId57"/>
    <p:sldId id="350" r:id="rId58"/>
    <p:sldId id="339" r:id="rId59"/>
    <p:sldId id="379" r:id="rId6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lia Zahra"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92" autoAdjust="0"/>
  </p:normalViewPr>
  <p:slideViewPr>
    <p:cSldViewPr>
      <p:cViewPr varScale="1">
        <p:scale>
          <a:sx n="51" d="100"/>
          <a:sy n="51" d="100"/>
        </p:scale>
        <p:origin x="1672" y="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lia Zahra" userId="c987b9a3-8be1-4505-80f6-5a016d4ae3c7" providerId="ADAL" clId="{9F24EAED-D0DC-4AC6-A694-72087B277B62}"/>
    <pc:docChg chg="modSld">
      <pc:chgData name="Amalia Zahra" userId="c987b9a3-8be1-4505-80f6-5a016d4ae3c7" providerId="ADAL" clId="{9F24EAED-D0DC-4AC6-A694-72087B277B62}" dt="2023-06-11T21:55:01.753" v="3" actId="20577"/>
      <pc:docMkLst>
        <pc:docMk/>
      </pc:docMkLst>
      <pc:sldChg chg="modSp mod">
        <pc:chgData name="Amalia Zahra" userId="c987b9a3-8be1-4505-80f6-5a016d4ae3c7" providerId="ADAL" clId="{9F24EAED-D0DC-4AC6-A694-72087B277B62}" dt="2023-06-11T21:55:01.753" v="3" actId="20577"/>
        <pc:sldMkLst>
          <pc:docMk/>
          <pc:sldMk cId="0" sldId="256"/>
        </pc:sldMkLst>
        <pc:spChg chg="mod">
          <ac:chgData name="Amalia Zahra" userId="c987b9a3-8be1-4505-80f6-5a016d4ae3c7" providerId="ADAL" clId="{9F24EAED-D0DC-4AC6-A694-72087B277B62}" dt="2023-06-11T21:55:01.753" v="3" actId="20577"/>
          <ac:spMkLst>
            <pc:docMk/>
            <pc:sldMk cId="0" sldId="256"/>
            <ac:spMk id="4" creationId="{C238817E-C7D2-D99E-7294-259AF5B50D0B}"/>
          </ac:spMkLst>
        </pc:spChg>
      </pc:sldChg>
      <pc:sldChg chg="modSp mod">
        <pc:chgData name="Amalia Zahra" userId="c987b9a3-8be1-4505-80f6-5a016d4ae3c7" providerId="ADAL" clId="{9F24EAED-D0DC-4AC6-A694-72087B277B62}" dt="2023-06-11T21:29:23.636" v="1" actId="20577"/>
        <pc:sldMkLst>
          <pc:docMk/>
          <pc:sldMk cId="0" sldId="355"/>
        </pc:sldMkLst>
        <pc:spChg chg="mod">
          <ac:chgData name="Amalia Zahra" userId="c987b9a3-8be1-4505-80f6-5a016d4ae3c7" providerId="ADAL" clId="{9F24EAED-D0DC-4AC6-A694-72087B277B62}" dt="2023-06-11T21:29:23.636" v="1" actId="20577"/>
          <ac:spMkLst>
            <pc:docMk/>
            <pc:sldMk cId="0" sldId="355"/>
            <ac:spMk id="47111" creationId="{414AA20C-F2D7-F616-A50F-ABAF98ADA9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6AA59D-4024-945D-BE9C-02DC86A3C3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56047730-23CE-549B-7DD5-B646D224D0B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E149624E-24D9-4898-8378-34A865DAAE1B}" type="datetimeFigureOut">
              <a:rPr lang="en-US"/>
              <a:pPr>
                <a:defRPr/>
              </a:pPr>
              <a:t>6/12/2023</a:t>
            </a:fld>
            <a:endParaRPr lang="en-US"/>
          </a:p>
        </p:txBody>
      </p:sp>
      <p:sp>
        <p:nvSpPr>
          <p:cNvPr id="4" name="Slide Image Placeholder 3">
            <a:extLst>
              <a:ext uri="{FF2B5EF4-FFF2-40B4-BE49-F238E27FC236}">
                <a16:creationId xmlns:a16="http://schemas.microsoft.com/office/drawing/2014/main" id="{7378C245-5A21-4CE6-B2D4-2B0D75491237}"/>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DAE33A0-F2B8-3EA0-9011-032846D1A8D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6731FE9-83B3-1C1B-AFF5-287022FBB33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144467F1-43E8-8F01-D530-81B0ABACDA3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D8CA8831-AD81-4984-909B-8CCC7F0F4EF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18997AB-8554-04BA-B92E-B35DE9706259}"/>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7B6AFD36-330F-15C5-E31C-87413F09633A}"/>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28FB738-2023-77B6-8D83-4D3097C46FA5}"/>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AEAEE06B-3CDA-8E95-72D6-8598C0D289D7}"/>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r>
              <a:rPr lang="en-US" altLang="en-US"/>
              <a:t>Notes: all attributes type are same type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D31633E-0EC4-AF4A-2CE1-142193CAA4EA}"/>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61A8FB2A-388B-343E-C4E5-196806DE7413}"/>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B9B263A-9301-2354-58A8-F9166A35FF31}"/>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A3862587-32D9-7B92-1855-C535279788F0}"/>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5024E63-B84C-EAFB-2C9B-115DA2629BF3}"/>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77108ED1-BA47-828E-C88F-44E6D7D4ED44}"/>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F819B57-F169-E1C1-491C-DCA30198AB44}"/>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BA156D03-C259-02A4-92D2-391C53C4F82C}"/>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BC56D64-4A13-9DD9-C82F-163860EE3672}"/>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a:extLst>
              <a:ext uri="{FF2B5EF4-FFF2-40B4-BE49-F238E27FC236}">
                <a16:creationId xmlns:a16="http://schemas.microsoft.com/office/drawing/2014/main" id="{A1CD6B0B-18C7-9D81-3444-BAFA70F6EE23}"/>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DD6DA0C-3466-BBDB-1E6D-B3DFC9E8463F}"/>
              </a:ext>
            </a:extLst>
          </p:cNvPr>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a:extLst>
              <a:ext uri="{FF2B5EF4-FFF2-40B4-BE49-F238E27FC236}">
                <a16:creationId xmlns:a16="http://schemas.microsoft.com/office/drawing/2014/main" id="{605F37D4-3EF7-2CA5-B7BE-327B1A6067F1}"/>
              </a:ext>
            </a:extLst>
          </p:cNvPr>
          <p:cNvSpPr>
            <a:spLocks noGrp="1" noChangeArrowheads="1"/>
          </p:cNvSpPr>
          <p:nvPr>
            <p:ph type="body" idx="1"/>
          </p:nvPr>
        </p:nvSpPr>
        <p:spPr bwMode="auto">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893" tIns="44945" rIns="89893" bIns="44945"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CD954AC9-9313-6C02-5E06-CDFAAF58C94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id="{9C9B42D5-E4BE-D74D-2A0B-26A84815A5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https://www.digitalvidya.com/blog/data-cleaning-techniques/</a:t>
            </a:r>
          </a:p>
        </p:txBody>
      </p:sp>
      <p:sp>
        <p:nvSpPr>
          <p:cNvPr id="41988" name="Slide Number Placeholder 3">
            <a:extLst>
              <a:ext uri="{FF2B5EF4-FFF2-40B4-BE49-F238E27FC236}">
                <a16:creationId xmlns:a16="http://schemas.microsoft.com/office/drawing/2014/main" id="{1A812B86-F067-3AA0-1EB9-CE0F4266DF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3233321-A810-4CB1-B029-6B2405C89DFC}" type="slidenum">
              <a:rPr lang="en-US" altLang="en-US" smtClean="0"/>
              <a:pPr/>
              <a:t>26</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4B8DA6C0-5BA2-D977-0A9D-D17E9A5FC1A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8BE8FE46-ED12-8FD3-FD81-B8C998805F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https://www.dotgroup.co.uk/services/data-integration-health-check/</a:t>
            </a:r>
          </a:p>
        </p:txBody>
      </p:sp>
      <p:sp>
        <p:nvSpPr>
          <p:cNvPr id="44036" name="Slide Number Placeholder 3">
            <a:extLst>
              <a:ext uri="{FF2B5EF4-FFF2-40B4-BE49-F238E27FC236}">
                <a16:creationId xmlns:a16="http://schemas.microsoft.com/office/drawing/2014/main" id="{B6077E2C-69FA-4C8D-D375-7724E7E0C5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D288531-0EB4-46B1-B86C-A9BB7ADD081B}" type="slidenum">
              <a:rPr lang="en-US" altLang="en-US" smtClean="0"/>
              <a:pPr/>
              <a:t>27</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21B4C8F0-3674-CD12-92A2-6F87D956D73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4DB7579E-93BF-1A28-2AB4-54E3EEF7CCD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https://www.g-able.com/products/data-management-platform/attachment/data-transformation/</a:t>
            </a:r>
          </a:p>
        </p:txBody>
      </p:sp>
      <p:sp>
        <p:nvSpPr>
          <p:cNvPr id="46084" name="Slide Number Placeholder 3">
            <a:extLst>
              <a:ext uri="{FF2B5EF4-FFF2-40B4-BE49-F238E27FC236}">
                <a16:creationId xmlns:a16="http://schemas.microsoft.com/office/drawing/2014/main" id="{6E84F608-6439-452F-FDF1-2BC698B998A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EB08B39-985B-4F2F-A0DE-1AA4C5287E66}" type="slidenum">
              <a:rPr lang="en-US" altLang="en-US" smtClean="0"/>
              <a:pPr/>
              <a:t>28</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CE8335F5-C552-D0F5-7291-BC8504C338E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8BB2BF70-79F6-AEBF-63E7-148FBAB59A7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https://www.cohesity.com/blogs/the-four-immutable-laws-of-data-reduction/</a:t>
            </a:r>
          </a:p>
        </p:txBody>
      </p:sp>
      <p:sp>
        <p:nvSpPr>
          <p:cNvPr id="51204" name="Slide Number Placeholder 3">
            <a:extLst>
              <a:ext uri="{FF2B5EF4-FFF2-40B4-BE49-F238E27FC236}">
                <a16:creationId xmlns:a16="http://schemas.microsoft.com/office/drawing/2014/main" id="{2E1C3473-2A7F-C2C8-BDCA-4EAF0A56A7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1A60E3-51AA-4577-81E4-C4E578135082}" type="slidenum">
              <a:rPr lang="en-US" altLang="en-US" smtClean="0"/>
              <a:pPr/>
              <a:t>32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16500ADA-D31E-4BA1-7C62-7E5C80ED1BA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8F1C1A8D-7677-B1F4-A9BA-334D61DF647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https://towardsdatascience.com/an-introduction-to-discretization-in-data-science-55ef8c9775a2</a:t>
            </a:r>
          </a:p>
        </p:txBody>
      </p:sp>
      <p:sp>
        <p:nvSpPr>
          <p:cNvPr id="53252" name="Slide Number Placeholder 3">
            <a:extLst>
              <a:ext uri="{FF2B5EF4-FFF2-40B4-BE49-F238E27FC236}">
                <a16:creationId xmlns:a16="http://schemas.microsoft.com/office/drawing/2014/main" id="{2C79EB9F-461B-5453-2541-24A6E9F82A6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4F2B84B-BA87-46C3-B402-1673FE9EAB04}" type="slidenum">
              <a:rPr lang="en-US" altLang="en-US" smtClean="0"/>
              <a:pPr/>
              <a:t>33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2E3BEAFD-68B7-A6C8-CE40-CFB71EFC2DC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8E893818-F896-2D08-EB5E-EE49700DDF9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1444" name="Slide Number Placeholder 3">
            <a:extLst>
              <a:ext uri="{FF2B5EF4-FFF2-40B4-BE49-F238E27FC236}">
                <a16:creationId xmlns:a16="http://schemas.microsoft.com/office/drawing/2014/main" id="{17066447-3913-E73E-511B-AF4259BC25A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3261E1B-F956-4F6D-9CDD-E09E561A3612}" type="slidenum">
              <a:rPr lang="en-US" altLang="en-US" smtClean="0"/>
              <a:pPr/>
              <a:t>40</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575589E9-067E-FE47-34BA-42DCB6EF41D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4420FCF3-F9D0-EC0D-28F9-8AB3DD76331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Materi ini menggunakan contoh: https://www.megabagus.id/apa-itu-principal-component-analysis-pca/</a:t>
            </a:r>
          </a:p>
        </p:txBody>
      </p:sp>
      <p:sp>
        <p:nvSpPr>
          <p:cNvPr id="64516" name="Slide Number Placeholder 3">
            <a:extLst>
              <a:ext uri="{FF2B5EF4-FFF2-40B4-BE49-F238E27FC236}">
                <a16:creationId xmlns:a16="http://schemas.microsoft.com/office/drawing/2014/main" id="{3D691EE1-C8C3-8A9F-1C09-A42983113B9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6EC23C-3550-404E-837C-9C0F1BADA5C6}" type="slidenum">
              <a:rPr lang="en-US" altLang="en-US" smtClean="0"/>
              <a:pPr/>
              <a:t>42</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069DE1E3-66B8-90E3-E816-0800D7F6B01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CA0F946D-72E2-A4D1-5541-A9F7DE90F79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Materi ini menggunakan contoh: https://www.megabagus.id/apa-itu-principal-component-analysis-pca/</a:t>
            </a:r>
          </a:p>
        </p:txBody>
      </p:sp>
      <p:sp>
        <p:nvSpPr>
          <p:cNvPr id="66564" name="Slide Number Placeholder 3">
            <a:extLst>
              <a:ext uri="{FF2B5EF4-FFF2-40B4-BE49-F238E27FC236}">
                <a16:creationId xmlns:a16="http://schemas.microsoft.com/office/drawing/2014/main" id="{331EF572-BC0A-7CB0-33F3-0DF3F1A03CC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7FC9135-78B2-4844-BBA2-1FB06017BA1F}" type="slidenum">
              <a:rPr lang="en-US" altLang="en-US" smtClean="0"/>
              <a:pPr/>
              <a:t>43</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D9A874B7-7A99-F449-82EF-573F84B636C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51A4066A-250C-9761-5D00-F1717E11A9D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Data: 12, 8, 20, 4, 9, 13, 15, 7</a:t>
            </a:r>
          </a:p>
          <a:p>
            <a:r>
              <a:rPr lang="en-US" altLang="en-US"/>
              <a:t>Total= 88</a:t>
            </a:r>
          </a:p>
          <a:p>
            <a:r>
              <a:rPr lang="en-US" altLang="en-US"/>
              <a:t>Sorted data: 4, 7, 8, 9, 12, 13, 15, 20</a:t>
            </a:r>
          </a:p>
          <a:p>
            <a:r>
              <a:rPr lang="en-US" altLang="en-US"/>
              <a:t>Fi (%) = 4.6, 12.5, 21.5, … dst</a:t>
            </a:r>
          </a:p>
        </p:txBody>
      </p:sp>
      <p:sp>
        <p:nvSpPr>
          <p:cNvPr id="75780" name="Slide Number Placeholder 3">
            <a:extLst>
              <a:ext uri="{FF2B5EF4-FFF2-40B4-BE49-F238E27FC236}">
                <a16:creationId xmlns:a16="http://schemas.microsoft.com/office/drawing/2014/main" id="{2F3DA0EA-04AE-5899-A48A-C19A1BCC1E1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08FB73D-1F0F-4C9F-80F9-81CEC526C1A1}" type="slidenum">
              <a:rPr lang="en-US" altLang="en-US" smtClean="0"/>
              <a:pPr/>
              <a:t>52</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93102E70-D841-53AA-EDEA-2EFDB64F758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330B2EA4-BC9E-024B-7382-D15CD0F139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Demo: </a:t>
            </a:r>
            <a:r>
              <a:rPr lang="en-US" altLang="en-US"/>
              <a:t>correlation between a3 and a4 attributes of Iris data</a:t>
            </a:r>
            <a:endParaRPr lang="en-US" altLang="en-US" b="1"/>
          </a:p>
        </p:txBody>
      </p:sp>
      <p:sp>
        <p:nvSpPr>
          <p:cNvPr id="78852" name="Slide Number Placeholder 3">
            <a:extLst>
              <a:ext uri="{FF2B5EF4-FFF2-40B4-BE49-F238E27FC236}">
                <a16:creationId xmlns:a16="http://schemas.microsoft.com/office/drawing/2014/main" id="{7FCB9D37-411C-AFFF-E274-9DB57D58831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2CC48B-E572-4FA4-89C9-324CD2FD04E6}" type="slidenum">
              <a:rPr lang="en-US" altLang="en-US" smtClean="0"/>
              <a:pPr/>
              <a:t>54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5F55DA35-32CC-1A38-DD17-55F45F45FBC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2807" r="1285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752600" y="2416175"/>
            <a:ext cx="7315200" cy="1470025"/>
          </a:xfrm>
        </p:spPr>
        <p:txBody>
          <a:bodyPr/>
          <a:lstStyle/>
          <a:p>
            <a:r>
              <a:rPr lang="en-US"/>
              <a:t>Click to edit Master title style</a:t>
            </a:r>
          </a:p>
        </p:txBody>
      </p:sp>
      <p:sp>
        <p:nvSpPr>
          <p:cNvPr id="3" name="Subtitle 2"/>
          <p:cNvSpPr>
            <a:spLocks noGrp="1"/>
          </p:cNvSpPr>
          <p:nvPr>
            <p:ph type="subTitle" idx="1"/>
          </p:nvPr>
        </p:nvSpPr>
        <p:spPr>
          <a:xfrm>
            <a:off x="1676400" y="41148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A0707047-0201-230F-8913-25D1C2316ED3}"/>
              </a:ext>
            </a:extLst>
          </p:cNvPr>
          <p:cNvSpPr>
            <a:spLocks noGrp="1"/>
          </p:cNvSpPr>
          <p:nvPr>
            <p:ph type="dt" sz="half" idx="10"/>
          </p:nvPr>
        </p:nvSpPr>
        <p:spPr/>
        <p:txBody>
          <a:bodyPr/>
          <a:lstStyle>
            <a:lvl1pPr>
              <a:defRPr/>
            </a:lvl1pPr>
          </a:lstStyle>
          <a:p>
            <a:pPr>
              <a:defRPr/>
            </a:pPr>
            <a:fld id="{1162900C-F5B1-47A2-9DEC-48D4A9476B2C}" type="datetime1">
              <a:rPr lang="en-US"/>
              <a:pPr>
                <a:defRPr/>
              </a:pPr>
              <a:t>6/12/2023</a:t>
            </a:fld>
            <a:endParaRPr lang="en-US"/>
          </a:p>
        </p:txBody>
      </p:sp>
      <p:sp>
        <p:nvSpPr>
          <p:cNvPr id="6" name="Footer Placeholder 4">
            <a:extLst>
              <a:ext uri="{FF2B5EF4-FFF2-40B4-BE49-F238E27FC236}">
                <a16:creationId xmlns:a16="http://schemas.microsoft.com/office/drawing/2014/main" id="{F4CC04DA-FAC7-2BB9-D870-9B308120DDF4}"/>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7" name="Slide Number Placeholder 5">
            <a:extLst>
              <a:ext uri="{FF2B5EF4-FFF2-40B4-BE49-F238E27FC236}">
                <a16:creationId xmlns:a16="http://schemas.microsoft.com/office/drawing/2014/main" id="{CCC2A169-B353-C924-B1F2-64A0800038B5}"/>
              </a:ext>
            </a:extLst>
          </p:cNvPr>
          <p:cNvSpPr>
            <a:spLocks noGrp="1"/>
          </p:cNvSpPr>
          <p:nvPr>
            <p:ph type="sldNum" sz="quarter" idx="12"/>
          </p:nvPr>
        </p:nvSpPr>
        <p:spPr/>
        <p:txBody>
          <a:bodyPr/>
          <a:lstStyle>
            <a:lvl1pPr>
              <a:defRPr/>
            </a:lvl1pPr>
          </a:lstStyle>
          <a:p>
            <a:pPr>
              <a:defRPr/>
            </a:pPr>
            <a:fld id="{A8804CBC-F25E-416E-97C1-71A670592A5B}" type="slidenum">
              <a:rPr lang="en-US" altLang="en-US"/>
              <a:pPr>
                <a:defRPr/>
              </a:pPr>
              <a:t>‹#›</a:t>
            </a:fld>
            <a:endParaRPr lang="en-US" altLang="en-US"/>
          </a:p>
        </p:txBody>
      </p:sp>
    </p:spTree>
    <p:extLst>
      <p:ext uri="{BB962C8B-B14F-4D97-AF65-F5344CB8AC3E}">
        <p14:creationId xmlns:p14="http://schemas.microsoft.com/office/powerpoint/2010/main" val="478712181"/>
      </p:ext>
    </p:extLst>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7400" y="381000"/>
            <a:ext cx="6324600" cy="1143000"/>
          </a:xfrm>
        </p:spPr>
        <p:txBody>
          <a:bodyPr>
            <a:normAutofit/>
          </a:bodyPr>
          <a:lstStyle>
            <a:lvl1pPr>
              <a:defRPr sz="3600" b="1">
                <a:latin typeface="Open Sans"/>
              </a:defRPr>
            </a:lvl1pPr>
          </a:lstStyle>
          <a:p>
            <a:r>
              <a:rPr lang="en-US" dirty="0"/>
              <a:t>Click to edit Master title style</a:t>
            </a:r>
          </a:p>
        </p:txBody>
      </p:sp>
      <p:sp>
        <p:nvSpPr>
          <p:cNvPr id="3" name="Content Placeholder 2"/>
          <p:cNvSpPr>
            <a:spLocks noGrp="1"/>
          </p:cNvSpPr>
          <p:nvPr>
            <p:ph idx="1"/>
          </p:nvPr>
        </p:nvSpPr>
        <p:spPr>
          <a:xfrm>
            <a:off x="685800" y="1676400"/>
            <a:ext cx="8229600" cy="4953000"/>
          </a:xfrm>
        </p:spPr>
        <p:txBody>
          <a:bodyPr>
            <a:normAutofit/>
          </a:bodyPr>
          <a:lstStyle>
            <a:lvl1pPr>
              <a:defRPr sz="2800">
                <a:latin typeface="Open Sans"/>
              </a:defRPr>
            </a:lvl1pPr>
            <a:lvl2pPr>
              <a:defRPr sz="2800">
                <a:latin typeface="Open Sans"/>
              </a:defRPr>
            </a:lvl2pPr>
            <a:lvl3pPr>
              <a:defRPr sz="2800">
                <a:latin typeface="Open Sans"/>
              </a:defRPr>
            </a:lvl3pPr>
            <a:lvl4pPr>
              <a:defRPr sz="2800">
                <a:latin typeface="Open Sans"/>
              </a:defRPr>
            </a:lvl4pPr>
            <a:lvl5pPr>
              <a:defRPr sz="2800">
                <a:latin typeface="Open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AAA70AF-6108-889A-EA66-69ED8A97631E}"/>
              </a:ext>
            </a:extLst>
          </p:cNvPr>
          <p:cNvSpPr>
            <a:spLocks noGrp="1"/>
          </p:cNvSpPr>
          <p:nvPr>
            <p:ph type="dt" sz="half" idx="10"/>
          </p:nvPr>
        </p:nvSpPr>
        <p:spPr>
          <a:xfrm>
            <a:off x="447675" y="6526213"/>
            <a:ext cx="2133600" cy="365125"/>
          </a:xfrm>
        </p:spPr>
        <p:txBody>
          <a:bodyPr/>
          <a:lstStyle>
            <a:lvl1pPr>
              <a:defRPr/>
            </a:lvl1pPr>
          </a:lstStyle>
          <a:p>
            <a:pPr>
              <a:defRPr/>
            </a:pPr>
            <a:fld id="{1DD9CD23-7877-441F-9B64-7AA93F2561FC}" type="datetime1">
              <a:rPr lang="en-US"/>
              <a:pPr>
                <a:defRPr/>
              </a:pPr>
              <a:t>6/12/2023</a:t>
            </a:fld>
            <a:endParaRPr lang="en-US"/>
          </a:p>
        </p:txBody>
      </p:sp>
      <p:sp>
        <p:nvSpPr>
          <p:cNvPr id="5" name="Footer Placeholder 4">
            <a:extLst>
              <a:ext uri="{FF2B5EF4-FFF2-40B4-BE49-F238E27FC236}">
                <a16:creationId xmlns:a16="http://schemas.microsoft.com/office/drawing/2014/main" id="{F38D9E65-65B9-3C75-A1ED-ED9AD35DD3BB}"/>
              </a:ext>
            </a:extLst>
          </p:cNvPr>
          <p:cNvSpPr>
            <a:spLocks noGrp="1"/>
          </p:cNvSpPr>
          <p:nvPr>
            <p:ph type="ftr" sz="quarter" idx="11"/>
          </p:nvPr>
        </p:nvSpPr>
        <p:spPr>
          <a:xfrm>
            <a:off x="3267075" y="6526213"/>
            <a:ext cx="2895600" cy="365125"/>
          </a:xfrm>
        </p:spPr>
        <p:txBody>
          <a:bodyPr/>
          <a:lstStyle>
            <a:lvl1pPr>
              <a:defRPr/>
            </a:lvl1pPr>
          </a:lstStyle>
          <a:p>
            <a:pPr>
              <a:defRPr/>
            </a:pPr>
            <a:r>
              <a:rPr lang="en-US"/>
              <a:t>Data Exploration and Pre-processing</a:t>
            </a:r>
          </a:p>
        </p:txBody>
      </p:sp>
      <p:sp>
        <p:nvSpPr>
          <p:cNvPr id="6" name="Slide Number Placeholder 5">
            <a:extLst>
              <a:ext uri="{FF2B5EF4-FFF2-40B4-BE49-F238E27FC236}">
                <a16:creationId xmlns:a16="http://schemas.microsoft.com/office/drawing/2014/main" id="{238D461B-24F0-D529-46A0-C677539BFF5E}"/>
              </a:ext>
            </a:extLst>
          </p:cNvPr>
          <p:cNvSpPr>
            <a:spLocks noGrp="1"/>
          </p:cNvSpPr>
          <p:nvPr>
            <p:ph type="sldNum" sz="quarter" idx="12"/>
          </p:nvPr>
        </p:nvSpPr>
        <p:spPr>
          <a:xfrm>
            <a:off x="7000875" y="6526213"/>
            <a:ext cx="2133600" cy="365125"/>
          </a:xfrm>
        </p:spPr>
        <p:txBody>
          <a:bodyPr/>
          <a:lstStyle>
            <a:lvl1pPr>
              <a:defRPr/>
            </a:lvl1pPr>
          </a:lstStyle>
          <a:p>
            <a:pPr>
              <a:defRPr/>
            </a:pPr>
            <a:fld id="{0E35D239-A77B-4EEC-8F95-70EE8DB22A37}" type="slidenum">
              <a:rPr lang="en-US" altLang="en-US"/>
              <a:pPr>
                <a:defRPr/>
              </a:pPr>
              <a:t>‹#›</a:t>
            </a:fld>
            <a:endParaRPr lang="en-US" altLang="en-US"/>
          </a:p>
        </p:txBody>
      </p:sp>
    </p:spTree>
    <p:extLst>
      <p:ext uri="{BB962C8B-B14F-4D97-AF65-F5344CB8AC3E}">
        <p14:creationId xmlns:p14="http://schemas.microsoft.com/office/powerpoint/2010/main" val="1465224806"/>
      </p:ext>
    </p:extLst>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4B5A1-2A3C-2C52-77A4-C88F57A18861}"/>
              </a:ext>
            </a:extLst>
          </p:cNvPr>
          <p:cNvSpPr>
            <a:spLocks noGrp="1"/>
          </p:cNvSpPr>
          <p:nvPr>
            <p:ph type="dt" sz="half" idx="10"/>
          </p:nvPr>
        </p:nvSpPr>
        <p:spPr/>
        <p:txBody>
          <a:bodyPr/>
          <a:lstStyle>
            <a:lvl1pPr>
              <a:defRPr/>
            </a:lvl1pPr>
          </a:lstStyle>
          <a:p>
            <a:pPr>
              <a:defRPr/>
            </a:pPr>
            <a:fld id="{0F04C313-EB74-487D-A292-A203E37BD0F1}" type="datetime1">
              <a:rPr lang="en-US"/>
              <a:pPr>
                <a:defRPr/>
              </a:pPr>
              <a:t>6/12/2023</a:t>
            </a:fld>
            <a:endParaRPr lang="en-US"/>
          </a:p>
        </p:txBody>
      </p:sp>
      <p:sp>
        <p:nvSpPr>
          <p:cNvPr id="5" name="Footer Placeholder 4">
            <a:extLst>
              <a:ext uri="{FF2B5EF4-FFF2-40B4-BE49-F238E27FC236}">
                <a16:creationId xmlns:a16="http://schemas.microsoft.com/office/drawing/2014/main" id="{3EDBED4C-1745-3A74-4C7B-1E9796A19DAF}"/>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6" name="Slide Number Placeholder 5">
            <a:extLst>
              <a:ext uri="{FF2B5EF4-FFF2-40B4-BE49-F238E27FC236}">
                <a16:creationId xmlns:a16="http://schemas.microsoft.com/office/drawing/2014/main" id="{DAF64E41-4BD5-034C-8C5F-D9E74B2EAF8B}"/>
              </a:ext>
            </a:extLst>
          </p:cNvPr>
          <p:cNvSpPr>
            <a:spLocks noGrp="1"/>
          </p:cNvSpPr>
          <p:nvPr>
            <p:ph type="sldNum" sz="quarter" idx="12"/>
          </p:nvPr>
        </p:nvSpPr>
        <p:spPr/>
        <p:txBody>
          <a:bodyPr/>
          <a:lstStyle>
            <a:lvl1pPr>
              <a:defRPr/>
            </a:lvl1pPr>
          </a:lstStyle>
          <a:p>
            <a:pPr>
              <a:defRPr/>
            </a:pPr>
            <a:fld id="{882C4000-ABCE-486C-A2E9-99263A65EC34}" type="slidenum">
              <a:rPr lang="en-US" altLang="en-US"/>
              <a:pPr>
                <a:defRPr/>
              </a:pPr>
              <a:t>‹#›</a:t>
            </a:fld>
            <a:endParaRPr lang="en-US" altLang="en-US"/>
          </a:p>
        </p:txBody>
      </p:sp>
    </p:spTree>
    <p:extLst>
      <p:ext uri="{BB962C8B-B14F-4D97-AF65-F5344CB8AC3E}">
        <p14:creationId xmlns:p14="http://schemas.microsoft.com/office/powerpoint/2010/main" val="49392900"/>
      </p:ext>
    </p:extLst>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513A6E1-0CB7-5E3C-3085-A7D74F4A9455}"/>
              </a:ext>
            </a:extLst>
          </p:cNvPr>
          <p:cNvSpPr>
            <a:spLocks noGrp="1"/>
          </p:cNvSpPr>
          <p:nvPr>
            <p:ph type="dt" sz="half" idx="10"/>
          </p:nvPr>
        </p:nvSpPr>
        <p:spPr/>
        <p:txBody>
          <a:bodyPr/>
          <a:lstStyle>
            <a:lvl1pPr>
              <a:defRPr/>
            </a:lvl1pPr>
          </a:lstStyle>
          <a:p>
            <a:pPr>
              <a:defRPr/>
            </a:pPr>
            <a:fld id="{F4855B61-5C25-4F7F-93FE-A937E312297B}" type="datetime1">
              <a:rPr lang="en-US"/>
              <a:pPr>
                <a:defRPr/>
              </a:pPr>
              <a:t>6/12/2023</a:t>
            </a:fld>
            <a:endParaRPr lang="en-US"/>
          </a:p>
        </p:txBody>
      </p:sp>
      <p:sp>
        <p:nvSpPr>
          <p:cNvPr id="6" name="Footer Placeholder 4">
            <a:extLst>
              <a:ext uri="{FF2B5EF4-FFF2-40B4-BE49-F238E27FC236}">
                <a16:creationId xmlns:a16="http://schemas.microsoft.com/office/drawing/2014/main" id="{369C5A23-2383-302E-EA86-AD5D4940CEF2}"/>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7" name="Slide Number Placeholder 5">
            <a:extLst>
              <a:ext uri="{FF2B5EF4-FFF2-40B4-BE49-F238E27FC236}">
                <a16:creationId xmlns:a16="http://schemas.microsoft.com/office/drawing/2014/main" id="{46122970-1923-C7D3-3C80-25F7BBD8F22A}"/>
              </a:ext>
            </a:extLst>
          </p:cNvPr>
          <p:cNvSpPr>
            <a:spLocks noGrp="1"/>
          </p:cNvSpPr>
          <p:nvPr>
            <p:ph type="sldNum" sz="quarter" idx="12"/>
          </p:nvPr>
        </p:nvSpPr>
        <p:spPr/>
        <p:txBody>
          <a:bodyPr/>
          <a:lstStyle>
            <a:lvl1pPr>
              <a:defRPr/>
            </a:lvl1pPr>
          </a:lstStyle>
          <a:p>
            <a:pPr>
              <a:defRPr/>
            </a:pPr>
            <a:fld id="{EB0DEA84-2FD7-4155-B549-C0A3229A6F14}" type="slidenum">
              <a:rPr lang="en-US" altLang="en-US"/>
              <a:pPr>
                <a:defRPr/>
              </a:pPr>
              <a:t>‹#›</a:t>
            </a:fld>
            <a:endParaRPr lang="en-US" altLang="en-US"/>
          </a:p>
        </p:txBody>
      </p:sp>
    </p:spTree>
    <p:extLst>
      <p:ext uri="{BB962C8B-B14F-4D97-AF65-F5344CB8AC3E}">
        <p14:creationId xmlns:p14="http://schemas.microsoft.com/office/powerpoint/2010/main" val="3889247994"/>
      </p:ext>
    </p:extLst>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6DD8234-18AB-4DB4-A6DB-6941A38F3C02}"/>
              </a:ext>
            </a:extLst>
          </p:cNvPr>
          <p:cNvSpPr>
            <a:spLocks noGrp="1"/>
          </p:cNvSpPr>
          <p:nvPr>
            <p:ph type="dt" sz="half" idx="10"/>
          </p:nvPr>
        </p:nvSpPr>
        <p:spPr/>
        <p:txBody>
          <a:bodyPr/>
          <a:lstStyle>
            <a:lvl1pPr>
              <a:defRPr/>
            </a:lvl1pPr>
          </a:lstStyle>
          <a:p>
            <a:pPr>
              <a:defRPr/>
            </a:pPr>
            <a:fld id="{754DB918-57D2-4A9D-964D-C3501402030C}" type="datetime1">
              <a:rPr lang="en-US"/>
              <a:pPr>
                <a:defRPr/>
              </a:pPr>
              <a:t>6/12/2023</a:t>
            </a:fld>
            <a:endParaRPr lang="en-US"/>
          </a:p>
        </p:txBody>
      </p:sp>
      <p:sp>
        <p:nvSpPr>
          <p:cNvPr id="8" name="Footer Placeholder 4">
            <a:extLst>
              <a:ext uri="{FF2B5EF4-FFF2-40B4-BE49-F238E27FC236}">
                <a16:creationId xmlns:a16="http://schemas.microsoft.com/office/drawing/2014/main" id="{59D2DB94-D3A8-FC31-EE3D-28F318EC0E3F}"/>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9" name="Slide Number Placeholder 5">
            <a:extLst>
              <a:ext uri="{FF2B5EF4-FFF2-40B4-BE49-F238E27FC236}">
                <a16:creationId xmlns:a16="http://schemas.microsoft.com/office/drawing/2014/main" id="{86131B14-AA9E-2D45-60D3-CF915B717293}"/>
              </a:ext>
            </a:extLst>
          </p:cNvPr>
          <p:cNvSpPr>
            <a:spLocks noGrp="1"/>
          </p:cNvSpPr>
          <p:nvPr>
            <p:ph type="sldNum" sz="quarter" idx="12"/>
          </p:nvPr>
        </p:nvSpPr>
        <p:spPr/>
        <p:txBody>
          <a:bodyPr/>
          <a:lstStyle>
            <a:lvl1pPr>
              <a:defRPr/>
            </a:lvl1pPr>
          </a:lstStyle>
          <a:p>
            <a:pPr>
              <a:defRPr/>
            </a:pPr>
            <a:fld id="{B984403E-B122-4A7E-966F-0C5CC208A000}" type="slidenum">
              <a:rPr lang="en-US" altLang="en-US"/>
              <a:pPr>
                <a:defRPr/>
              </a:pPr>
              <a:t>‹#›</a:t>
            </a:fld>
            <a:endParaRPr lang="en-US" altLang="en-US"/>
          </a:p>
        </p:txBody>
      </p:sp>
    </p:spTree>
    <p:extLst>
      <p:ext uri="{BB962C8B-B14F-4D97-AF65-F5344CB8AC3E}">
        <p14:creationId xmlns:p14="http://schemas.microsoft.com/office/powerpoint/2010/main" val="1743979279"/>
      </p:ext>
    </p:extLst>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429000" y="304800"/>
            <a:ext cx="7010400" cy="1143000"/>
          </a:xfrm>
        </p:spPr>
        <p:txBody>
          <a:bodyPr/>
          <a:lstStyle/>
          <a:p>
            <a:r>
              <a:rPr lang="en-US"/>
              <a:t>Click to edit Master title style</a:t>
            </a:r>
          </a:p>
        </p:txBody>
      </p:sp>
      <p:sp>
        <p:nvSpPr>
          <p:cNvPr id="3" name="Date Placeholder 3">
            <a:extLst>
              <a:ext uri="{FF2B5EF4-FFF2-40B4-BE49-F238E27FC236}">
                <a16:creationId xmlns:a16="http://schemas.microsoft.com/office/drawing/2014/main" id="{BF86BE6B-ACDA-D312-58D4-4E4688BF2969}"/>
              </a:ext>
            </a:extLst>
          </p:cNvPr>
          <p:cNvSpPr>
            <a:spLocks noGrp="1"/>
          </p:cNvSpPr>
          <p:nvPr>
            <p:ph type="dt" sz="half" idx="10"/>
          </p:nvPr>
        </p:nvSpPr>
        <p:spPr/>
        <p:txBody>
          <a:bodyPr/>
          <a:lstStyle>
            <a:lvl1pPr>
              <a:defRPr/>
            </a:lvl1pPr>
          </a:lstStyle>
          <a:p>
            <a:pPr>
              <a:defRPr/>
            </a:pPr>
            <a:fld id="{BA9561FA-B0CC-4077-A7D3-E8B8A0D9B522}" type="datetime1">
              <a:rPr lang="en-US"/>
              <a:pPr>
                <a:defRPr/>
              </a:pPr>
              <a:t>6/12/2023</a:t>
            </a:fld>
            <a:endParaRPr lang="en-US"/>
          </a:p>
        </p:txBody>
      </p:sp>
      <p:sp>
        <p:nvSpPr>
          <p:cNvPr id="4" name="Footer Placeholder 4">
            <a:extLst>
              <a:ext uri="{FF2B5EF4-FFF2-40B4-BE49-F238E27FC236}">
                <a16:creationId xmlns:a16="http://schemas.microsoft.com/office/drawing/2014/main" id="{6CF03903-5FEE-E48A-CC3E-E4062A3DB3DB}"/>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5" name="Slide Number Placeholder 5">
            <a:extLst>
              <a:ext uri="{FF2B5EF4-FFF2-40B4-BE49-F238E27FC236}">
                <a16:creationId xmlns:a16="http://schemas.microsoft.com/office/drawing/2014/main" id="{BDA00E94-35C4-9BE8-318A-971E92DA9E9A}"/>
              </a:ext>
            </a:extLst>
          </p:cNvPr>
          <p:cNvSpPr>
            <a:spLocks noGrp="1"/>
          </p:cNvSpPr>
          <p:nvPr>
            <p:ph type="sldNum" sz="quarter" idx="12"/>
          </p:nvPr>
        </p:nvSpPr>
        <p:spPr/>
        <p:txBody>
          <a:bodyPr/>
          <a:lstStyle>
            <a:lvl1pPr>
              <a:defRPr/>
            </a:lvl1pPr>
          </a:lstStyle>
          <a:p>
            <a:pPr>
              <a:defRPr/>
            </a:pPr>
            <a:fld id="{4B3646B7-8D54-4EA4-892C-C374E937E4D8}" type="slidenum">
              <a:rPr lang="en-US" altLang="en-US"/>
              <a:pPr>
                <a:defRPr/>
              </a:pPr>
              <a:t>‹#›</a:t>
            </a:fld>
            <a:endParaRPr lang="en-US" altLang="en-US"/>
          </a:p>
        </p:txBody>
      </p:sp>
    </p:spTree>
    <p:extLst>
      <p:ext uri="{BB962C8B-B14F-4D97-AF65-F5344CB8AC3E}">
        <p14:creationId xmlns:p14="http://schemas.microsoft.com/office/powerpoint/2010/main" val="3819689309"/>
      </p:ext>
    </p:extLst>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C2CE83E-4617-60B2-7682-FA9B4AF2C0A3}"/>
              </a:ext>
            </a:extLst>
          </p:cNvPr>
          <p:cNvSpPr>
            <a:spLocks noGrp="1"/>
          </p:cNvSpPr>
          <p:nvPr>
            <p:ph type="dt" sz="half" idx="10"/>
          </p:nvPr>
        </p:nvSpPr>
        <p:spPr/>
        <p:txBody>
          <a:bodyPr/>
          <a:lstStyle>
            <a:lvl1pPr>
              <a:defRPr/>
            </a:lvl1pPr>
          </a:lstStyle>
          <a:p>
            <a:pPr>
              <a:defRPr/>
            </a:pPr>
            <a:fld id="{E6228B73-98CE-4460-86E8-1F11AA349A2D}" type="datetime1">
              <a:rPr lang="en-US"/>
              <a:pPr>
                <a:defRPr/>
              </a:pPr>
              <a:t>6/12/2023</a:t>
            </a:fld>
            <a:endParaRPr lang="en-US"/>
          </a:p>
        </p:txBody>
      </p:sp>
      <p:sp>
        <p:nvSpPr>
          <p:cNvPr id="3" name="Footer Placeholder 4">
            <a:extLst>
              <a:ext uri="{FF2B5EF4-FFF2-40B4-BE49-F238E27FC236}">
                <a16:creationId xmlns:a16="http://schemas.microsoft.com/office/drawing/2014/main" id="{F50AB4DC-C60C-EC89-833C-96110E695928}"/>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4" name="Slide Number Placeholder 5">
            <a:extLst>
              <a:ext uri="{FF2B5EF4-FFF2-40B4-BE49-F238E27FC236}">
                <a16:creationId xmlns:a16="http://schemas.microsoft.com/office/drawing/2014/main" id="{58E51A23-6286-FB72-9413-1916B7CDAF7C}"/>
              </a:ext>
            </a:extLst>
          </p:cNvPr>
          <p:cNvSpPr>
            <a:spLocks noGrp="1"/>
          </p:cNvSpPr>
          <p:nvPr>
            <p:ph type="sldNum" sz="quarter" idx="12"/>
          </p:nvPr>
        </p:nvSpPr>
        <p:spPr/>
        <p:txBody>
          <a:bodyPr/>
          <a:lstStyle>
            <a:lvl1pPr>
              <a:defRPr/>
            </a:lvl1pPr>
          </a:lstStyle>
          <a:p>
            <a:pPr>
              <a:defRPr/>
            </a:pPr>
            <a:fld id="{B580C7A7-FA0D-4ED2-B55B-1A7C85EAB305}" type="slidenum">
              <a:rPr lang="en-US" altLang="en-US"/>
              <a:pPr>
                <a:defRPr/>
              </a:pPr>
              <a:t>‹#›</a:t>
            </a:fld>
            <a:endParaRPr lang="en-US" altLang="en-US"/>
          </a:p>
        </p:txBody>
      </p:sp>
    </p:spTree>
    <p:extLst>
      <p:ext uri="{BB962C8B-B14F-4D97-AF65-F5344CB8AC3E}">
        <p14:creationId xmlns:p14="http://schemas.microsoft.com/office/powerpoint/2010/main" val="923751306"/>
      </p:ext>
    </p:extLst>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7697BF6-E1D1-8A95-1031-7184A9822EE8}"/>
              </a:ext>
            </a:extLst>
          </p:cNvPr>
          <p:cNvSpPr>
            <a:spLocks noGrp="1"/>
          </p:cNvSpPr>
          <p:nvPr>
            <p:ph type="dt" sz="half" idx="10"/>
          </p:nvPr>
        </p:nvSpPr>
        <p:spPr/>
        <p:txBody>
          <a:bodyPr/>
          <a:lstStyle>
            <a:lvl1pPr>
              <a:defRPr/>
            </a:lvl1pPr>
          </a:lstStyle>
          <a:p>
            <a:pPr>
              <a:defRPr/>
            </a:pPr>
            <a:fld id="{789744B2-1266-4DF0-8AB4-C86ED41C2360}" type="datetime1">
              <a:rPr lang="en-US"/>
              <a:pPr>
                <a:defRPr/>
              </a:pPr>
              <a:t>6/12/2023</a:t>
            </a:fld>
            <a:endParaRPr lang="en-US"/>
          </a:p>
        </p:txBody>
      </p:sp>
      <p:sp>
        <p:nvSpPr>
          <p:cNvPr id="6" name="Footer Placeholder 4">
            <a:extLst>
              <a:ext uri="{FF2B5EF4-FFF2-40B4-BE49-F238E27FC236}">
                <a16:creationId xmlns:a16="http://schemas.microsoft.com/office/drawing/2014/main" id="{61A999E0-B07C-DADF-1BA4-CADFE475643B}"/>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7" name="Slide Number Placeholder 5">
            <a:extLst>
              <a:ext uri="{FF2B5EF4-FFF2-40B4-BE49-F238E27FC236}">
                <a16:creationId xmlns:a16="http://schemas.microsoft.com/office/drawing/2014/main" id="{450E3F53-AC37-77DD-3A8C-A8F6957B0506}"/>
              </a:ext>
            </a:extLst>
          </p:cNvPr>
          <p:cNvSpPr>
            <a:spLocks noGrp="1"/>
          </p:cNvSpPr>
          <p:nvPr>
            <p:ph type="sldNum" sz="quarter" idx="12"/>
          </p:nvPr>
        </p:nvSpPr>
        <p:spPr/>
        <p:txBody>
          <a:bodyPr/>
          <a:lstStyle>
            <a:lvl1pPr>
              <a:defRPr/>
            </a:lvl1pPr>
          </a:lstStyle>
          <a:p>
            <a:pPr>
              <a:defRPr/>
            </a:pPr>
            <a:fld id="{35401378-1ADA-4505-906D-24535ECF4A18}" type="slidenum">
              <a:rPr lang="en-US" altLang="en-US"/>
              <a:pPr>
                <a:defRPr/>
              </a:pPr>
              <a:t>‹#›</a:t>
            </a:fld>
            <a:endParaRPr lang="en-US" altLang="en-US"/>
          </a:p>
        </p:txBody>
      </p:sp>
    </p:spTree>
    <p:extLst>
      <p:ext uri="{BB962C8B-B14F-4D97-AF65-F5344CB8AC3E}">
        <p14:creationId xmlns:p14="http://schemas.microsoft.com/office/powerpoint/2010/main" val="2586047920"/>
      </p:ext>
    </p:extLst>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3ABF346-EFB2-174F-69F7-2B79A3DCA582}"/>
              </a:ext>
            </a:extLst>
          </p:cNvPr>
          <p:cNvSpPr>
            <a:spLocks noGrp="1"/>
          </p:cNvSpPr>
          <p:nvPr>
            <p:ph type="dt" sz="half" idx="10"/>
          </p:nvPr>
        </p:nvSpPr>
        <p:spPr/>
        <p:txBody>
          <a:bodyPr/>
          <a:lstStyle>
            <a:lvl1pPr>
              <a:defRPr/>
            </a:lvl1pPr>
          </a:lstStyle>
          <a:p>
            <a:pPr>
              <a:defRPr/>
            </a:pPr>
            <a:fld id="{200CE5AD-7632-490E-9DD6-AC911C7F1B5F}" type="datetime1">
              <a:rPr lang="en-US"/>
              <a:pPr>
                <a:defRPr/>
              </a:pPr>
              <a:t>6/12/2023</a:t>
            </a:fld>
            <a:endParaRPr lang="en-US"/>
          </a:p>
        </p:txBody>
      </p:sp>
      <p:sp>
        <p:nvSpPr>
          <p:cNvPr id="6" name="Footer Placeholder 4">
            <a:extLst>
              <a:ext uri="{FF2B5EF4-FFF2-40B4-BE49-F238E27FC236}">
                <a16:creationId xmlns:a16="http://schemas.microsoft.com/office/drawing/2014/main" id="{88EFCB84-4249-0AB2-B5E8-EA5EF35CFC0C}"/>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7" name="Slide Number Placeholder 5">
            <a:extLst>
              <a:ext uri="{FF2B5EF4-FFF2-40B4-BE49-F238E27FC236}">
                <a16:creationId xmlns:a16="http://schemas.microsoft.com/office/drawing/2014/main" id="{D2B49029-6636-49F8-89BD-309F4F779F54}"/>
              </a:ext>
            </a:extLst>
          </p:cNvPr>
          <p:cNvSpPr>
            <a:spLocks noGrp="1"/>
          </p:cNvSpPr>
          <p:nvPr>
            <p:ph type="sldNum" sz="quarter" idx="12"/>
          </p:nvPr>
        </p:nvSpPr>
        <p:spPr/>
        <p:txBody>
          <a:bodyPr/>
          <a:lstStyle>
            <a:lvl1pPr>
              <a:defRPr/>
            </a:lvl1pPr>
          </a:lstStyle>
          <a:p>
            <a:pPr>
              <a:defRPr/>
            </a:pPr>
            <a:fld id="{FECBD518-9A8E-4CAE-B71C-E2F0DF14C8DF}" type="slidenum">
              <a:rPr lang="en-US" altLang="en-US"/>
              <a:pPr>
                <a:defRPr/>
              </a:pPr>
              <a:t>‹#›</a:t>
            </a:fld>
            <a:endParaRPr lang="en-US" altLang="en-US"/>
          </a:p>
        </p:txBody>
      </p:sp>
    </p:spTree>
    <p:extLst>
      <p:ext uri="{BB962C8B-B14F-4D97-AF65-F5344CB8AC3E}">
        <p14:creationId xmlns:p14="http://schemas.microsoft.com/office/powerpoint/2010/main" val="587256104"/>
      </p:ext>
    </p:extLst>
  </p:cSld>
  <p:clrMapOvr>
    <a:masterClrMapping/>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8C7B4-B617-1263-98F6-27ACA5E35197}"/>
              </a:ext>
            </a:extLst>
          </p:cNvPr>
          <p:cNvSpPr>
            <a:spLocks noGrp="1"/>
          </p:cNvSpPr>
          <p:nvPr>
            <p:ph type="dt" sz="half" idx="10"/>
          </p:nvPr>
        </p:nvSpPr>
        <p:spPr/>
        <p:txBody>
          <a:bodyPr/>
          <a:lstStyle>
            <a:lvl1pPr>
              <a:defRPr/>
            </a:lvl1pPr>
          </a:lstStyle>
          <a:p>
            <a:pPr>
              <a:defRPr/>
            </a:pPr>
            <a:fld id="{821A3BA6-DCE2-4ABF-8F49-E36401E8F798}" type="datetime1">
              <a:rPr lang="en-US"/>
              <a:pPr>
                <a:defRPr/>
              </a:pPr>
              <a:t>6/12/2023</a:t>
            </a:fld>
            <a:endParaRPr lang="en-US"/>
          </a:p>
        </p:txBody>
      </p:sp>
      <p:sp>
        <p:nvSpPr>
          <p:cNvPr id="5" name="Footer Placeholder 4">
            <a:extLst>
              <a:ext uri="{FF2B5EF4-FFF2-40B4-BE49-F238E27FC236}">
                <a16:creationId xmlns:a16="http://schemas.microsoft.com/office/drawing/2014/main" id="{0C3EA227-1194-B1DC-1E08-0B38E644A767}"/>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6" name="Slide Number Placeholder 5">
            <a:extLst>
              <a:ext uri="{FF2B5EF4-FFF2-40B4-BE49-F238E27FC236}">
                <a16:creationId xmlns:a16="http://schemas.microsoft.com/office/drawing/2014/main" id="{31A74E48-F55B-3A28-0E7E-CD42DFEC0E62}"/>
              </a:ext>
            </a:extLst>
          </p:cNvPr>
          <p:cNvSpPr>
            <a:spLocks noGrp="1"/>
          </p:cNvSpPr>
          <p:nvPr>
            <p:ph type="sldNum" sz="quarter" idx="12"/>
          </p:nvPr>
        </p:nvSpPr>
        <p:spPr/>
        <p:txBody>
          <a:bodyPr/>
          <a:lstStyle>
            <a:lvl1pPr>
              <a:defRPr/>
            </a:lvl1pPr>
          </a:lstStyle>
          <a:p>
            <a:pPr>
              <a:defRPr/>
            </a:pPr>
            <a:fld id="{29E84F1D-DC33-4360-B699-BF1D40404B5F}" type="slidenum">
              <a:rPr lang="en-US" altLang="en-US"/>
              <a:pPr>
                <a:defRPr/>
              </a:pPr>
              <a:t>‹#›</a:t>
            </a:fld>
            <a:endParaRPr lang="en-US" altLang="en-US"/>
          </a:p>
        </p:txBody>
      </p:sp>
    </p:spTree>
    <p:extLst>
      <p:ext uri="{BB962C8B-B14F-4D97-AF65-F5344CB8AC3E}">
        <p14:creationId xmlns:p14="http://schemas.microsoft.com/office/powerpoint/2010/main" val="92137075"/>
      </p:ext>
    </p:extLst>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1" descr="Background 03.jpg">
            <a:extLst>
              <a:ext uri="{FF2B5EF4-FFF2-40B4-BE49-F238E27FC236}">
                <a16:creationId xmlns:a16="http://schemas.microsoft.com/office/drawing/2014/main" id="{86114E4D-C81C-AC8C-CF8A-9EF8748C93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descr="Background 02.jpg">
            <a:extLst>
              <a:ext uri="{FF2B5EF4-FFF2-40B4-BE49-F238E27FC236}">
                <a16:creationId xmlns:a16="http://schemas.microsoft.com/office/drawing/2014/main" id="{8E985000-12EA-E820-957D-D559A581B13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6D186D2-2D21-4847-4B06-2D2AB6C35D74}"/>
              </a:ext>
            </a:extLst>
          </p:cNvPr>
          <p:cNvSpPr/>
          <p:nvPr userDrawn="1"/>
        </p:nvSpPr>
        <p:spPr>
          <a:xfrm>
            <a:off x="2022475" y="3905250"/>
            <a:ext cx="3095625" cy="2987675"/>
          </a:xfrm>
          <a:prstGeom prst="rect">
            <a:avLst/>
          </a:prstGeom>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r>
              <a:rPr lang="en-US">
                <a:solidFill>
                  <a:srgbClr val="FFFFFF"/>
                </a:solidFill>
                <a:ea typeface="ＭＳ Ｐゴシック" charset="-128"/>
              </a:rPr>
              <a:t>IMAGE(S)</a:t>
            </a:r>
          </a:p>
        </p:txBody>
      </p:sp>
      <p:sp>
        <p:nvSpPr>
          <p:cNvPr id="7" name="Title 6">
            <a:extLst>
              <a:ext uri="{FF2B5EF4-FFF2-40B4-BE49-F238E27FC236}">
                <a16:creationId xmlns:a16="http://schemas.microsoft.com/office/drawing/2014/main" id="{3BAD80B2-8A5D-62EA-6617-039917C1CF5C}"/>
              </a:ext>
            </a:extLst>
          </p:cNvPr>
          <p:cNvSpPr txBox="1">
            <a:spLocks/>
          </p:cNvSpPr>
          <p:nvPr userDrawn="1"/>
        </p:nvSpPr>
        <p:spPr bwMode="auto">
          <a:xfrm>
            <a:off x="5362575" y="3905250"/>
            <a:ext cx="5040313" cy="3097213"/>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r>
              <a:rPr lang="en-GB" sz="2000" baseline="30000">
                <a:latin typeface="Open Sans"/>
              </a:rPr>
              <a:t>Body Copy Open Sans Bold 20pt</a:t>
            </a:r>
          </a:p>
          <a:p>
            <a:pPr eaLnBrk="1" hangingPunct="1">
              <a:defRPr/>
            </a:pPr>
            <a:endParaRPr lang="en-GB" sz="2000" baseline="30000">
              <a:latin typeface="Open Sans"/>
            </a:endParaRPr>
          </a:p>
          <a:p>
            <a:pPr eaLnBrk="1" hangingPunct="1">
              <a:defRPr/>
            </a:pPr>
            <a:r>
              <a:rPr lang="en-GB" sz="2000" baseline="30000">
                <a:latin typeface="Open Sans"/>
              </a:rPr>
              <a:t>Estio molorrorem vernatia dis et ute volupta tiaecatis maion premodi ciderum, nulparuntio eicit doluptatem saerum voluptur soluptatur, ime cusa doloria delestibus, officia aute consequibus, accatur eriossit liquo est, ullest, inistiatem lit odician dandebitis modi destius a de natur, nobis dolut delitat mint, optatqu ossimet expliqu amendipsunt quo bernatio. </a:t>
            </a:r>
          </a:p>
          <a:p>
            <a:pPr eaLnBrk="1" hangingPunct="1">
              <a:defRPr/>
            </a:pPr>
            <a:endParaRPr lang="en-GB" sz="2000" baseline="30000">
              <a:latin typeface="Open Sans"/>
            </a:endParaRPr>
          </a:p>
          <a:p>
            <a:pPr eaLnBrk="1" hangingPunct="1">
              <a:defRPr/>
            </a:pPr>
            <a:r>
              <a:rPr lang="en-GB" sz="2000" baseline="30000">
                <a:latin typeface="Open Sans"/>
              </a:rPr>
              <a:t>Nestiorerio berum ratquatur, sit, temque nis di accabore volliqui resequo quam quam ratiatus quidendae providi corro officiusamus etureped utas doloria si nobit idesti tet exero volendunt aute cor apicae enimusae moluptio voluptus etusa in es et doloreperia.</a:t>
            </a:r>
          </a:p>
        </p:txBody>
      </p:sp>
      <p:sp>
        <p:nvSpPr>
          <p:cNvPr id="8" name="Title 6">
            <a:extLst>
              <a:ext uri="{FF2B5EF4-FFF2-40B4-BE49-F238E27FC236}">
                <a16:creationId xmlns:a16="http://schemas.microsoft.com/office/drawing/2014/main" id="{1922E0B8-6F0A-2D30-AB34-608C86CA2BD0}"/>
              </a:ext>
            </a:extLst>
          </p:cNvPr>
          <p:cNvSpPr txBox="1">
            <a:spLocks/>
          </p:cNvSpPr>
          <p:nvPr userDrawn="1"/>
        </p:nvSpPr>
        <p:spPr bwMode="auto">
          <a:xfrm>
            <a:off x="1911350" y="2649538"/>
            <a:ext cx="6632575" cy="887412"/>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70000"/>
              </a:lnSpc>
              <a:defRPr/>
            </a:pPr>
            <a:r>
              <a:rPr lang="en-US" sz="3000" b="1">
                <a:solidFill>
                  <a:srgbClr val="0079B8"/>
                </a:solidFill>
                <a:latin typeface="Open Sans"/>
              </a:rPr>
              <a:t>Slide Title Open Sans Bold 30pt</a:t>
            </a:r>
            <a:br>
              <a:rPr lang="en-US" sz="3000" b="1">
                <a:solidFill>
                  <a:srgbClr val="0079B8"/>
                </a:solidFill>
                <a:latin typeface="Open Sans"/>
              </a:rPr>
            </a:br>
            <a:br>
              <a:rPr lang="en-US" sz="2200" b="1">
                <a:solidFill>
                  <a:srgbClr val="0079B8"/>
                </a:solidFill>
                <a:latin typeface="Open Sans"/>
              </a:rPr>
            </a:br>
            <a:r>
              <a:rPr lang="en-US" sz="2200" b="1">
                <a:solidFill>
                  <a:srgbClr val="0079B8"/>
                </a:solidFill>
                <a:latin typeface="Open Sans"/>
              </a:rPr>
              <a:t>Subtitle Open Sans Bold 22pt</a:t>
            </a: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BFB9BBCC-4059-F98C-DEBC-D6D08F48AF7F}"/>
              </a:ext>
            </a:extLst>
          </p:cNvPr>
          <p:cNvSpPr>
            <a:spLocks noGrp="1"/>
          </p:cNvSpPr>
          <p:nvPr>
            <p:ph type="dt" sz="half" idx="10"/>
          </p:nvPr>
        </p:nvSpPr>
        <p:spPr/>
        <p:txBody>
          <a:bodyPr/>
          <a:lstStyle>
            <a:lvl1pPr>
              <a:defRPr/>
            </a:lvl1pPr>
          </a:lstStyle>
          <a:p>
            <a:pPr>
              <a:defRPr/>
            </a:pPr>
            <a:fld id="{EB9242EB-4FE1-48B5-820B-2D50E259F963}" type="datetime1">
              <a:rPr lang="en-US"/>
              <a:pPr>
                <a:defRPr/>
              </a:pPr>
              <a:t>6/12/2023</a:t>
            </a:fld>
            <a:endParaRPr lang="en-US"/>
          </a:p>
        </p:txBody>
      </p:sp>
      <p:sp>
        <p:nvSpPr>
          <p:cNvPr id="10" name="Footer Placeholder 4">
            <a:extLst>
              <a:ext uri="{FF2B5EF4-FFF2-40B4-BE49-F238E27FC236}">
                <a16:creationId xmlns:a16="http://schemas.microsoft.com/office/drawing/2014/main" id="{7FD9C2F2-E65D-1D70-8CE0-58DBA81EC1DB}"/>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11" name="Slide Number Placeholder 5">
            <a:extLst>
              <a:ext uri="{FF2B5EF4-FFF2-40B4-BE49-F238E27FC236}">
                <a16:creationId xmlns:a16="http://schemas.microsoft.com/office/drawing/2014/main" id="{B0C18F23-08D0-246A-C661-4D686362715F}"/>
              </a:ext>
            </a:extLst>
          </p:cNvPr>
          <p:cNvSpPr>
            <a:spLocks noGrp="1"/>
          </p:cNvSpPr>
          <p:nvPr>
            <p:ph type="sldNum" sz="quarter" idx="12"/>
          </p:nvPr>
        </p:nvSpPr>
        <p:spPr/>
        <p:txBody>
          <a:bodyPr/>
          <a:lstStyle>
            <a:lvl1pPr>
              <a:defRPr/>
            </a:lvl1pPr>
          </a:lstStyle>
          <a:p>
            <a:pPr>
              <a:defRPr/>
            </a:pPr>
            <a:fld id="{EE679C03-20CB-40F2-AE31-91D0BDD72BED}" type="slidenum">
              <a:rPr lang="en-US" altLang="en-US"/>
              <a:pPr>
                <a:defRPr/>
              </a:pPr>
              <a:t>‹#›</a:t>
            </a:fld>
            <a:endParaRPr lang="en-US" altLang="en-US"/>
          </a:p>
        </p:txBody>
      </p:sp>
    </p:spTree>
    <p:extLst>
      <p:ext uri="{BB962C8B-B14F-4D97-AF65-F5344CB8AC3E}">
        <p14:creationId xmlns:p14="http://schemas.microsoft.com/office/powerpoint/2010/main" val="1338590725"/>
      </p:ext>
    </p:extLst>
  </p:cSld>
  <p:clrMapOvr>
    <a:masterClrMapping/>
  </p:clrMapOvr>
  <p:transition spd="slow">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1" descr="Background 03.jpg">
            <a:extLst>
              <a:ext uri="{FF2B5EF4-FFF2-40B4-BE49-F238E27FC236}">
                <a16:creationId xmlns:a16="http://schemas.microsoft.com/office/drawing/2014/main" id="{A9EC1E64-2821-FD7E-9D50-63A84BA50B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2">
            <a:extLst>
              <a:ext uri="{FF2B5EF4-FFF2-40B4-BE49-F238E27FC236}">
                <a16:creationId xmlns:a16="http://schemas.microsoft.com/office/drawing/2014/main" id="{455AB1CA-FCAE-DB62-1C74-54EAB334E6C7}"/>
              </a:ext>
            </a:extLst>
          </p:cNvPr>
          <p:cNvSpPr>
            <a:spLocks noGrp="1"/>
          </p:cNvSpPr>
          <p:nvPr>
            <p:ph type="dt" sz="half" idx="10"/>
          </p:nvPr>
        </p:nvSpPr>
        <p:spPr/>
        <p:txBody>
          <a:bodyPr/>
          <a:lstStyle>
            <a:lvl1pPr>
              <a:defRPr/>
            </a:lvl1pPr>
          </a:lstStyle>
          <a:p>
            <a:pPr>
              <a:defRPr/>
            </a:pPr>
            <a:fld id="{1BFAECCB-6BFB-4F55-9877-4C18F5B2A74C}" type="datetime1">
              <a:rPr lang="en-US"/>
              <a:pPr>
                <a:defRPr/>
              </a:pPr>
              <a:t>6/12/2023</a:t>
            </a:fld>
            <a:endParaRPr lang="en-US"/>
          </a:p>
        </p:txBody>
      </p:sp>
      <p:sp>
        <p:nvSpPr>
          <p:cNvPr id="5" name="Footer Placeholder 3">
            <a:extLst>
              <a:ext uri="{FF2B5EF4-FFF2-40B4-BE49-F238E27FC236}">
                <a16:creationId xmlns:a16="http://schemas.microsoft.com/office/drawing/2014/main" id="{AF873AF2-3E39-323F-C05B-517891BA7D84}"/>
              </a:ext>
            </a:extLst>
          </p:cNvPr>
          <p:cNvSpPr>
            <a:spLocks noGrp="1"/>
          </p:cNvSpPr>
          <p:nvPr>
            <p:ph type="ftr" sz="quarter" idx="11"/>
          </p:nvPr>
        </p:nvSpPr>
        <p:spPr/>
        <p:txBody>
          <a:bodyPr/>
          <a:lstStyle>
            <a:lvl1pPr>
              <a:defRPr/>
            </a:lvl1pPr>
          </a:lstStyle>
          <a:p>
            <a:pPr>
              <a:defRPr/>
            </a:pPr>
            <a:r>
              <a:rPr lang="en-US"/>
              <a:t>Data Exploration and Pre-processing</a:t>
            </a:r>
          </a:p>
        </p:txBody>
      </p:sp>
      <p:sp>
        <p:nvSpPr>
          <p:cNvPr id="6" name="Slide Number Placeholder 4">
            <a:extLst>
              <a:ext uri="{FF2B5EF4-FFF2-40B4-BE49-F238E27FC236}">
                <a16:creationId xmlns:a16="http://schemas.microsoft.com/office/drawing/2014/main" id="{B8E9EF9F-5865-3075-6C63-6F666DA00E37}"/>
              </a:ext>
            </a:extLst>
          </p:cNvPr>
          <p:cNvSpPr>
            <a:spLocks noGrp="1"/>
          </p:cNvSpPr>
          <p:nvPr>
            <p:ph type="sldNum" sz="quarter" idx="12"/>
          </p:nvPr>
        </p:nvSpPr>
        <p:spPr/>
        <p:txBody>
          <a:bodyPr/>
          <a:lstStyle>
            <a:lvl1pPr>
              <a:defRPr/>
            </a:lvl1pPr>
          </a:lstStyle>
          <a:p>
            <a:pPr>
              <a:defRPr/>
            </a:pPr>
            <a:fld id="{46D08B07-F8A6-4555-A19E-5875B67471B8}" type="slidenum">
              <a:rPr lang="en-US" altLang="en-US"/>
              <a:pPr>
                <a:defRPr/>
              </a:pPr>
              <a:t>‹#›</a:t>
            </a:fld>
            <a:endParaRPr lang="en-US" altLang="en-US"/>
          </a:p>
        </p:txBody>
      </p:sp>
    </p:spTree>
    <p:extLst>
      <p:ext uri="{BB962C8B-B14F-4D97-AF65-F5344CB8AC3E}">
        <p14:creationId xmlns:p14="http://schemas.microsoft.com/office/powerpoint/2010/main" val="4122497409"/>
      </p:ext>
    </p:extLst>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a:extLst>
              <a:ext uri="{FF2B5EF4-FFF2-40B4-BE49-F238E27FC236}">
                <a16:creationId xmlns:a16="http://schemas.microsoft.com/office/drawing/2014/main" id="{63AFB1C7-61AB-A9BB-FBBF-A5FAB4B75884}"/>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5919788"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a:extLst>
              <a:ext uri="{FF2B5EF4-FFF2-40B4-BE49-F238E27FC236}">
                <a16:creationId xmlns:a16="http://schemas.microsoft.com/office/drawing/2014/main" id="{3DA5F3DA-5E7D-2DF3-58B2-92E8D67C014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674101B4-BC55-4B1C-4FB9-B4BA278245B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A23ECA5-B31D-AD68-C1BF-8939723AE8C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790584C6-63D3-42D1-9CE4-88121195F1D4}" type="datetime1">
              <a:rPr lang="en-US"/>
              <a:pPr>
                <a:defRPr/>
              </a:pPr>
              <a:t>6/12/2023</a:t>
            </a:fld>
            <a:endParaRPr lang="en-US"/>
          </a:p>
        </p:txBody>
      </p:sp>
      <p:sp>
        <p:nvSpPr>
          <p:cNvPr id="5" name="Footer Placeholder 4">
            <a:extLst>
              <a:ext uri="{FF2B5EF4-FFF2-40B4-BE49-F238E27FC236}">
                <a16:creationId xmlns:a16="http://schemas.microsoft.com/office/drawing/2014/main" id="{B59E8689-27B5-CA0E-F6C6-C45C887FBEB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Data Exploration and Pre-processing</a:t>
            </a:r>
          </a:p>
        </p:txBody>
      </p:sp>
      <p:sp>
        <p:nvSpPr>
          <p:cNvPr id="6" name="Slide Number Placeholder 5">
            <a:extLst>
              <a:ext uri="{FF2B5EF4-FFF2-40B4-BE49-F238E27FC236}">
                <a16:creationId xmlns:a16="http://schemas.microsoft.com/office/drawing/2014/main" id="{C8CB8E31-F758-DC33-1285-F5AF3B67757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64BA2918-11A3-4BD0-9C34-E1E154C42EE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77" r:id="rId1"/>
    <p:sldLayoutId id="214748397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9" r:id="rId11"/>
    <p:sldLayoutId id="2147483980" r:id="rId12"/>
  </p:sldLayoutIdLst>
  <p:transition spd="slow">
    <p:split orient="vert"/>
  </p:transition>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7.bin"/><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21.wmf"/><Relationship Id="rId4"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31.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17.bin"/></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setosa.io/ev/principal-component-analysi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image" Target="../media/image40.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238817E-C7D2-D99E-7294-259AF5B50D0B}"/>
              </a:ext>
            </a:extLst>
          </p:cNvPr>
          <p:cNvSpPr txBox="1">
            <a:spLocks/>
          </p:cNvSpPr>
          <p:nvPr/>
        </p:nvSpPr>
        <p:spPr bwMode="auto">
          <a:xfrm>
            <a:off x="1676400" y="2300288"/>
            <a:ext cx="7467600" cy="747712"/>
          </a:xfrm>
          <a:prstGeom prst="rect">
            <a:avLst/>
          </a:prstGeom>
          <a:noFill/>
          <a:ln w="9525">
            <a:noFill/>
            <a:miter lim="800000"/>
            <a:headEnd/>
            <a:tailEnd/>
          </a:ln>
        </p:spPr>
        <p:txBody>
          <a:bodyPr anchor="ctr"/>
          <a:lstStyle/>
          <a:p>
            <a:pPr algn="ctr">
              <a:defRPr/>
            </a:pPr>
            <a:r>
              <a:rPr lang="en-US" sz="2500" b="1" dirty="0">
                <a:solidFill>
                  <a:schemeClr val="bg1"/>
                </a:solidFill>
                <a:latin typeface="+mj-lt"/>
                <a:ea typeface="+mj-ea"/>
                <a:cs typeface="+mj-cs"/>
              </a:rPr>
              <a:t>Course  : COMP8043041 – Machine Learning</a:t>
            </a:r>
          </a:p>
          <a:p>
            <a:pPr algn="ctr">
              <a:defRPr/>
            </a:pPr>
            <a:r>
              <a:rPr lang="en-US" sz="2500" b="1" dirty="0">
                <a:solidFill>
                  <a:schemeClr val="bg1"/>
                </a:solidFill>
                <a:latin typeface="+mj-lt"/>
                <a:ea typeface="+mj-ea"/>
                <a:cs typeface="+mj-cs"/>
              </a:rPr>
              <a:t>Period </a:t>
            </a:r>
            <a:r>
              <a:rPr lang="en-US" sz="2500" b="1">
                <a:solidFill>
                  <a:schemeClr val="bg1"/>
                </a:solidFill>
                <a:latin typeface="+mj-lt"/>
                <a:ea typeface="+mj-ea"/>
                <a:cs typeface="+mj-cs"/>
              </a:rPr>
              <a:t>: June </a:t>
            </a:r>
            <a:r>
              <a:rPr lang="en-US" sz="2500" b="1" dirty="0">
                <a:solidFill>
                  <a:schemeClr val="bg1"/>
                </a:solidFill>
                <a:latin typeface="+mj-lt"/>
                <a:ea typeface="+mj-ea"/>
                <a:cs typeface="+mj-cs"/>
              </a:rPr>
              <a:t>2023</a:t>
            </a:r>
            <a:endParaRPr lang="id-ID" sz="2500" b="1" dirty="0">
              <a:solidFill>
                <a:schemeClr val="bg1"/>
              </a:solidFill>
              <a:latin typeface="+mj-lt"/>
              <a:ea typeface="+mj-ea"/>
              <a:cs typeface="+mj-cs"/>
            </a:endParaRPr>
          </a:p>
        </p:txBody>
      </p:sp>
      <p:sp>
        <p:nvSpPr>
          <p:cNvPr id="5" name="Title 1">
            <a:extLst>
              <a:ext uri="{FF2B5EF4-FFF2-40B4-BE49-F238E27FC236}">
                <a16:creationId xmlns:a16="http://schemas.microsoft.com/office/drawing/2014/main" id="{D58BF699-0363-6FD1-400B-366BFE15FA0B}"/>
              </a:ext>
            </a:extLst>
          </p:cNvPr>
          <p:cNvSpPr txBox="1">
            <a:spLocks/>
          </p:cNvSpPr>
          <p:nvPr/>
        </p:nvSpPr>
        <p:spPr bwMode="auto">
          <a:xfrm>
            <a:off x="1676400" y="4067175"/>
            <a:ext cx="7467600" cy="1204913"/>
          </a:xfrm>
          <a:prstGeom prst="rect">
            <a:avLst/>
          </a:prstGeom>
          <a:noFill/>
          <a:ln w="9525">
            <a:noFill/>
            <a:miter lim="800000"/>
            <a:headEnd/>
            <a:tailEnd/>
          </a:ln>
        </p:spPr>
        <p:txBody>
          <a:bodyPr anchor="ctr"/>
          <a:lstStyle/>
          <a:p>
            <a:pPr algn="ctr">
              <a:defRPr/>
            </a:pPr>
            <a:r>
              <a:rPr lang="en-US" sz="3600" b="1" dirty="0">
                <a:solidFill>
                  <a:schemeClr val="bg1"/>
                </a:solidFill>
                <a:latin typeface="+mj-lt"/>
                <a:ea typeface="+mj-ea"/>
                <a:cs typeface="+mj-cs"/>
              </a:rPr>
              <a:t>Data Exploration and Pre-processing</a:t>
            </a:r>
          </a:p>
          <a:p>
            <a:pPr algn="ctr">
              <a:defRPr/>
            </a:pPr>
            <a:r>
              <a:rPr lang="en-US" sz="3600" b="1" dirty="0">
                <a:solidFill>
                  <a:schemeClr val="bg1"/>
                </a:solidFill>
                <a:latin typeface="+mj-lt"/>
                <a:ea typeface="+mj-ea"/>
                <a:cs typeface="+mj-cs"/>
              </a:rPr>
              <a:t>Session 02</a:t>
            </a:r>
          </a:p>
        </p:txBody>
      </p:sp>
      <p:sp>
        <p:nvSpPr>
          <p:cNvPr id="6" name="Title 1">
            <a:extLst>
              <a:ext uri="{FF2B5EF4-FFF2-40B4-BE49-F238E27FC236}">
                <a16:creationId xmlns:a16="http://schemas.microsoft.com/office/drawing/2014/main" id="{6716C018-E5B5-22B4-3D99-9FC9D47D8494}"/>
              </a:ext>
            </a:extLst>
          </p:cNvPr>
          <p:cNvSpPr txBox="1">
            <a:spLocks/>
          </p:cNvSpPr>
          <p:nvPr/>
        </p:nvSpPr>
        <p:spPr bwMode="auto">
          <a:xfrm>
            <a:off x="1676400" y="6324600"/>
            <a:ext cx="7467600" cy="533400"/>
          </a:xfrm>
          <a:prstGeom prst="rect">
            <a:avLst/>
          </a:prstGeom>
          <a:noFill/>
          <a:ln w="9525">
            <a:noFill/>
            <a:miter lim="800000"/>
            <a:headEnd/>
            <a:tailEnd/>
          </a:ln>
        </p:spPr>
        <p:txBody>
          <a:bodyPr anchor="ctr"/>
          <a:lstStyle/>
          <a:p>
            <a:pPr algn="ctr">
              <a:defRPr/>
            </a:pPr>
            <a:r>
              <a:rPr lang="en-US" sz="2200" b="1" dirty="0">
                <a:solidFill>
                  <a:schemeClr val="bg1"/>
                </a:solidFill>
                <a:latin typeface="+mj-lt"/>
                <a:ea typeface="+mj-ea"/>
                <a:cs typeface="+mj-cs"/>
              </a:rPr>
              <a:t>KDS – Amalia Zahra, S.Kom., Ph.D.</a:t>
            </a:r>
            <a:endParaRPr lang="id-ID" sz="2200" b="1" dirty="0">
              <a:solidFill>
                <a:schemeClr val="bg1"/>
              </a:solidFill>
              <a:latin typeface="+mj-lt"/>
              <a:ea typeface="+mj-ea"/>
              <a:cs typeface="+mj-cs"/>
            </a:endParaRPr>
          </a:p>
        </p:txBody>
      </p:sp>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B94075D-BC13-326D-FF17-CE4FA8D24200}"/>
              </a:ext>
            </a:extLst>
          </p:cNvPr>
          <p:cNvSpPr>
            <a:spLocks noGrp="1"/>
          </p:cNvSpPr>
          <p:nvPr>
            <p:ph type="title"/>
          </p:nvPr>
        </p:nvSpPr>
        <p:spPr/>
        <p:txBody>
          <a:bodyPr/>
          <a:lstStyle/>
          <a:p>
            <a:r>
              <a:rPr lang="en-US" altLang="en-US">
                <a:latin typeface="Open Sans" pitchFamily="34" charset="0"/>
              </a:rPr>
              <a:t>Learning Outcomes</a:t>
            </a:r>
          </a:p>
        </p:txBody>
      </p:sp>
      <p:sp>
        <p:nvSpPr>
          <p:cNvPr id="3" name="Content Placeholder 2">
            <a:extLst>
              <a:ext uri="{FF2B5EF4-FFF2-40B4-BE49-F238E27FC236}">
                <a16:creationId xmlns:a16="http://schemas.microsoft.com/office/drawing/2014/main" id="{4B24669C-4930-C697-5E3C-C1B95C77E7C1}"/>
              </a:ext>
            </a:extLst>
          </p:cNvPr>
          <p:cNvSpPr>
            <a:spLocks noGrp="1"/>
          </p:cNvSpPr>
          <p:nvPr>
            <p:ph idx="1"/>
          </p:nvPr>
        </p:nvSpPr>
        <p:spPr/>
        <p:txBody>
          <a:bodyPr>
            <a:normAutofit lnSpcReduction="10000"/>
          </a:bodyPr>
          <a:lstStyle/>
          <a:p>
            <a:pPr marL="0" indent="0">
              <a:buFont typeface="Arial" panose="020B0604020202020204" pitchFamily="34" charset="0"/>
              <a:buNone/>
              <a:defRPr/>
            </a:pPr>
            <a:r>
              <a:rPr lang="en-US" dirty="0"/>
              <a:t>After the completion of this session, students are expected to achieve the following learning outcomes:</a:t>
            </a:r>
          </a:p>
          <a:p>
            <a:pPr>
              <a:defRPr/>
            </a:pPr>
            <a:r>
              <a:rPr lang="en-US" dirty="0"/>
              <a:t>LO1: Able to explain the fundamental concept of Machine Learning and its various techniques/algorithms.</a:t>
            </a:r>
          </a:p>
          <a:p>
            <a:pPr>
              <a:defRPr/>
            </a:pPr>
            <a:r>
              <a:rPr lang="en-US" dirty="0"/>
              <a:t>LO2: Describe the characteristics of various Machine Learning algorithms and understand how each of them works, including the mathematical principles underlying the algorithms.</a:t>
            </a:r>
          </a:p>
          <a:p>
            <a:pPr>
              <a:defRPr/>
            </a:pPr>
            <a:endParaRPr lang="en-US" dirty="0"/>
          </a:p>
          <a:p>
            <a:pPr>
              <a:defRPr/>
            </a:pPr>
            <a:endParaRPr lang="en-US" dirty="0"/>
          </a:p>
        </p:txBody>
      </p:sp>
      <p:sp>
        <p:nvSpPr>
          <p:cNvPr id="8196" name="Slide Number Placeholder 3">
            <a:extLst>
              <a:ext uri="{FF2B5EF4-FFF2-40B4-BE49-F238E27FC236}">
                <a16:creationId xmlns:a16="http://schemas.microsoft.com/office/drawing/2014/main" id="{7AE77C10-E4C6-AD69-A7E0-88904095B38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5BBA798-C6DA-47B8-B291-8847956BF9D0}" type="slidenum">
              <a:rPr lang="en-US" altLang="en-US" sz="1200" smtClean="0">
                <a:solidFill>
                  <a:srgbClr val="898989"/>
                </a:solidFill>
              </a:rPr>
              <a:pPr>
                <a:spcBef>
                  <a:spcPct val="0"/>
                </a:spcBef>
                <a:buFontTx/>
                <a:buNone/>
              </a:pPr>
              <a:t>2</a:t>
            </a:fld>
            <a:endParaRPr lang="en-US" altLang="en-US" sz="1200">
              <a:solidFill>
                <a:srgbClr val="898989"/>
              </a:solidFill>
            </a:endParaRPr>
          </a:p>
        </p:txBody>
      </p:sp>
      <p:sp>
        <p:nvSpPr>
          <p:cNvPr id="2" name="Date Placeholder 1">
            <a:extLst>
              <a:ext uri="{FF2B5EF4-FFF2-40B4-BE49-F238E27FC236}">
                <a16:creationId xmlns:a16="http://schemas.microsoft.com/office/drawing/2014/main" id="{D8AB673E-2C27-96BD-CBCE-32530CE77C07}"/>
              </a:ext>
            </a:extLst>
          </p:cNvPr>
          <p:cNvSpPr>
            <a:spLocks noGrp="1"/>
          </p:cNvSpPr>
          <p:nvPr>
            <p:ph type="dt" sz="quarter" idx="10"/>
          </p:nvPr>
        </p:nvSpPr>
        <p:spPr/>
        <p:txBody>
          <a:bodyPr/>
          <a:lstStyle/>
          <a:p>
            <a:pPr>
              <a:defRPr/>
            </a:pPr>
            <a:fld id="{39F6EC81-821A-47CA-9018-00BAB9014212}" type="datetime1">
              <a:rPr lang="en-US"/>
              <a:pPr>
                <a:defRPr/>
              </a:pPr>
              <a:t>6/12/2023</a:t>
            </a:fld>
            <a:endParaRPr lang="en-US"/>
          </a:p>
        </p:txBody>
      </p:sp>
      <p:sp>
        <p:nvSpPr>
          <p:cNvPr id="4" name="Footer Placeholder 3">
            <a:extLst>
              <a:ext uri="{FF2B5EF4-FFF2-40B4-BE49-F238E27FC236}">
                <a16:creationId xmlns:a16="http://schemas.microsoft.com/office/drawing/2014/main" id="{25893287-0CE2-8DCB-2C7E-FDBE8666E160}"/>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FA5B5D6C-37F5-65B9-0F8C-70F5FDBF22E0}"/>
              </a:ext>
            </a:extLst>
          </p:cNvPr>
          <p:cNvSpPr>
            <a:spLocks noGrp="1"/>
          </p:cNvSpPr>
          <p:nvPr>
            <p:ph type="title"/>
          </p:nvPr>
        </p:nvSpPr>
        <p:spPr>
          <a:xfrm>
            <a:off x="1219200" y="409575"/>
            <a:ext cx="7391400" cy="914400"/>
          </a:xfrm>
        </p:spPr>
        <p:txBody>
          <a:bodyPr/>
          <a:lstStyle/>
          <a:p>
            <a:r>
              <a:rPr lang="en-US" altLang="en-US">
                <a:latin typeface="Open Sans" pitchFamily="34" charset="0"/>
              </a:rPr>
              <a:t>Topics</a:t>
            </a:r>
            <a:endParaRPr lang="id-ID" altLang="en-US">
              <a:latin typeface="Open Sans" pitchFamily="34" charset="0"/>
            </a:endParaRPr>
          </a:p>
        </p:txBody>
      </p:sp>
      <p:sp>
        <p:nvSpPr>
          <p:cNvPr id="9219" name="Content Placeholder 2">
            <a:extLst>
              <a:ext uri="{FF2B5EF4-FFF2-40B4-BE49-F238E27FC236}">
                <a16:creationId xmlns:a16="http://schemas.microsoft.com/office/drawing/2014/main" id="{95FC99B8-AAB1-8309-0BA5-941C85276F3A}"/>
              </a:ext>
            </a:extLst>
          </p:cNvPr>
          <p:cNvSpPr>
            <a:spLocks noGrp="1"/>
          </p:cNvSpPr>
          <p:nvPr>
            <p:ph idx="1"/>
          </p:nvPr>
        </p:nvSpPr>
        <p:spPr>
          <a:xfrm>
            <a:off x="700088" y="1600200"/>
            <a:ext cx="8229600" cy="4391025"/>
          </a:xfrm>
        </p:spPr>
        <p:txBody>
          <a:bodyPr/>
          <a:lstStyle/>
          <a:p>
            <a:r>
              <a:rPr lang="en-US" altLang="en-US" sz="3200">
                <a:latin typeface="Open Sans" pitchFamily="34" charset="0"/>
              </a:rPr>
              <a:t>Data Types</a:t>
            </a:r>
          </a:p>
          <a:p>
            <a:r>
              <a:rPr lang="en-US" altLang="en-US" sz="3200">
                <a:latin typeface="Open Sans" pitchFamily="34" charset="0"/>
              </a:rPr>
              <a:t>Data Quality</a:t>
            </a:r>
          </a:p>
          <a:p>
            <a:r>
              <a:rPr lang="en-US" altLang="en-US" sz="3200">
                <a:latin typeface="Open Sans" pitchFamily="34" charset="0"/>
              </a:rPr>
              <a:t>Data Pre-processing</a:t>
            </a:r>
          </a:p>
          <a:p>
            <a:r>
              <a:rPr lang="en-US" altLang="en-US" sz="3200">
                <a:latin typeface="Open Sans" pitchFamily="34" charset="0"/>
              </a:rPr>
              <a:t>Dimensionality Reduction</a:t>
            </a:r>
          </a:p>
          <a:p>
            <a:r>
              <a:rPr lang="en-US" altLang="en-US" sz="3200">
                <a:latin typeface="Open Sans" pitchFamily="34" charset="0"/>
              </a:rPr>
              <a:t>Principal Component Analysis (PCA)</a:t>
            </a:r>
          </a:p>
          <a:p>
            <a:r>
              <a:rPr lang="en-US" altLang="en-US" sz="3200">
                <a:latin typeface="Open Sans" pitchFamily="34" charset="0"/>
              </a:rPr>
              <a:t>Linear Discriminant Analysis (LDA)</a:t>
            </a:r>
          </a:p>
          <a:p>
            <a:r>
              <a:rPr lang="en-US" altLang="en-US" sz="3200">
                <a:latin typeface="Open Sans" pitchFamily="34" charset="0"/>
              </a:rPr>
              <a:t>Data Visualization</a:t>
            </a:r>
          </a:p>
        </p:txBody>
      </p:sp>
      <p:sp>
        <p:nvSpPr>
          <p:cNvPr id="9220" name="Slide Number Placeholder 1">
            <a:extLst>
              <a:ext uri="{FF2B5EF4-FFF2-40B4-BE49-F238E27FC236}">
                <a16:creationId xmlns:a16="http://schemas.microsoft.com/office/drawing/2014/main" id="{1A173FC7-CD3A-AB6D-643D-A1C51E7DE4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D6D43B-36BE-4BE5-B094-381A5DC298F0}"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
        <p:nvSpPr>
          <p:cNvPr id="2" name="Date Placeholder 1">
            <a:extLst>
              <a:ext uri="{FF2B5EF4-FFF2-40B4-BE49-F238E27FC236}">
                <a16:creationId xmlns:a16="http://schemas.microsoft.com/office/drawing/2014/main" id="{CDB9056E-82B7-DD1E-9388-145846E2B61F}"/>
              </a:ext>
            </a:extLst>
          </p:cNvPr>
          <p:cNvSpPr>
            <a:spLocks noGrp="1"/>
          </p:cNvSpPr>
          <p:nvPr>
            <p:ph type="dt" sz="quarter" idx="10"/>
          </p:nvPr>
        </p:nvSpPr>
        <p:spPr/>
        <p:txBody>
          <a:bodyPr/>
          <a:lstStyle/>
          <a:p>
            <a:pPr>
              <a:defRPr/>
            </a:pPr>
            <a:fld id="{9C186224-DC07-4AC4-9318-B5AE30616702}" type="datetime1">
              <a:rPr lang="en-US"/>
              <a:pPr>
                <a:defRPr/>
              </a:pPr>
              <a:t>6/12/2023</a:t>
            </a:fld>
            <a:endParaRPr lang="en-US"/>
          </a:p>
        </p:txBody>
      </p:sp>
      <p:sp>
        <p:nvSpPr>
          <p:cNvPr id="3" name="Footer Placeholder 2">
            <a:extLst>
              <a:ext uri="{FF2B5EF4-FFF2-40B4-BE49-F238E27FC236}">
                <a16:creationId xmlns:a16="http://schemas.microsoft.com/office/drawing/2014/main" id="{D2D66BD1-F4B0-1163-88DA-D9DF7BF64BCF}"/>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C5371C7-62A3-C930-5FF1-01D7827B7303}"/>
              </a:ext>
            </a:extLst>
          </p:cNvPr>
          <p:cNvSpPr>
            <a:spLocks noGrp="1"/>
          </p:cNvSpPr>
          <p:nvPr>
            <p:ph type="title"/>
          </p:nvPr>
        </p:nvSpPr>
        <p:spPr>
          <a:xfrm>
            <a:off x="2057400" y="147638"/>
            <a:ext cx="6324600" cy="1143000"/>
          </a:xfrm>
        </p:spPr>
        <p:txBody>
          <a:bodyPr/>
          <a:lstStyle/>
          <a:p>
            <a:r>
              <a:rPr lang="en-US" altLang="en-US">
                <a:latin typeface="Open Sans" pitchFamily="34" charset="0"/>
              </a:rPr>
              <a:t>What is Data?</a:t>
            </a:r>
          </a:p>
        </p:txBody>
      </p:sp>
      <p:sp>
        <p:nvSpPr>
          <p:cNvPr id="10243" name="Slide Number Placeholder 3">
            <a:extLst>
              <a:ext uri="{FF2B5EF4-FFF2-40B4-BE49-F238E27FC236}">
                <a16:creationId xmlns:a16="http://schemas.microsoft.com/office/drawing/2014/main" id="{94D334C8-6E48-511E-460F-8F588D66585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49C982A-1934-4A90-9BD1-E1130D64DE27}"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
        <p:nvSpPr>
          <p:cNvPr id="10244" name="Rectangle 9">
            <a:extLst>
              <a:ext uri="{FF2B5EF4-FFF2-40B4-BE49-F238E27FC236}">
                <a16:creationId xmlns:a16="http://schemas.microsoft.com/office/drawing/2014/main" id="{DA63C489-7CF7-4AAD-0B1E-7AB702E44EE2}"/>
              </a:ext>
            </a:extLst>
          </p:cNvPr>
          <p:cNvSpPr txBox="1">
            <a:spLocks noChangeArrowheads="1"/>
          </p:cNvSpPr>
          <p:nvPr/>
        </p:nvSpPr>
        <p:spPr bwMode="auto">
          <a:xfrm>
            <a:off x="771525" y="1828800"/>
            <a:ext cx="3932238"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sz="2000">
                <a:latin typeface="Arial" panose="020B0604020202020204" pitchFamily="34" charset="0"/>
              </a:rPr>
              <a:t>Data: collection of data objects and their attributes.</a:t>
            </a:r>
          </a:p>
          <a:p>
            <a:pPr lvl="4" eaLnBrk="1" hangingPunct="1"/>
            <a:endParaRPr lang="en-US" altLang="en-US" sz="1400">
              <a:latin typeface="Arial" panose="020B0604020202020204" pitchFamily="34" charset="0"/>
            </a:endParaRPr>
          </a:p>
          <a:p>
            <a:pPr eaLnBrk="1" hangingPunct="1"/>
            <a:r>
              <a:rPr lang="en-US" altLang="en-US" sz="2000">
                <a:latin typeface="Arial" panose="020B0604020202020204" pitchFamily="34" charset="0"/>
              </a:rPr>
              <a:t>An attribute is a property or characteristic of an object.</a:t>
            </a:r>
          </a:p>
          <a:p>
            <a:pPr lvl="1" eaLnBrk="1" hangingPunct="1"/>
            <a:r>
              <a:rPr lang="en-US" altLang="en-US" sz="1600">
                <a:solidFill>
                  <a:srgbClr val="3C8C93"/>
                </a:solidFill>
                <a:latin typeface="Arial" panose="020B0604020202020204" pitchFamily="34" charset="0"/>
              </a:rPr>
              <a:t>Examples</a:t>
            </a:r>
            <a:r>
              <a:rPr lang="en-US" altLang="en-US" sz="1600">
                <a:latin typeface="Arial" panose="020B0604020202020204" pitchFamily="34" charset="0"/>
              </a:rPr>
              <a:t>: eye color of a person, temperature, etc.</a:t>
            </a:r>
          </a:p>
          <a:p>
            <a:pPr lvl="1" eaLnBrk="1" hangingPunct="1"/>
            <a:r>
              <a:rPr lang="en-US" altLang="en-US" sz="1600">
                <a:latin typeface="Arial" panose="020B0604020202020204" pitchFamily="34" charset="0"/>
              </a:rPr>
              <a:t>Attribute is also known as variable, field, characteristic, or feature</a:t>
            </a:r>
          </a:p>
          <a:p>
            <a:pPr eaLnBrk="1" hangingPunct="1"/>
            <a:r>
              <a:rPr lang="en-US" altLang="en-US" sz="2000">
                <a:latin typeface="Arial" panose="020B0604020202020204" pitchFamily="34" charset="0"/>
              </a:rPr>
              <a:t>A collection of attributes describe an object.</a:t>
            </a:r>
          </a:p>
          <a:p>
            <a:pPr lvl="1" eaLnBrk="1" hangingPunct="1"/>
            <a:r>
              <a:rPr lang="en-US" altLang="en-US" sz="1600">
                <a:latin typeface="Arial" panose="020B0604020202020204" pitchFamily="34" charset="0"/>
              </a:rPr>
              <a:t>Object is also known as record, point, case, sample, entity, or instance</a:t>
            </a:r>
          </a:p>
          <a:p>
            <a:pPr lvl="4" eaLnBrk="1" hangingPunct="1"/>
            <a:endParaRPr lang="en-US" altLang="en-US" sz="1400">
              <a:latin typeface="Arial" panose="020B0604020202020204" pitchFamily="34" charset="0"/>
            </a:endParaRPr>
          </a:p>
        </p:txBody>
      </p:sp>
      <p:grpSp>
        <p:nvGrpSpPr>
          <p:cNvPr id="10245" name="Group 16">
            <a:extLst>
              <a:ext uri="{FF2B5EF4-FFF2-40B4-BE49-F238E27FC236}">
                <a16:creationId xmlns:a16="http://schemas.microsoft.com/office/drawing/2014/main" id="{842A4EE5-77E5-1B48-DB64-1B2DD9D57B86}"/>
              </a:ext>
            </a:extLst>
          </p:cNvPr>
          <p:cNvGrpSpPr>
            <a:grpSpLocks/>
          </p:cNvGrpSpPr>
          <p:nvPr/>
        </p:nvGrpSpPr>
        <p:grpSpPr bwMode="auto">
          <a:xfrm>
            <a:off x="5602288" y="1852613"/>
            <a:ext cx="3513137" cy="4191000"/>
            <a:chOff x="3403" y="1104"/>
            <a:chExt cx="2213" cy="2640"/>
          </a:xfrm>
        </p:grpSpPr>
        <p:graphicFrame>
          <p:nvGraphicFramePr>
            <p:cNvPr id="10251" name="Object 10">
              <a:extLst>
                <a:ext uri="{FF2B5EF4-FFF2-40B4-BE49-F238E27FC236}">
                  <a16:creationId xmlns:a16="http://schemas.microsoft.com/office/drawing/2014/main" id="{A79E761F-CFA5-C994-067A-BF31A4EA19C4}"/>
                </a:ext>
              </a:extLst>
            </p:cNvPr>
            <p:cNvGraphicFramePr>
              <a:graphicFrameLocks noChangeAspect="1"/>
            </p:cNvGraphicFramePr>
            <p:nvPr/>
          </p:nvGraphicFramePr>
          <p:xfrm>
            <a:off x="3403" y="1378"/>
            <a:ext cx="2213" cy="2366"/>
          </p:xfrm>
          <a:graphic>
            <a:graphicData uri="http://schemas.openxmlformats.org/presentationml/2006/ole">
              <mc:AlternateContent xmlns:mc="http://schemas.openxmlformats.org/markup-compatibility/2006">
                <mc:Choice xmlns:v="urn:schemas-microsoft-com:vml" Requires="v">
                  <p:oleObj name="Document" r:id="rId2" imgW="5405628" imgH="5779008" progId="Word.Document.8">
                    <p:embed/>
                  </p:oleObj>
                </mc:Choice>
                <mc:Fallback>
                  <p:oleObj name="Document" r:id="rId2" imgW="5405628" imgH="5779008" progId="Word.Document.8">
                    <p:embed/>
                    <p:pic>
                      <p:nvPicPr>
                        <p:cNvPr id="10251" name="Object 10">
                          <a:extLst>
                            <a:ext uri="{FF2B5EF4-FFF2-40B4-BE49-F238E27FC236}">
                              <a16:creationId xmlns:a16="http://schemas.microsoft.com/office/drawing/2014/main" id="{A79E761F-CFA5-C994-067A-BF31A4EA19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3" y="1378"/>
                          <a:ext cx="2213" cy="2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10252" name="AutoShape 12">
              <a:extLst>
                <a:ext uri="{FF2B5EF4-FFF2-40B4-BE49-F238E27FC236}">
                  <a16:creationId xmlns:a16="http://schemas.microsoft.com/office/drawing/2014/main" id="{2B2FC648-B6AF-689B-87CF-D5BA41287FBF}"/>
                </a:ext>
              </a:extLst>
            </p:cNvPr>
            <p:cNvSpPr>
              <a:spLocks/>
            </p:cNvSpPr>
            <p:nvPr/>
          </p:nvSpPr>
          <p:spPr bwMode="auto">
            <a:xfrm rot="5400000">
              <a:off x="4340" y="240"/>
              <a:ext cx="240" cy="1968"/>
            </a:xfrm>
            <a:prstGeom prst="leftBrace">
              <a:avLst>
                <a:gd name="adj1" fmla="val 68333"/>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pSp>
      <p:sp>
        <p:nvSpPr>
          <p:cNvPr id="10246" name="Text Box 14">
            <a:extLst>
              <a:ext uri="{FF2B5EF4-FFF2-40B4-BE49-F238E27FC236}">
                <a16:creationId xmlns:a16="http://schemas.microsoft.com/office/drawing/2014/main" id="{EB7DA309-F20A-7F3B-7826-888F0CDEF546}"/>
              </a:ext>
            </a:extLst>
          </p:cNvPr>
          <p:cNvSpPr txBox="1">
            <a:spLocks noChangeArrowheads="1"/>
          </p:cNvSpPr>
          <p:nvPr/>
        </p:nvSpPr>
        <p:spPr bwMode="auto">
          <a:xfrm>
            <a:off x="6440488" y="13843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2000">
                <a:solidFill>
                  <a:srgbClr val="FF0000"/>
                </a:solidFill>
                <a:latin typeface="Arial" panose="020B0604020202020204" pitchFamily="34" charset="0"/>
              </a:rPr>
              <a:t>Attributes</a:t>
            </a:r>
          </a:p>
        </p:txBody>
      </p:sp>
      <p:sp>
        <p:nvSpPr>
          <p:cNvPr id="10247" name="AutoShape 15">
            <a:extLst>
              <a:ext uri="{FF2B5EF4-FFF2-40B4-BE49-F238E27FC236}">
                <a16:creationId xmlns:a16="http://schemas.microsoft.com/office/drawing/2014/main" id="{F74AB4A7-20BE-843D-CA93-96FE2E85BBE9}"/>
              </a:ext>
            </a:extLst>
          </p:cNvPr>
          <p:cNvSpPr>
            <a:spLocks/>
          </p:cNvSpPr>
          <p:nvPr/>
        </p:nvSpPr>
        <p:spPr bwMode="auto">
          <a:xfrm>
            <a:off x="5221288" y="2767013"/>
            <a:ext cx="381000" cy="3124200"/>
          </a:xfrm>
          <a:prstGeom prst="leftBrace">
            <a:avLst>
              <a:gd name="adj1" fmla="val 68333"/>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10248" name="Text Box 17">
            <a:extLst>
              <a:ext uri="{FF2B5EF4-FFF2-40B4-BE49-F238E27FC236}">
                <a16:creationId xmlns:a16="http://schemas.microsoft.com/office/drawing/2014/main" id="{720B4CDE-98C9-C514-3F1E-9F4C90DEDD88}"/>
              </a:ext>
            </a:extLst>
          </p:cNvPr>
          <p:cNvSpPr txBox="1">
            <a:spLocks noChangeArrowheads="1"/>
          </p:cNvSpPr>
          <p:nvPr/>
        </p:nvSpPr>
        <p:spPr bwMode="auto">
          <a:xfrm rot="-5400000">
            <a:off x="4427538" y="4130675"/>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a:solidFill>
                  <a:srgbClr val="FF0000"/>
                </a:solidFill>
                <a:latin typeface="Arial" panose="020B0604020202020204" pitchFamily="34" charset="0"/>
              </a:rPr>
              <a:t>Objects</a:t>
            </a:r>
          </a:p>
        </p:txBody>
      </p:sp>
      <p:sp>
        <p:nvSpPr>
          <p:cNvPr id="12" name="Date Placeholder 11">
            <a:extLst>
              <a:ext uri="{FF2B5EF4-FFF2-40B4-BE49-F238E27FC236}">
                <a16:creationId xmlns:a16="http://schemas.microsoft.com/office/drawing/2014/main" id="{E2C242BB-685C-668E-8817-C6975F0AEFC8}"/>
              </a:ext>
            </a:extLst>
          </p:cNvPr>
          <p:cNvSpPr>
            <a:spLocks noGrp="1"/>
          </p:cNvSpPr>
          <p:nvPr>
            <p:ph type="dt" sz="quarter" idx="10"/>
          </p:nvPr>
        </p:nvSpPr>
        <p:spPr/>
        <p:txBody>
          <a:bodyPr/>
          <a:lstStyle/>
          <a:p>
            <a:pPr>
              <a:defRPr/>
            </a:pPr>
            <a:fld id="{96FBBE06-007E-4E5B-BE56-018687EF7DAB}" type="datetime1">
              <a:rPr lang="en-US"/>
              <a:pPr>
                <a:defRPr/>
              </a:pPr>
              <a:t>6/12/2023</a:t>
            </a:fld>
            <a:endParaRPr lang="en-US"/>
          </a:p>
        </p:txBody>
      </p:sp>
      <p:sp>
        <p:nvSpPr>
          <p:cNvPr id="13" name="Footer Placeholder 12">
            <a:extLst>
              <a:ext uri="{FF2B5EF4-FFF2-40B4-BE49-F238E27FC236}">
                <a16:creationId xmlns:a16="http://schemas.microsoft.com/office/drawing/2014/main" id="{B1FFE9D3-46D5-9670-B0AC-0296E1582DC7}"/>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AE724A-B8E3-9241-47E3-26D48F07BF41}"/>
              </a:ext>
            </a:extLst>
          </p:cNvPr>
          <p:cNvSpPr>
            <a:spLocks noGrp="1"/>
          </p:cNvSpPr>
          <p:nvPr>
            <p:ph type="title"/>
          </p:nvPr>
        </p:nvSpPr>
        <p:spPr>
          <a:xfrm>
            <a:off x="1143000" y="3048000"/>
            <a:ext cx="7772400" cy="1362075"/>
          </a:xfrm>
        </p:spPr>
        <p:txBody>
          <a:bodyPr/>
          <a:lstStyle/>
          <a:p>
            <a:pPr algn="ctr">
              <a:defRPr/>
            </a:pPr>
            <a:r>
              <a:rPr lang="en-US" dirty="0"/>
              <a:t>Data Types</a:t>
            </a:r>
          </a:p>
        </p:txBody>
      </p:sp>
      <p:sp>
        <p:nvSpPr>
          <p:cNvPr id="11267" name="Slide Number Placeholder 3">
            <a:extLst>
              <a:ext uri="{FF2B5EF4-FFF2-40B4-BE49-F238E27FC236}">
                <a16:creationId xmlns:a16="http://schemas.microsoft.com/office/drawing/2014/main" id="{F84A5A87-A81D-BC1B-E5D6-A9B5053A24A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A5A0A30-164A-4B58-87E5-CC632006F3FC}" type="slidenum">
              <a:rPr lang="en-US" altLang="en-US" sz="1200" smtClean="0">
                <a:solidFill>
                  <a:srgbClr val="898989"/>
                </a:solidFill>
              </a:rPr>
              <a:pPr>
                <a:spcBef>
                  <a:spcPct val="0"/>
                </a:spcBef>
                <a:buFontTx/>
                <a:buNone/>
              </a:pPr>
              <a:t>5</a:t>
            </a:fld>
            <a:endParaRPr lang="en-US" altLang="en-US" sz="1200">
              <a:solidFill>
                <a:srgbClr val="898989"/>
              </a:solidFill>
            </a:endParaRPr>
          </a:p>
        </p:txBody>
      </p:sp>
      <p:sp>
        <p:nvSpPr>
          <p:cNvPr id="2" name="Date Placeholder 1">
            <a:extLst>
              <a:ext uri="{FF2B5EF4-FFF2-40B4-BE49-F238E27FC236}">
                <a16:creationId xmlns:a16="http://schemas.microsoft.com/office/drawing/2014/main" id="{9634FA21-53BC-428F-ED9A-F8CF2F023E13}"/>
              </a:ext>
            </a:extLst>
          </p:cNvPr>
          <p:cNvSpPr>
            <a:spLocks noGrp="1"/>
          </p:cNvSpPr>
          <p:nvPr>
            <p:ph type="dt" sz="quarter" idx="10"/>
          </p:nvPr>
        </p:nvSpPr>
        <p:spPr/>
        <p:txBody>
          <a:bodyPr/>
          <a:lstStyle/>
          <a:p>
            <a:pPr>
              <a:defRPr/>
            </a:pPr>
            <a:fld id="{FEE5E567-44D7-4056-AC51-E9C7132CA93E}" type="datetime1">
              <a:rPr lang="en-US"/>
              <a:pPr>
                <a:defRPr/>
              </a:pPr>
              <a:t>6/12/2023</a:t>
            </a:fld>
            <a:endParaRPr lang="en-US"/>
          </a:p>
        </p:txBody>
      </p:sp>
      <p:sp>
        <p:nvSpPr>
          <p:cNvPr id="3" name="Footer Placeholder 2">
            <a:extLst>
              <a:ext uri="{FF2B5EF4-FFF2-40B4-BE49-F238E27FC236}">
                <a16:creationId xmlns:a16="http://schemas.microsoft.com/office/drawing/2014/main" id="{D88596F9-49D5-86AB-5826-62AB0445871D}"/>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a:extLst>
              <a:ext uri="{FF2B5EF4-FFF2-40B4-BE49-F238E27FC236}">
                <a16:creationId xmlns:a16="http://schemas.microsoft.com/office/drawing/2014/main" id="{AF5B6B55-FB46-87E9-B06F-F60AC7156C0C}"/>
              </a:ext>
            </a:extLst>
          </p:cNvPr>
          <p:cNvSpPr>
            <a:spLocks noGrp="1"/>
          </p:cNvSpPr>
          <p:nvPr>
            <p:ph type="title"/>
          </p:nvPr>
        </p:nvSpPr>
        <p:spPr/>
        <p:txBody>
          <a:bodyPr/>
          <a:lstStyle/>
          <a:p>
            <a:r>
              <a:rPr lang="en-US" altLang="en-US">
                <a:latin typeface="Open Sans" pitchFamily="34" charset="0"/>
              </a:rPr>
              <a:t>Types of Attributes</a:t>
            </a:r>
          </a:p>
        </p:txBody>
      </p:sp>
      <p:sp>
        <p:nvSpPr>
          <p:cNvPr id="12291" name="Slide Number Placeholder 3">
            <a:extLst>
              <a:ext uri="{FF2B5EF4-FFF2-40B4-BE49-F238E27FC236}">
                <a16:creationId xmlns:a16="http://schemas.microsoft.com/office/drawing/2014/main" id="{338F9E0B-F246-9F9D-1EB4-BC9604B5AAD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B00BF82-19B3-4460-9182-6D05A5A0C57D}"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sp>
        <p:nvSpPr>
          <p:cNvPr id="7" name="Rectangle 10">
            <a:extLst>
              <a:ext uri="{FF2B5EF4-FFF2-40B4-BE49-F238E27FC236}">
                <a16:creationId xmlns:a16="http://schemas.microsoft.com/office/drawing/2014/main" id="{90E9A124-49B0-B6AE-8F72-BE58CADC8EFB}"/>
              </a:ext>
            </a:extLst>
          </p:cNvPr>
          <p:cNvSpPr>
            <a:spLocks noGrp="1" noChangeArrowheads="1"/>
          </p:cNvSpPr>
          <p:nvPr>
            <p:ph idx="1"/>
          </p:nvPr>
        </p:nvSpPr>
        <p:spPr>
          <a:xfrm>
            <a:off x="929208" y="1828800"/>
            <a:ext cx="8001000" cy="4267200"/>
          </a:xfrm>
        </p:spPr>
        <p:txBody>
          <a:bodyPr>
            <a:normAutofit lnSpcReduction="10000"/>
          </a:bodyPr>
          <a:lstStyle/>
          <a:p>
            <a:pPr marL="0" indent="0" eaLnBrk="1" hangingPunct="1">
              <a:defRPr/>
            </a:pPr>
            <a:r>
              <a:rPr lang="en-US" sz="2000" dirty="0">
                <a:latin typeface="Arial" charset="0"/>
              </a:rPr>
              <a:t> There are different types of attributes	         </a:t>
            </a:r>
            <a:r>
              <a:rPr lang="en-US" sz="2000" b="1" dirty="0">
                <a:solidFill>
                  <a:srgbClr val="3C8C93"/>
                </a:solidFill>
                <a:latin typeface="Arial" charset="0"/>
              </a:rPr>
              <a:t>CATEGORICAL</a:t>
            </a:r>
          </a:p>
          <a:p>
            <a:pPr marL="749300" lvl="1" eaLnBrk="1" hangingPunct="1">
              <a:defRPr/>
            </a:pPr>
            <a:r>
              <a:rPr lang="en-US" sz="1800" dirty="0">
                <a:solidFill>
                  <a:srgbClr val="3C8C93"/>
                </a:solidFill>
                <a:latin typeface="Arial" charset="0"/>
              </a:rPr>
              <a:t>Nominal</a:t>
            </a:r>
          </a:p>
          <a:p>
            <a:pPr marL="1257300" lvl="2" indent="-393700" eaLnBrk="1" hangingPunct="1">
              <a:defRPr/>
            </a:pPr>
            <a:r>
              <a:rPr lang="en-US" sz="1800" dirty="0">
                <a:latin typeface="Arial" charset="0"/>
              </a:rPr>
              <a:t>Examples: ID numbers, eye color, zip codes</a:t>
            </a:r>
          </a:p>
          <a:p>
            <a:pPr marL="749300" lvl="1" eaLnBrk="1" hangingPunct="1">
              <a:defRPr/>
            </a:pPr>
            <a:r>
              <a:rPr lang="en-US" sz="1800" dirty="0">
                <a:solidFill>
                  <a:srgbClr val="3C8C93"/>
                </a:solidFill>
                <a:latin typeface="Arial" charset="0"/>
              </a:rPr>
              <a:t>Ordinal</a:t>
            </a:r>
          </a:p>
          <a:p>
            <a:pPr marL="1257300" lvl="2" indent="-393700" eaLnBrk="1" hangingPunct="1">
              <a:defRPr/>
            </a:pPr>
            <a:r>
              <a:rPr lang="en-US" sz="1800" dirty="0">
                <a:latin typeface="Arial" charset="0"/>
              </a:rPr>
              <a:t>Examples: rankings (e.g., taste of potato chips on a scale from 1-10), height in {tall, medium, short}, professional rank {assistant, associate, professor}</a:t>
            </a:r>
          </a:p>
          <a:p>
            <a:pPr marL="0" lvl="8" indent="0">
              <a:buFont typeface="Arial" pitchFamily="34" charset="0"/>
              <a:buNone/>
              <a:defRPr/>
            </a:pPr>
            <a:r>
              <a:rPr lang="en-US" sz="1800" dirty="0">
                <a:solidFill>
                  <a:srgbClr val="3C8C93"/>
                </a:solidFill>
                <a:latin typeface="Arial" charset="0"/>
              </a:rPr>
              <a:t>							      </a:t>
            </a:r>
            <a:r>
              <a:rPr lang="en-US" b="1" dirty="0">
                <a:solidFill>
                  <a:srgbClr val="3C8C93"/>
                </a:solidFill>
                <a:effectLst>
                  <a:outerShdw blurRad="38100" dist="38100" dir="2700000" algn="tl">
                    <a:srgbClr val="C0C0C0"/>
                  </a:outerShdw>
                </a:effectLst>
                <a:latin typeface="Arial" charset="0"/>
              </a:rPr>
              <a:t>NUMERIC</a:t>
            </a:r>
          </a:p>
          <a:p>
            <a:pPr marL="749300" lvl="1" eaLnBrk="1" hangingPunct="1">
              <a:defRPr/>
            </a:pPr>
            <a:r>
              <a:rPr lang="en-US" sz="1800" dirty="0">
                <a:solidFill>
                  <a:srgbClr val="3C8C93"/>
                </a:solidFill>
                <a:latin typeface="Arial" charset="0"/>
              </a:rPr>
              <a:t>Numeric: Interval</a:t>
            </a:r>
          </a:p>
          <a:p>
            <a:pPr marL="1257300" lvl="2" indent="-393700" eaLnBrk="1" hangingPunct="1">
              <a:defRPr/>
            </a:pPr>
            <a:r>
              <a:rPr lang="en-US" sz="1800" dirty="0">
                <a:latin typeface="Arial" charset="0"/>
              </a:rPr>
              <a:t>Examples: calendar dates</a:t>
            </a:r>
          </a:p>
          <a:p>
            <a:pPr marL="749300" lvl="1" eaLnBrk="1" hangingPunct="1">
              <a:defRPr/>
            </a:pPr>
            <a:r>
              <a:rPr lang="en-US" sz="1800" dirty="0">
                <a:solidFill>
                  <a:srgbClr val="3C8C93"/>
                </a:solidFill>
                <a:latin typeface="Arial" charset="0"/>
              </a:rPr>
              <a:t>Numeric: Ratio</a:t>
            </a:r>
          </a:p>
          <a:p>
            <a:pPr marL="1257300" lvl="2" indent="-393700" eaLnBrk="1" hangingPunct="1">
              <a:defRPr/>
            </a:pPr>
            <a:r>
              <a:rPr lang="en-US" sz="1800" dirty="0">
                <a:latin typeface="Arial" charset="0"/>
              </a:rPr>
              <a:t>Examples: monetary quantities, counts, age, mass, length, electrical current</a:t>
            </a:r>
          </a:p>
          <a:p>
            <a:pPr marL="749300" lvl="1" eaLnBrk="1" hangingPunct="1">
              <a:defRPr/>
            </a:pPr>
            <a:endParaRPr lang="en-US" sz="1800" dirty="0">
              <a:latin typeface="Arial" charset="0"/>
            </a:endParaRPr>
          </a:p>
        </p:txBody>
      </p:sp>
      <p:sp>
        <p:nvSpPr>
          <p:cNvPr id="8" name="Rectangle 7">
            <a:extLst>
              <a:ext uri="{FF2B5EF4-FFF2-40B4-BE49-F238E27FC236}">
                <a16:creationId xmlns:a16="http://schemas.microsoft.com/office/drawing/2014/main" id="{A8259ADA-FB64-702C-5788-55D5932FD5D4}"/>
              </a:ext>
            </a:extLst>
          </p:cNvPr>
          <p:cNvSpPr/>
          <p:nvPr/>
        </p:nvSpPr>
        <p:spPr>
          <a:xfrm>
            <a:off x="838200" y="2154238"/>
            <a:ext cx="7777163" cy="18081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AD28BA4D-DA59-1AE6-6738-E4BF140E45A0}"/>
              </a:ext>
            </a:extLst>
          </p:cNvPr>
          <p:cNvSpPr/>
          <p:nvPr/>
        </p:nvSpPr>
        <p:spPr>
          <a:xfrm>
            <a:off x="838200" y="4433888"/>
            <a:ext cx="7777163" cy="16621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 name="Date Placeholder 9">
            <a:extLst>
              <a:ext uri="{FF2B5EF4-FFF2-40B4-BE49-F238E27FC236}">
                <a16:creationId xmlns:a16="http://schemas.microsoft.com/office/drawing/2014/main" id="{53D299F9-AD7A-EF57-CFFF-DC560F6F9BCB}"/>
              </a:ext>
            </a:extLst>
          </p:cNvPr>
          <p:cNvSpPr>
            <a:spLocks noGrp="1"/>
          </p:cNvSpPr>
          <p:nvPr>
            <p:ph type="dt" sz="quarter" idx="10"/>
          </p:nvPr>
        </p:nvSpPr>
        <p:spPr/>
        <p:txBody>
          <a:bodyPr/>
          <a:lstStyle/>
          <a:p>
            <a:pPr>
              <a:defRPr/>
            </a:pPr>
            <a:fld id="{B5FEDA4C-00C2-46C9-8E59-7FEA508A8047}" type="datetime1">
              <a:rPr lang="en-US"/>
              <a:pPr>
                <a:defRPr/>
              </a:pPr>
              <a:t>6/12/2023</a:t>
            </a:fld>
            <a:endParaRPr lang="en-US"/>
          </a:p>
        </p:txBody>
      </p:sp>
      <p:sp>
        <p:nvSpPr>
          <p:cNvPr id="11" name="Footer Placeholder 10">
            <a:extLst>
              <a:ext uri="{FF2B5EF4-FFF2-40B4-BE49-F238E27FC236}">
                <a16:creationId xmlns:a16="http://schemas.microsoft.com/office/drawing/2014/main" id="{55BE15B5-C901-D4AB-4D2F-E198D6CCA749}"/>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D4CD-8040-C675-E7C8-B47FE806C11E}"/>
              </a:ext>
            </a:extLst>
          </p:cNvPr>
          <p:cNvSpPr>
            <a:spLocks noGrp="1"/>
          </p:cNvSpPr>
          <p:nvPr>
            <p:ph type="title"/>
          </p:nvPr>
        </p:nvSpPr>
        <p:spPr>
          <a:xfrm>
            <a:off x="2057400" y="304800"/>
            <a:ext cx="6324600" cy="1143000"/>
          </a:xfrm>
        </p:spPr>
        <p:txBody>
          <a:bodyPr>
            <a:normAutofit fontScale="90000"/>
          </a:bodyPr>
          <a:lstStyle/>
          <a:p>
            <a:pPr>
              <a:defRPr/>
            </a:pPr>
            <a:r>
              <a:rPr lang="en-US" dirty="0"/>
              <a:t>Properties of Attribute Values</a:t>
            </a:r>
          </a:p>
        </p:txBody>
      </p:sp>
      <p:sp>
        <p:nvSpPr>
          <p:cNvPr id="13315" name="Slide Number Placeholder 3">
            <a:extLst>
              <a:ext uri="{FF2B5EF4-FFF2-40B4-BE49-F238E27FC236}">
                <a16:creationId xmlns:a16="http://schemas.microsoft.com/office/drawing/2014/main" id="{76E36066-E487-8F3D-7330-2D90A3006B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A170C0-6414-404E-9EA2-378F0A22F13B}" type="slidenum">
              <a:rPr lang="en-US" altLang="en-US" sz="1200" smtClean="0">
                <a:solidFill>
                  <a:srgbClr val="898989"/>
                </a:solidFill>
              </a:rPr>
              <a:pPr>
                <a:spcBef>
                  <a:spcPct val="0"/>
                </a:spcBef>
                <a:buFontTx/>
                <a:buNone/>
              </a:pPr>
              <a:t>7</a:t>
            </a:fld>
            <a:endParaRPr lang="en-US" altLang="en-US" sz="1200">
              <a:solidFill>
                <a:srgbClr val="898989"/>
              </a:solidFill>
            </a:endParaRPr>
          </a:p>
        </p:txBody>
      </p:sp>
      <p:sp>
        <p:nvSpPr>
          <p:cNvPr id="13316" name="Rectangle 5">
            <a:extLst>
              <a:ext uri="{FF2B5EF4-FFF2-40B4-BE49-F238E27FC236}">
                <a16:creationId xmlns:a16="http://schemas.microsoft.com/office/drawing/2014/main" id="{8126B0C0-AE5A-DD07-B814-93994F2F4BC6}"/>
              </a:ext>
            </a:extLst>
          </p:cNvPr>
          <p:cNvSpPr>
            <a:spLocks noGrp="1"/>
          </p:cNvSpPr>
          <p:nvPr>
            <p:ph idx="1"/>
          </p:nvPr>
        </p:nvSpPr>
        <p:spPr>
          <a:xfrm>
            <a:off x="838200" y="1600200"/>
            <a:ext cx="8153400" cy="4648200"/>
          </a:xfrm>
        </p:spPr>
        <p:txBody>
          <a:bodyPr/>
          <a:lstStyle/>
          <a:p>
            <a:pPr eaLnBrk="1" hangingPunct="1"/>
            <a:r>
              <a:rPr lang="en-US" altLang="en-US">
                <a:latin typeface="Arial" panose="020B0604020202020204" pitchFamily="34" charset="0"/>
              </a:rPr>
              <a:t>The type of an attribute depends on which of the following properties it possesses:</a:t>
            </a:r>
          </a:p>
          <a:p>
            <a:pPr lvl="1" eaLnBrk="1" hangingPunct="1"/>
            <a:r>
              <a:rPr lang="en-US" altLang="en-US" sz="2000">
                <a:latin typeface="Arial" panose="020B0604020202020204" pitchFamily="34" charset="0"/>
              </a:rPr>
              <a:t>Distinctness:  	=  </a:t>
            </a:r>
            <a:r>
              <a:rPr lang="en-US" altLang="en-US" sz="2000">
                <a:latin typeface="Arial" panose="020B0604020202020204" pitchFamily="34" charset="0"/>
                <a:sym typeface="Symbol" panose="05050102010706020507" pitchFamily="18" charset="2"/>
              </a:rPr>
              <a:t>		</a:t>
            </a:r>
            <a:endParaRPr lang="en-US" altLang="en-US" sz="2000">
              <a:latin typeface="Arial" panose="020B0604020202020204" pitchFamily="34" charset="0"/>
            </a:endParaRPr>
          </a:p>
          <a:p>
            <a:pPr lvl="1" eaLnBrk="1" hangingPunct="1"/>
            <a:r>
              <a:rPr lang="en-US" altLang="en-US" sz="2000">
                <a:latin typeface="Arial" panose="020B0604020202020204" pitchFamily="34" charset="0"/>
              </a:rPr>
              <a:t>Order:  		&lt;  &gt;  		</a:t>
            </a:r>
          </a:p>
          <a:p>
            <a:pPr lvl="1" eaLnBrk="1" hangingPunct="1"/>
            <a:r>
              <a:rPr lang="en-US" altLang="en-US" sz="2000">
                <a:latin typeface="Arial" panose="020B0604020202020204" pitchFamily="34" charset="0"/>
              </a:rPr>
              <a:t>Addition:  	+  - 		</a:t>
            </a:r>
          </a:p>
          <a:p>
            <a:pPr lvl="1" eaLnBrk="1" hangingPunct="1"/>
            <a:r>
              <a:rPr lang="en-US" altLang="en-US" sz="2000">
                <a:latin typeface="Arial" panose="020B0604020202020204" pitchFamily="34" charset="0"/>
              </a:rPr>
              <a:t>Multiplication: 	*  /</a:t>
            </a:r>
          </a:p>
          <a:p>
            <a:pPr lvl="4" eaLnBrk="1" hangingPunct="1"/>
            <a:endParaRPr lang="en-US" altLang="en-US" sz="2000">
              <a:latin typeface="Arial" panose="020B0604020202020204" pitchFamily="34" charset="0"/>
            </a:endParaRPr>
          </a:p>
          <a:p>
            <a:pPr lvl="1" eaLnBrk="1" hangingPunct="1"/>
            <a:r>
              <a:rPr lang="en-US" altLang="en-US" sz="2000">
                <a:solidFill>
                  <a:srgbClr val="3C8C93"/>
                </a:solidFill>
                <a:latin typeface="Arial" panose="020B0604020202020204" pitchFamily="34" charset="0"/>
              </a:rPr>
              <a:t>Nominal attribute</a:t>
            </a:r>
            <a:r>
              <a:rPr lang="en-US" altLang="en-US" sz="2000">
                <a:latin typeface="Arial" panose="020B0604020202020204" pitchFamily="34" charset="0"/>
              </a:rPr>
              <a:t>: distinctness</a:t>
            </a:r>
          </a:p>
          <a:p>
            <a:pPr lvl="1" eaLnBrk="1" hangingPunct="1"/>
            <a:r>
              <a:rPr lang="en-US" altLang="en-US" sz="2000">
                <a:solidFill>
                  <a:srgbClr val="3C8C93"/>
                </a:solidFill>
                <a:latin typeface="Arial" panose="020B0604020202020204" pitchFamily="34" charset="0"/>
              </a:rPr>
              <a:t>Ordinal attribute</a:t>
            </a:r>
            <a:r>
              <a:rPr lang="en-US" altLang="en-US" sz="2000">
                <a:latin typeface="Arial" panose="020B0604020202020204" pitchFamily="34" charset="0"/>
              </a:rPr>
              <a:t>: distinctness &amp; order</a:t>
            </a:r>
          </a:p>
          <a:p>
            <a:pPr lvl="1" eaLnBrk="1" hangingPunct="1"/>
            <a:r>
              <a:rPr lang="en-US" altLang="en-US" sz="2000">
                <a:solidFill>
                  <a:srgbClr val="3C8C93"/>
                </a:solidFill>
                <a:latin typeface="Arial" panose="020B0604020202020204" pitchFamily="34" charset="0"/>
              </a:rPr>
              <a:t>Interval attribute</a:t>
            </a:r>
            <a:r>
              <a:rPr lang="en-US" altLang="en-US" sz="2000">
                <a:latin typeface="Arial" panose="020B0604020202020204" pitchFamily="34" charset="0"/>
              </a:rPr>
              <a:t>: distinctness, order &amp; addition</a:t>
            </a:r>
          </a:p>
          <a:p>
            <a:pPr lvl="1" eaLnBrk="1" hangingPunct="1"/>
            <a:r>
              <a:rPr lang="en-US" altLang="en-US" sz="2000">
                <a:solidFill>
                  <a:srgbClr val="3C8C93"/>
                </a:solidFill>
                <a:latin typeface="Arial" panose="020B0604020202020204" pitchFamily="34" charset="0"/>
              </a:rPr>
              <a:t>Ratio attribute</a:t>
            </a:r>
            <a:r>
              <a:rPr lang="en-US" altLang="en-US" sz="2000">
                <a:latin typeface="Arial" panose="020B0604020202020204" pitchFamily="34" charset="0"/>
              </a:rPr>
              <a:t>: all 4 properties</a:t>
            </a:r>
            <a:endParaRPr lang="en-US" altLang="en-US" sz="1600">
              <a:latin typeface="Arial" panose="020B0604020202020204" pitchFamily="34" charset="0"/>
            </a:endParaRPr>
          </a:p>
        </p:txBody>
      </p:sp>
      <p:sp>
        <p:nvSpPr>
          <p:cNvPr id="6" name="Date Placeholder 5">
            <a:extLst>
              <a:ext uri="{FF2B5EF4-FFF2-40B4-BE49-F238E27FC236}">
                <a16:creationId xmlns:a16="http://schemas.microsoft.com/office/drawing/2014/main" id="{E05E323B-DF33-A387-D587-EA731B7563B5}"/>
              </a:ext>
            </a:extLst>
          </p:cNvPr>
          <p:cNvSpPr>
            <a:spLocks noGrp="1"/>
          </p:cNvSpPr>
          <p:nvPr>
            <p:ph type="dt" sz="quarter" idx="10"/>
          </p:nvPr>
        </p:nvSpPr>
        <p:spPr/>
        <p:txBody>
          <a:bodyPr/>
          <a:lstStyle/>
          <a:p>
            <a:pPr>
              <a:defRPr/>
            </a:pPr>
            <a:fld id="{3D4EE5BD-00C6-4F28-9201-58E95447ECE6}" type="datetime1">
              <a:rPr lang="en-US"/>
              <a:pPr>
                <a:defRPr/>
              </a:pPr>
              <a:t>6/12/2023</a:t>
            </a:fld>
            <a:endParaRPr lang="en-US"/>
          </a:p>
        </p:txBody>
      </p:sp>
      <p:sp>
        <p:nvSpPr>
          <p:cNvPr id="7" name="Footer Placeholder 6">
            <a:extLst>
              <a:ext uri="{FF2B5EF4-FFF2-40B4-BE49-F238E27FC236}">
                <a16:creationId xmlns:a16="http://schemas.microsoft.com/office/drawing/2014/main" id="{32637A41-63F1-FAD8-5850-B5D2CDCB039E}"/>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A7C5-C19C-C385-0E0C-9F3344F3DDB3}"/>
              </a:ext>
            </a:extLst>
          </p:cNvPr>
          <p:cNvSpPr>
            <a:spLocks noGrp="1"/>
          </p:cNvSpPr>
          <p:nvPr>
            <p:ph type="title"/>
          </p:nvPr>
        </p:nvSpPr>
        <p:spPr/>
        <p:txBody>
          <a:bodyPr>
            <a:normAutofit fontScale="90000"/>
          </a:bodyPr>
          <a:lstStyle/>
          <a:p>
            <a:pPr>
              <a:defRPr/>
            </a:pPr>
            <a:r>
              <a:rPr lang="en-US" dirty="0"/>
              <a:t>Discrete and Continuous Attributes</a:t>
            </a:r>
          </a:p>
        </p:txBody>
      </p:sp>
      <p:sp>
        <p:nvSpPr>
          <p:cNvPr id="14339" name="Slide Number Placeholder 3">
            <a:extLst>
              <a:ext uri="{FF2B5EF4-FFF2-40B4-BE49-F238E27FC236}">
                <a16:creationId xmlns:a16="http://schemas.microsoft.com/office/drawing/2014/main" id="{CD541D6D-05DC-E2B0-99D6-62ECAAA919A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A245B8D-F15E-4BA2-9DA2-3734F309750C}" type="slidenum">
              <a:rPr lang="en-US" altLang="en-US" sz="1200" smtClean="0">
                <a:solidFill>
                  <a:srgbClr val="898989"/>
                </a:solidFill>
              </a:rPr>
              <a:pPr>
                <a:spcBef>
                  <a:spcPct val="0"/>
                </a:spcBef>
                <a:buFontTx/>
                <a:buNone/>
              </a:pPr>
              <a:t>8</a:t>
            </a:fld>
            <a:endParaRPr lang="en-US" altLang="en-US" sz="1200">
              <a:solidFill>
                <a:srgbClr val="898989"/>
              </a:solidFill>
            </a:endParaRPr>
          </a:p>
        </p:txBody>
      </p:sp>
      <p:sp>
        <p:nvSpPr>
          <p:cNvPr id="5" name="Rectangle 5">
            <a:extLst>
              <a:ext uri="{FF2B5EF4-FFF2-40B4-BE49-F238E27FC236}">
                <a16:creationId xmlns:a16="http://schemas.microsoft.com/office/drawing/2014/main" id="{84CDC2C8-4DD6-8FDC-9A5F-50CC129D1F89}"/>
              </a:ext>
            </a:extLst>
          </p:cNvPr>
          <p:cNvSpPr>
            <a:spLocks noGrp="1" noChangeArrowheads="1"/>
          </p:cNvSpPr>
          <p:nvPr>
            <p:ph idx="1"/>
          </p:nvPr>
        </p:nvSpPr>
        <p:spPr>
          <a:xfrm>
            <a:off x="990600" y="1905000"/>
            <a:ext cx="8001000" cy="4343400"/>
          </a:xfrm>
        </p:spPr>
        <p:txBody>
          <a:bodyPr rtlCol="0">
            <a:normAutofit fontScale="62500" lnSpcReduction="20000"/>
          </a:bodyPr>
          <a:lstStyle/>
          <a:p>
            <a:pPr marL="0" indent="0" eaLnBrk="1" fontAlgn="auto" hangingPunct="1">
              <a:lnSpc>
                <a:spcPct val="110000"/>
              </a:lnSpc>
              <a:buFont typeface="Arial" panose="020B0604020202020204" pitchFamily="34" charset="0"/>
              <a:buNone/>
              <a:defRPr/>
            </a:pPr>
            <a:r>
              <a:rPr lang="en-US" sz="3200" b="1" u="sng" dirty="0"/>
              <a:t>Discrete Attribute</a:t>
            </a:r>
          </a:p>
          <a:p>
            <a:pPr lvl="1" indent="-182880" eaLnBrk="1" fontAlgn="auto" hangingPunct="1">
              <a:lnSpc>
                <a:spcPct val="110000"/>
              </a:lnSpc>
              <a:spcAft>
                <a:spcPts val="0"/>
              </a:spcAft>
              <a:buFont typeface="Arial" panose="020B0604020202020204" pitchFamily="34" charset="0"/>
              <a:buChar char="•"/>
              <a:defRPr/>
            </a:pPr>
            <a:r>
              <a:rPr lang="en-US" dirty="0">
                <a:solidFill>
                  <a:srgbClr val="0070C0"/>
                </a:solidFill>
              </a:rPr>
              <a:t>Has only a finite or countably infinite set of values</a:t>
            </a:r>
          </a:p>
          <a:p>
            <a:pPr lvl="1" indent="-182880" eaLnBrk="1" fontAlgn="auto" hangingPunct="1">
              <a:lnSpc>
                <a:spcPct val="110000"/>
              </a:lnSpc>
              <a:spcAft>
                <a:spcPts val="0"/>
              </a:spcAft>
              <a:buFont typeface="Arial" panose="020B0604020202020204" pitchFamily="34" charset="0"/>
              <a:buChar char="•"/>
              <a:defRPr/>
            </a:pPr>
            <a:r>
              <a:rPr lang="en-US" dirty="0"/>
              <a:t>Examples: zip codes, counts, or the set of words in a collection of documents </a:t>
            </a:r>
          </a:p>
          <a:p>
            <a:pPr lvl="1" indent="-182880" eaLnBrk="1" fontAlgn="auto" hangingPunct="1">
              <a:lnSpc>
                <a:spcPct val="110000"/>
              </a:lnSpc>
              <a:spcAft>
                <a:spcPts val="0"/>
              </a:spcAft>
              <a:buFont typeface="Arial" panose="020B0604020202020204" pitchFamily="34" charset="0"/>
              <a:buChar char="•"/>
              <a:defRPr/>
            </a:pPr>
            <a:r>
              <a:rPr lang="en-US" dirty="0"/>
              <a:t>Often represented as integer variables.   </a:t>
            </a:r>
          </a:p>
          <a:p>
            <a:pPr lvl="1" indent="-182880" eaLnBrk="1" fontAlgn="auto" hangingPunct="1">
              <a:lnSpc>
                <a:spcPct val="110000"/>
              </a:lnSpc>
              <a:spcAft>
                <a:spcPts val="0"/>
              </a:spcAft>
              <a:buFont typeface="Arial" panose="020B0604020202020204" pitchFamily="34" charset="0"/>
              <a:buChar char="•"/>
              <a:defRPr/>
            </a:pPr>
            <a:r>
              <a:rPr lang="en-US" dirty="0"/>
              <a:t>Note: binary attributes are a special case of discrete attributes </a:t>
            </a:r>
          </a:p>
          <a:p>
            <a:pPr lvl="4" eaLnBrk="1" fontAlgn="auto" hangingPunct="1">
              <a:lnSpc>
                <a:spcPct val="110000"/>
              </a:lnSpc>
              <a:spcAft>
                <a:spcPts val="0"/>
              </a:spcAft>
              <a:buFont typeface="Arial" panose="020B0604020202020204" pitchFamily="34" charset="0"/>
              <a:buChar char="•"/>
              <a:defRPr/>
            </a:pPr>
            <a:endParaRPr lang="en-US" dirty="0"/>
          </a:p>
          <a:p>
            <a:pPr marL="0" indent="0" eaLnBrk="1" fontAlgn="auto" hangingPunct="1">
              <a:lnSpc>
                <a:spcPct val="110000"/>
              </a:lnSpc>
              <a:buFont typeface="Arial" panose="020B0604020202020204" pitchFamily="34" charset="0"/>
              <a:buNone/>
              <a:defRPr/>
            </a:pPr>
            <a:r>
              <a:rPr lang="en-US" sz="3200" b="1" u="sng" dirty="0"/>
              <a:t>Continuous Attribute</a:t>
            </a:r>
            <a:endParaRPr lang="en-US" sz="2900" b="1" u="sng" dirty="0"/>
          </a:p>
          <a:p>
            <a:pPr lvl="1" indent="-182880" eaLnBrk="1" fontAlgn="auto" hangingPunct="1">
              <a:lnSpc>
                <a:spcPct val="110000"/>
              </a:lnSpc>
              <a:spcAft>
                <a:spcPts val="0"/>
              </a:spcAft>
              <a:buFont typeface="Arial" panose="020B0604020202020204" pitchFamily="34" charset="0"/>
              <a:buChar char="•"/>
              <a:defRPr/>
            </a:pPr>
            <a:r>
              <a:rPr lang="en-US" sz="2900" dirty="0">
                <a:solidFill>
                  <a:srgbClr val="0070C0"/>
                </a:solidFill>
              </a:rPr>
              <a:t>Has real numbers as attribute values</a:t>
            </a:r>
          </a:p>
          <a:p>
            <a:pPr lvl="1" indent="-182880" eaLnBrk="1" fontAlgn="auto" hangingPunct="1">
              <a:lnSpc>
                <a:spcPct val="110000"/>
              </a:lnSpc>
              <a:spcAft>
                <a:spcPts val="0"/>
              </a:spcAft>
              <a:buFont typeface="Arial" panose="020B0604020202020204" pitchFamily="34" charset="0"/>
              <a:buChar char="•"/>
              <a:defRPr/>
            </a:pPr>
            <a:r>
              <a:rPr lang="en-US" dirty="0"/>
              <a:t>Examples: temperature, height, or weight.  </a:t>
            </a:r>
          </a:p>
          <a:p>
            <a:pPr lvl="1" indent="-182880" eaLnBrk="1" fontAlgn="auto" hangingPunct="1">
              <a:lnSpc>
                <a:spcPct val="110000"/>
              </a:lnSpc>
              <a:spcAft>
                <a:spcPts val="0"/>
              </a:spcAft>
              <a:buFont typeface="Arial" panose="020B0604020202020204" pitchFamily="34" charset="0"/>
              <a:buChar char="•"/>
              <a:defRPr/>
            </a:pPr>
            <a:r>
              <a:rPr lang="en-US" dirty="0"/>
              <a:t>Practically, real values can only be measured and represented using a finite number of digits.</a:t>
            </a:r>
          </a:p>
          <a:p>
            <a:pPr lvl="1" indent="-182880" eaLnBrk="1" fontAlgn="auto" hangingPunct="1">
              <a:lnSpc>
                <a:spcPct val="110000"/>
              </a:lnSpc>
              <a:spcAft>
                <a:spcPts val="0"/>
              </a:spcAft>
              <a:buFont typeface="Arial" panose="020B0604020202020204" pitchFamily="34" charset="0"/>
              <a:buChar char="•"/>
              <a:defRPr/>
            </a:pPr>
            <a:r>
              <a:rPr lang="en-US" dirty="0"/>
              <a:t>Continuous attributes are typically represented as floating-point variables.  </a:t>
            </a:r>
          </a:p>
          <a:p>
            <a:pPr lvl="4" eaLnBrk="1" fontAlgn="auto" hangingPunct="1">
              <a:lnSpc>
                <a:spcPct val="110000"/>
              </a:lnSpc>
              <a:spcAft>
                <a:spcPts val="0"/>
              </a:spcAft>
              <a:buFont typeface="Arial" panose="020B0604020202020204" pitchFamily="34" charset="0"/>
              <a:buChar char="•"/>
              <a:defRPr/>
            </a:pPr>
            <a:endParaRPr lang="en-US" dirty="0"/>
          </a:p>
        </p:txBody>
      </p:sp>
      <p:sp>
        <p:nvSpPr>
          <p:cNvPr id="6" name="Date Placeholder 5">
            <a:extLst>
              <a:ext uri="{FF2B5EF4-FFF2-40B4-BE49-F238E27FC236}">
                <a16:creationId xmlns:a16="http://schemas.microsoft.com/office/drawing/2014/main" id="{BE82CDD9-5EF6-9C29-6C54-E685B215C3A8}"/>
              </a:ext>
            </a:extLst>
          </p:cNvPr>
          <p:cNvSpPr>
            <a:spLocks noGrp="1"/>
          </p:cNvSpPr>
          <p:nvPr>
            <p:ph type="dt" sz="quarter" idx="10"/>
          </p:nvPr>
        </p:nvSpPr>
        <p:spPr/>
        <p:txBody>
          <a:bodyPr/>
          <a:lstStyle/>
          <a:p>
            <a:pPr>
              <a:defRPr/>
            </a:pPr>
            <a:fld id="{2ACFD534-09E5-4525-BBA9-002B33502547}" type="datetime1">
              <a:rPr lang="en-US"/>
              <a:pPr>
                <a:defRPr/>
              </a:pPr>
              <a:t>6/12/2023</a:t>
            </a:fld>
            <a:endParaRPr lang="en-US"/>
          </a:p>
        </p:txBody>
      </p:sp>
      <p:sp>
        <p:nvSpPr>
          <p:cNvPr id="7" name="Footer Placeholder 6">
            <a:extLst>
              <a:ext uri="{FF2B5EF4-FFF2-40B4-BE49-F238E27FC236}">
                <a16:creationId xmlns:a16="http://schemas.microsoft.com/office/drawing/2014/main" id="{4AD1C2DC-2F98-1493-DC9B-FF796E98CC48}"/>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F62D0EA-3A3D-55E0-1015-21FB5C4F217D}"/>
              </a:ext>
            </a:extLst>
          </p:cNvPr>
          <p:cNvSpPr>
            <a:spLocks noGrp="1"/>
          </p:cNvSpPr>
          <p:nvPr>
            <p:ph type="title"/>
          </p:nvPr>
        </p:nvSpPr>
        <p:spPr/>
        <p:txBody>
          <a:bodyPr/>
          <a:lstStyle/>
          <a:p>
            <a:r>
              <a:rPr lang="en-US" altLang="en-US">
                <a:latin typeface="Open Sans" pitchFamily="34" charset="0"/>
              </a:rPr>
              <a:t>Types of Datasets</a:t>
            </a:r>
          </a:p>
        </p:txBody>
      </p:sp>
      <p:sp>
        <p:nvSpPr>
          <p:cNvPr id="15363" name="Slide Number Placeholder 3">
            <a:extLst>
              <a:ext uri="{FF2B5EF4-FFF2-40B4-BE49-F238E27FC236}">
                <a16:creationId xmlns:a16="http://schemas.microsoft.com/office/drawing/2014/main" id="{E29EF863-EAF6-075A-814A-52190CD9340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F425B3A-EDBB-4B17-9168-8922B2B4F2EB}" type="slidenum">
              <a:rPr lang="en-US" altLang="en-US" sz="1200" smtClean="0">
                <a:solidFill>
                  <a:srgbClr val="898989"/>
                </a:solidFill>
              </a:rPr>
              <a:pPr>
                <a:spcBef>
                  <a:spcPct val="0"/>
                </a:spcBef>
                <a:buFontTx/>
                <a:buNone/>
              </a:pPr>
              <a:t>9</a:t>
            </a:fld>
            <a:endParaRPr lang="en-US" altLang="en-US" sz="1200">
              <a:solidFill>
                <a:srgbClr val="898989"/>
              </a:solidFill>
            </a:endParaRPr>
          </a:p>
        </p:txBody>
      </p:sp>
      <p:sp>
        <p:nvSpPr>
          <p:cNvPr id="5" name="Rectangle 1027">
            <a:extLst>
              <a:ext uri="{FF2B5EF4-FFF2-40B4-BE49-F238E27FC236}">
                <a16:creationId xmlns:a16="http://schemas.microsoft.com/office/drawing/2014/main" id="{FD31474E-D0B6-ABA7-670D-BB8F0CC65751}"/>
              </a:ext>
            </a:extLst>
          </p:cNvPr>
          <p:cNvSpPr>
            <a:spLocks noGrp="1" noChangeArrowheads="1"/>
          </p:cNvSpPr>
          <p:nvPr>
            <p:ph idx="1"/>
          </p:nvPr>
        </p:nvSpPr>
        <p:spPr>
          <a:xfrm>
            <a:off x="990600" y="1752600"/>
            <a:ext cx="8001000" cy="4495800"/>
          </a:xfrm>
        </p:spPr>
        <p:txBody>
          <a:bodyPr>
            <a:normAutofit lnSpcReduction="10000"/>
          </a:bodyPr>
          <a:lstStyle/>
          <a:p>
            <a:pPr marL="285750" indent="-285750" eaLnBrk="1" hangingPunct="1">
              <a:lnSpc>
                <a:spcPct val="95000"/>
              </a:lnSpc>
              <a:defRPr/>
            </a:pPr>
            <a:r>
              <a:rPr lang="en-US" sz="3000" dirty="0">
                <a:latin typeface="Arial" charset="0"/>
                <a:cs typeface="Times New Roman" charset="0"/>
              </a:rPr>
              <a:t>Record</a:t>
            </a:r>
            <a:endParaRPr lang="en-US" sz="3200" dirty="0">
              <a:latin typeface="Arial" charset="0"/>
              <a:cs typeface="Times New Roman" charset="0"/>
            </a:endParaRPr>
          </a:p>
          <a:p>
            <a:pPr lvl="1" eaLnBrk="1" hangingPunct="1">
              <a:lnSpc>
                <a:spcPct val="95000"/>
              </a:lnSpc>
              <a:defRPr/>
            </a:pPr>
            <a:r>
              <a:rPr lang="en-US" sz="2000" dirty="0">
                <a:latin typeface="Arial" charset="0"/>
                <a:cs typeface="Times New Roman" charset="0"/>
              </a:rPr>
              <a:t>Data Matrix</a:t>
            </a:r>
          </a:p>
          <a:p>
            <a:pPr lvl="1" eaLnBrk="1" hangingPunct="1">
              <a:lnSpc>
                <a:spcPct val="95000"/>
              </a:lnSpc>
              <a:defRPr/>
            </a:pPr>
            <a:r>
              <a:rPr lang="en-US" sz="2000" dirty="0">
                <a:latin typeface="Arial" charset="0"/>
                <a:cs typeface="Times New Roman" charset="0"/>
              </a:rPr>
              <a:t>Document Data</a:t>
            </a:r>
          </a:p>
          <a:p>
            <a:pPr lvl="1" eaLnBrk="1" hangingPunct="1">
              <a:lnSpc>
                <a:spcPct val="95000"/>
              </a:lnSpc>
              <a:defRPr/>
            </a:pPr>
            <a:r>
              <a:rPr lang="en-US" sz="2000" dirty="0">
                <a:latin typeface="Arial" charset="0"/>
                <a:cs typeface="Times New Roman" charset="0"/>
              </a:rPr>
              <a:t>Transaction Data</a:t>
            </a:r>
            <a:endParaRPr lang="en-US" sz="2400" dirty="0">
              <a:latin typeface="Arial" charset="0"/>
            </a:endParaRPr>
          </a:p>
          <a:p>
            <a:pPr marL="285750" indent="-285750" eaLnBrk="1" hangingPunct="1">
              <a:lnSpc>
                <a:spcPct val="95000"/>
              </a:lnSpc>
              <a:defRPr/>
            </a:pPr>
            <a:r>
              <a:rPr lang="en-US" sz="3000" dirty="0">
                <a:latin typeface="Arial" charset="0"/>
                <a:cs typeface="Times New Roman" charset="0"/>
              </a:rPr>
              <a:t>Graph</a:t>
            </a:r>
            <a:endParaRPr lang="en-US" sz="3200" dirty="0">
              <a:latin typeface="Arial" charset="0"/>
              <a:cs typeface="Times New Roman" charset="0"/>
            </a:endParaRPr>
          </a:p>
          <a:p>
            <a:pPr lvl="1" eaLnBrk="1" hangingPunct="1">
              <a:lnSpc>
                <a:spcPct val="95000"/>
              </a:lnSpc>
              <a:defRPr/>
            </a:pPr>
            <a:r>
              <a:rPr lang="en-US" sz="2000" dirty="0">
                <a:latin typeface="Arial" charset="0"/>
                <a:cs typeface="Times New Roman" charset="0"/>
              </a:rPr>
              <a:t>World Wide Web</a:t>
            </a:r>
          </a:p>
          <a:p>
            <a:pPr lvl="1" eaLnBrk="1" hangingPunct="1">
              <a:lnSpc>
                <a:spcPct val="95000"/>
              </a:lnSpc>
              <a:defRPr/>
            </a:pPr>
            <a:r>
              <a:rPr lang="en-US" sz="2000" dirty="0">
                <a:latin typeface="Arial" charset="0"/>
                <a:cs typeface="Times New Roman" charset="0"/>
              </a:rPr>
              <a:t>Molecular Structures</a:t>
            </a:r>
          </a:p>
          <a:p>
            <a:pPr marL="285750" indent="-285750" eaLnBrk="1" hangingPunct="1">
              <a:lnSpc>
                <a:spcPct val="95000"/>
              </a:lnSpc>
              <a:defRPr/>
            </a:pPr>
            <a:r>
              <a:rPr lang="en-US" sz="3000" dirty="0">
                <a:latin typeface="Arial" charset="0"/>
                <a:cs typeface="Times New Roman" charset="0"/>
              </a:rPr>
              <a:t>Ordered</a:t>
            </a:r>
            <a:endParaRPr lang="en-US" sz="3200" dirty="0">
              <a:latin typeface="Arial" charset="0"/>
              <a:cs typeface="Times New Roman" charset="0"/>
            </a:endParaRPr>
          </a:p>
          <a:p>
            <a:pPr lvl="1" eaLnBrk="1" hangingPunct="1">
              <a:lnSpc>
                <a:spcPct val="95000"/>
              </a:lnSpc>
              <a:defRPr/>
            </a:pPr>
            <a:r>
              <a:rPr lang="en-US" sz="2000" dirty="0">
                <a:latin typeface="Arial" charset="0"/>
                <a:cs typeface="Times New Roman" charset="0"/>
              </a:rPr>
              <a:t>Spatial Data</a:t>
            </a:r>
          </a:p>
          <a:p>
            <a:pPr lvl="1" eaLnBrk="1" hangingPunct="1">
              <a:lnSpc>
                <a:spcPct val="95000"/>
              </a:lnSpc>
              <a:defRPr/>
            </a:pPr>
            <a:r>
              <a:rPr lang="en-US" sz="2000" dirty="0">
                <a:latin typeface="Arial" charset="0"/>
                <a:cs typeface="Times New Roman" charset="0"/>
              </a:rPr>
              <a:t>Temporal Data</a:t>
            </a:r>
          </a:p>
          <a:p>
            <a:pPr lvl="1" eaLnBrk="1" hangingPunct="1">
              <a:lnSpc>
                <a:spcPct val="95000"/>
              </a:lnSpc>
              <a:defRPr/>
            </a:pPr>
            <a:r>
              <a:rPr lang="en-US" sz="2000" dirty="0">
                <a:latin typeface="Arial" charset="0"/>
                <a:cs typeface="Times New Roman" charset="0"/>
              </a:rPr>
              <a:t>Sequential Data</a:t>
            </a:r>
          </a:p>
          <a:p>
            <a:pPr lvl="1" eaLnBrk="1" hangingPunct="1">
              <a:lnSpc>
                <a:spcPct val="95000"/>
              </a:lnSpc>
              <a:defRPr/>
            </a:pPr>
            <a:r>
              <a:rPr lang="en-US" sz="2000" dirty="0">
                <a:latin typeface="Arial" charset="0"/>
                <a:cs typeface="Times New Roman" charset="0"/>
              </a:rPr>
              <a:t>Genetic Sequence Data</a:t>
            </a:r>
          </a:p>
          <a:p>
            <a:pPr lvl="1" eaLnBrk="1" hangingPunct="1">
              <a:lnSpc>
                <a:spcPct val="95000"/>
              </a:lnSpc>
              <a:buFont typeface="Arial" charset="0"/>
              <a:buNone/>
              <a:defRPr/>
            </a:pPr>
            <a:endParaRPr lang="en-US" sz="2000" dirty="0">
              <a:latin typeface="Times New Roman" charset="0"/>
              <a:cs typeface="Times New Roman" charset="0"/>
            </a:endParaRPr>
          </a:p>
        </p:txBody>
      </p:sp>
      <p:sp>
        <p:nvSpPr>
          <p:cNvPr id="6" name="Date Placeholder 5">
            <a:extLst>
              <a:ext uri="{FF2B5EF4-FFF2-40B4-BE49-F238E27FC236}">
                <a16:creationId xmlns:a16="http://schemas.microsoft.com/office/drawing/2014/main" id="{DCBF961B-6AF9-A6C2-24F3-3AEFC1550C14}"/>
              </a:ext>
            </a:extLst>
          </p:cNvPr>
          <p:cNvSpPr>
            <a:spLocks noGrp="1"/>
          </p:cNvSpPr>
          <p:nvPr>
            <p:ph type="dt" sz="quarter" idx="10"/>
          </p:nvPr>
        </p:nvSpPr>
        <p:spPr/>
        <p:txBody>
          <a:bodyPr/>
          <a:lstStyle/>
          <a:p>
            <a:pPr>
              <a:defRPr/>
            </a:pPr>
            <a:fld id="{FD5A9840-7597-4C62-A675-153130923A93}" type="datetime1">
              <a:rPr lang="en-US"/>
              <a:pPr>
                <a:defRPr/>
              </a:pPr>
              <a:t>6/12/2023</a:t>
            </a:fld>
            <a:endParaRPr lang="en-US"/>
          </a:p>
        </p:txBody>
      </p:sp>
      <p:sp>
        <p:nvSpPr>
          <p:cNvPr id="7" name="Footer Placeholder 6">
            <a:extLst>
              <a:ext uri="{FF2B5EF4-FFF2-40B4-BE49-F238E27FC236}">
                <a16:creationId xmlns:a16="http://schemas.microsoft.com/office/drawing/2014/main" id="{1C6B0E7D-4391-04ED-4708-1FF08402DD59}"/>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03DF1121-36D4-2D27-D9A8-0F23FA57B24B}"/>
              </a:ext>
            </a:extLst>
          </p:cNvPr>
          <p:cNvSpPr>
            <a:spLocks noGrp="1"/>
          </p:cNvSpPr>
          <p:nvPr>
            <p:ph type="title"/>
          </p:nvPr>
        </p:nvSpPr>
        <p:spPr>
          <a:xfrm>
            <a:off x="2057400" y="287338"/>
            <a:ext cx="6324600" cy="1143000"/>
          </a:xfrm>
        </p:spPr>
        <p:txBody>
          <a:bodyPr/>
          <a:lstStyle/>
          <a:p>
            <a:pPr eaLnBrk="1" hangingPunct="1"/>
            <a:r>
              <a:rPr lang="en-US" altLang="en-US">
                <a:latin typeface="Open Sans" pitchFamily="34" charset="0"/>
              </a:rPr>
              <a:t>Record Data </a:t>
            </a:r>
          </a:p>
        </p:txBody>
      </p:sp>
      <p:sp>
        <p:nvSpPr>
          <p:cNvPr id="16387" name="Rectangle 7">
            <a:extLst>
              <a:ext uri="{FF2B5EF4-FFF2-40B4-BE49-F238E27FC236}">
                <a16:creationId xmlns:a16="http://schemas.microsoft.com/office/drawing/2014/main" id="{869C6A2F-6A2B-75F6-3CBD-D280ECD53452}"/>
              </a:ext>
            </a:extLst>
          </p:cNvPr>
          <p:cNvSpPr>
            <a:spLocks noGrp="1"/>
          </p:cNvSpPr>
          <p:nvPr>
            <p:ph idx="1"/>
          </p:nvPr>
        </p:nvSpPr>
        <p:spPr>
          <a:xfrm>
            <a:off x="990600" y="2514600"/>
            <a:ext cx="3455988" cy="4114800"/>
          </a:xfrm>
        </p:spPr>
        <p:txBody>
          <a:bodyPr/>
          <a:lstStyle/>
          <a:p>
            <a:pPr marL="0" indent="0" eaLnBrk="1" hangingPunct="1">
              <a:buFont typeface="Arial" panose="020B0604020202020204" pitchFamily="34" charset="0"/>
              <a:buNone/>
            </a:pPr>
            <a:r>
              <a:rPr lang="en-US" altLang="en-US" sz="2000">
                <a:latin typeface="Arial" panose="020B0604020202020204" pitchFamily="34" charset="0"/>
              </a:rPr>
              <a:t>Data that consists of a collection of records, each of which consists of a fixed set of attributes </a:t>
            </a:r>
          </a:p>
          <a:p>
            <a:pPr lvl="1" eaLnBrk="1" hangingPunct="1"/>
            <a:endParaRPr lang="en-US" altLang="en-US" sz="1800">
              <a:latin typeface="Arial" panose="020B0604020202020204" pitchFamily="34" charset="0"/>
            </a:endParaRPr>
          </a:p>
          <a:p>
            <a:pPr lvl="1" eaLnBrk="1" hangingPunct="1"/>
            <a:endParaRPr lang="en-US" altLang="en-US" sz="1800">
              <a:latin typeface="Arial" panose="020B0604020202020204" pitchFamily="34" charset="0"/>
            </a:endParaRPr>
          </a:p>
        </p:txBody>
      </p:sp>
      <p:graphicFrame>
        <p:nvGraphicFramePr>
          <p:cNvPr id="16388" name="Object 5">
            <a:extLst>
              <a:ext uri="{FF2B5EF4-FFF2-40B4-BE49-F238E27FC236}">
                <a16:creationId xmlns:a16="http://schemas.microsoft.com/office/drawing/2014/main" id="{A0901D63-64A4-EA91-92B5-2D19F5AE3C3B}"/>
              </a:ext>
            </a:extLst>
          </p:cNvPr>
          <p:cNvGraphicFramePr>
            <a:graphicFrameLocks noChangeAspect="1"/>
          </p:cNvGraphicFramePr>
          <p:nvPr/>
        </p:nvGraphicFramePr>
        <p:xfrm>
          <a:off x="4697413" y="1681163"/>
          <a:ext cx="4446587" cy="4754562"/>
        </p:xfrm>
        <a:graphic>
          <a:graphicData uri="http://schemas.openxmlformats.org/presentationml/2006/ole">
            <mc:AlternateContent xmlns:mc="http://schemas.openxmlformats.org/markup-compatibility/2006">
              <mc:Choice xmlns:v="urn:schemas-microsoft-com:vml" Requires="v">
                <p:oleObj name="Document" r:id="rId3" imgW="5405628" imgH="5779008" progId="Word.Document.8">
                  <p:embed/>
                </p:oleObj>
              </mc:Choice>
              <mc:Fallback>
                <p:oleObj name="Document" r:id="rId3" imgW="5405628" imgH="5779008" progId="Word.Document.8">
                  <p:embed/>
                  <p:pic>
                    <p:nvPicPr>
                      <p:cNvPr id="16388" name="Object 5">
                        <a:extLst>
                          <a:ext uri="{FF2B5EF4-FFF2-40B4-BE49-F238E27FC236}">
                            <a16:creationId xmlns:a16="http://schemas.microsoft.com/office/drawing/2014/main" id="{A0901D63-64A4-EA91-92B5-2D19F5AE3C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413" y="1681163"/>
                        <a:ext cx="4446587" cy="47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Date Placeholder 3">
            <a:extLst>
              <a:ext uri="{FF2B5EF4-FFF2-40B4-BE49-F238E27FC236}">
                <a16:creationId xmlns:a16="http://schemas.microsoft.com/office/drawing/2014/main" id="{0046C68D-EEDE-E1CC-62DA-E90420E031F7}"/>
              </a:ext>
            </a:extLst>
          </p:cNvPr>
          <p:cNvSpPr>
            <a:spLocks noGrp="1"/>
          </p:cNvSpPr>
          <p:nvPr>
            <p:ph type="dt" sz="quarter" idx="10"/>
          </p:nvPr>
        </p:nvSpPr>
        <p:spPr>
          <a:xfrm>
            <a:off x="457200" y="6381750"/>
            <a:ext cx="2133600" cy="339725"/>
          </a:xfrm>
        </p:spPr>
        <p:txBody>
          <a:bodyPr/>
          <a:lstStyle/>
          <a:p>
            <a:pPr>
              <a:defRPr/>
            </a:pPr>
            <a:fld id="{042AA66A-9D6D-4C46-8304-B7229186DE3A}" type="datetime1">
              <a:rPr lang="en-US"/>
              <a:pPr>
                <a:defRPr/>
              </a:pPr>
              <a:t>6/12/2023</a:t>
            </a:fld>
            <a:endParaRPr lang="en-US"/>
          </a:p>
        </p:txBody>
      </p:sp>
      <p:sp>
        <p:nvSpPr>
          <p:cNvPr id="6" name="Footer Placeholder 4">
            <a:extLst>
              <a:ext uri="{FF2B5EF4-FFF2-40B4-BE49-F238E27FC236}">
                <a16:creationId xmlns:a16="http://schemas.microsoft.com/office/drawing/2014/main" id="{C12C35A3-AAD5-FB53-A204-371BABBC126E}"/>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16391" name="Slide Number Placeholder 5">
            <a:extLst>
              <a:ext uri="{FF2B5EF4-FFF2-40B4-BE49-F238E27FC236}">
                <a16:creationId xmlns:a16="http://schemas.microsoft.com/office/drawing/2014/main" id="{6AB6B373-F6CC-2CDB-C085-05C554EACAC9}"/>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F6DCCD1-1DE4-4143-A232-003B508F0FD2}" type="slidenum">
              <a:rPr lang="en-US" altLang="en-US" sz="1200" smtClean="0">
                <a:solidFill>
                  <a:srgbClr val="898989"/>
                </a:solidFill>
              </a:rPr>
              <a:pPr>
                <a:spcBef>
                  <a:spcPct val="0"/>
                </a:spcBef>
                <a:buFontTx/>
                <a:buNone/>
              </a:pPr>
              <a:t>10</a:t>
            </a:fld>
            <a:endParaRPr lang="en-US" altLang="en-US" sz="1200">
              <a:solidFill>
                <a:srgbClr val="898989"/>
              </a:solidFill>
            </a:endParaRPr>
          </a:p>
        </p:txBody>
      </p:sp>
    </p:spTree>
  </p:cSld>
  <p:clrMapOvr>
    <a:masterClrMapping/>
  </p:clrMapOvr>
  <p:transition spd="slow">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C1728FE6-1CB5-6D25-7568-356621582613}"/>
              </a:ext>
            </a:extLst>
          </p:cNvPr>
          <p:cNvSpPr>
            <a:spLocks noGrp="1"/>
          </p:cNvSpPr>
          <p:nvPr>
            <p:ph type="title"/>
          </p:nvPr>
        </p:nvSpPr>
        <p:spPr>
          <a:xfrm>
            <a:off x="2057400" y="198438"/>
            <a:ext cx="6324600" cy="1143000"/>
          </a:xfrm>
        </p:spPr>
        <p:txBody>
          <a:bodyPr/>
          <a:lstStyle/>
          <a:p>
            <a:pPr eaLnBrk="1" hangingPunct="1"/>
            <a:r>
              <a:rPr lang="en-US" altLang="en-US">
                <a:latin typeface="Open Sans" pitchFamily="34" charset="0"/>
              </a:rPr>
              <a:t>Data Matrix </a:t>
            </a:r>
          </a:p>
        </p:txBody>
      </p:sp>
      <p:sp>
        <p:nvSpPr>
          <p:cNvPr id="18435" name="Rectangle 6">
            <a:extLst>
              <a:ext uri="{FF2B5EF4-FFF2-40B4-BE49-F238E27FC236}">
                <a16:creationId xmlns:a16="http://schemas.microsoft.com/office/drawing/2014/main" id="{FCC34B79-5054-A8A7-9993-A70B2CBE7D50}"/>
              </a:ext>
            </a:extLst>
          </p:cNvPr>
          <p:cNvSpPr>
            <a:spLocks noGrp="1"/>
          </p:cNvSpPr>
          <p:nvPr>
            <p:ph idx="1"/>
          </p:nvPr>
        </p:nvSpPr>
        <p:spPr/>
        <p:txBody>
          <a:bodyPr/>
          <a:lstStyle/>
          <a:p>
            <a:pPr eaLnBrk="1" hangingPunct="1"/>
            <a:r>
              <a:rPr lang="en-US" altLang="en-US" sz="1800">
                <a:latin typeface="Arial" panose="020B0604020202020204" pitchFamily="34" charset="0"/>
              </a:rPr>
              <a:t>If data objects have the same fixed set of numeric attributes, then the data objects can be thought of as points in a multi-dimensional space, where each dimension represents a distinct attribute.</a:t>
            </a:r>
          </a:p>
          <a:p>
            <a:pPr lvl="4" eaLnBrk="1" hangingPunct="1"/>
            <a:endParaRPr lang="en-US" altLang="en-US">
              <a:latin typeface="Arial" panose="020B0604020202020204" pitchFamily="34" charset="0"/>
            </a:endParaRPr>
          </a:p>
          <a:p>
            <a:pPr eaLnBrk="1" hangingPunct="1"/>
            <a:r>
              <a:rPr lang="en-US" altLang="en-US" sz="1800">
                <a:latin typeface="Arial" panose="020B0604020202020204" pitchFamily="34" charset="0"/>
              </a:rPr>
              <a:t>Such data set can be represented by an m by n matrix, where there are m rows, one for each object, and n columns, one for each attribute</a:t>
            </a:r>
          </a:p>
        </p:txBody>
      </p:sp>
      <p:graphicFrame>
        <p:nvGraphicFramePr>
          <p:cNvPr id="18436" name="Object 4">
            <a:extLst>
              <a:ext uri="{FF2B5EF4-FFF2-40B4-BE49-F238E27FC236}">
                <a16:creationId xmlns:a16="http://schemas.microsoft.com/office/drawing/2014/main" id="{7D7B43B5-EDF6-50E8-7B0F-03E716E5F655}"/>
              </a:ext>
            </a:extLst>
          </p:cNvPr>
          <p:cNvGraphicFramePr>
            <a:graphicFrameLocks noChangeAspect="1"/>
          </p:cNvGraphicFramePr>
          <p:nvPr/>
        </p:nvGraphicFramePr>
        <p:xfrm>
          <a:off x="1447800" y="3886200"/>
          <a:ext cx="6705600" cy="1736725"/>
        </p:xfrm>
        <a:graphic>
          <a:graphicData uri="http://schemas.openxmlformats.org/presentationml/2006/ole">
            <mc:AlternateContent xmlns:mc="http://schemas.openxmlformats.org/markup-compatibility/2006">
              <mc:Choice xmlns:v="urn:schemas-microsoft-com:vml" Requires="v">
                <p:oleObj name="VISIO" r:id="rId3" imgW="5706222" imgH="1480748" progId="">
                  <p:embed/>
                </p:oleObj>
              </mc:Choice>
              <mc:Fallback>
                <p:oleObj name="VISIO" r:id="rId3" imgW="5706222" imgH="1480748" progId="">
                  <p:embed/>
                  <p:pic>
                    <p:nvPicPr>
                      <p:cNvPr id="18436" name="Object 4">
                        <a:extLst>
                          <a:ext uri="{FF2B5EF4-FFF2-40B4-BE49-F238E27FC236}">
                            <a16:creationId xmlns:a16="http://schemas.microsoft.com/office/drawing/2014/main" id="{7D7B43B5-EDF6-50E8-7B0F-03E716E5F6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3886200"/>
                        <a:ext cx="67056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5" name="Date Placeholder 3">
            <a:extLst>
              <a:ext uri="{FF2B5EF4-FFF2-40B4-BE49-F238E27FC236}">
                <a16:creationId xmlns:a16="http://schemas.microsoft.com/office/drawing/2014/main" id="{30448093-983B-462D-F1E8-9E536B50579C}"/>
              </a:ext>
            </a:extLst>
          </p:cNvPr>
          <p:cNvSpPr>
            <a:spLocks noGrp="1"/>
          </p:cNvSpPr>
          <p:nvPr>
            <p:ph type="dt" sz="quarter" idx="10"/>
          </p:nvPr>
        </p:nvSpPr>
        <p:spPr>
          <a:xfrm>
            <a:off x="457200" y="6381750"/>
            <a:ext cx="2133600" cy="339725"/>
          </a:xfrm>
        </p:spPr>
        <p:txBody>
          <a:bodyPr/>
          <a:lstStyle/>
          <a:p>
            <a:pPr>
              <a:defRPr/>
            </a:pPr>
            <a:fld id="{0E3339D7-6107-4AB8-9FA2-688149EDA01C}" type="datetime1">
              <a:rPr lang="en-US"/>
              <a:pPr>
                <a:defRPr/>
              </a:pPr>
              <a:t>6/12/2023</a:t>
            </a:fld>
            <a:endParaRPr lang="en-US"/>
          </a:p>
        </p:txBody>
      </p:sp>
      <p:sp>
        <p:nvSpPr>
          <p:cNvPr id="6" name="Footer Placeholder 4">
            <a:extLst>
              <a:ext uri="{FF2B5EF4-FFF2-40B4-BE49-F238E27FC236}">
                <a16:creationId xmlns:a16="http://schemas.microsoft.com/office/drawing/2014/main" id="{5D27CDBA-F789-8B3A-CFA9-B0B2CAAA634F}"/>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18439" name="Slide Number Placeholder 5">
            <a:extLst>
              <a:ext uri="{FF2B5EF4-FFF2-40B4-BE49-F238E27FC236}">
                <a16:creationId xmlns:a16="http://schemas.microsoft.com/office/drawing/2014/main" id="{A9AE97FD-1CF9-3706-6465-6B1205E2CBDB}"/>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C50F939-895E-49F6-814E-B8EFA645E51C}" type="slidenum">
              <a:rPr lang="en-US" altLang="en-US" sz="1200" smtClean="0">
                <a:solidFill>
                  <a:srgbClr val="898989"/>
                </a:solidFill>
              </a:rPr>
              <a:pPr>
                <a:spcBef>
                  <a:spcPct val="0"/>
                </a:spcBef>
                <a:buFontTx/>
                <a:buNone/>
              </a:pPr>
              <a:t>11</a:t>
            </a:fld>
            <a:endParaRPr lang="en-US" altLang="en-US" sz="1200">
              <a:solidFill>
                <a:srgbClr val="898989"/>
              </a:solidFill>
            </a:endParaRPr>
          </a:p>
        </p:txBody>
      </p:sp>
    </p:spTree>
  </p:cSld>
  <p:clrMapOvr>
    <a:masterClrMapping/>
  </p:clrMapOvr>
  <p:transition spd="slow">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ACDEBCEB-3DAC-2EED-779F-2470E0EBD28B}"/>
              </a:ext>
            </a:extLst>
          </p:cNvPr>
          <p:cNvSpPr>
            <a:spLocks noGrp="1"/>
          </p:cNvSpPr>
          <p:nvPr>
            <p:ph type="title"/>
          </p:nvPr>
        </p:nvSpPr>
        <p:spPr>
          <a:xfrm>
            <a:off x="2057400" y="231775"/>
            <a:ext cx="6324600" cy="1143000"/>
          </a:xfrm>
        </p:spPr>
        <p:txBody>
          <a:bodyPr/>
          <a:lstStyle/>
          <a:p>
            <a:pPr eaLnBrk="1" hangingPunct="1"/>
            <a:r>
              <a:rPr lang="en-US" altLang="en-US">
                <a:latin typeface="Open Sans" pitchFamily="34" charset="0"/>
              </a:rPr>
              <a:t>Document Data</a:t>
            </a:r>
          </a:p>
        </p:txBody>
      </p:sp>
      <p:sp>
        <p:nvSpPr>
          <p:cNvPr id="20483" name="Rectangle 7">
            <a:extLst>
              <a:ext uri="{FF2B5EF4-FFF2-40B4-BE49-F238E27FC236}">
                <a16:creationId xmlns:a16="http://schemas.microsoft.com/office/drawing/2014/main" id="{59AEC3CD-9796-907D-778D-D70C8FFEA049}"/>
              </a:ext>
            </a:extLst>
          </p:cNvPr>
          <p:cNvSpPr>
            <a:spLocks noGrp="1"/>
          </p:cNvSpPr>
          <p:nvPr>
            <p:ph idx="1"/>
          </p:nvPr>
        </p:nvSpPr>
        <p:spPr>
          <a:xfrm>
            <a:off x="874713" y="1600200"/>
            <a:ext cx="7812087" cy="4210050"/>
          </a:xfrm>
        </p:spPr>
        <p:txBody>
          <a:bodyPr/>
          <a:lstStyle/>
          <a:p>
            <a:pPr eaLnBrk="1" hangingPunct="1"/>
            <a:r>
              <a:rPr lang="en-US" altLang="en-US" sz="2000">
                <a:latin typeface="Arial" panose="020B0604020202020204" pitchFamily="34" charset="0"/>
              </a:rPr>
              <a:t>Each document becomes a `term' vector, </a:t>
            </a:r>
          </a:p>
          <a:p>
            <a:pPr lvl="1" eaLnBrk="1" hangingPunct="1"/>
            <a:r>
              <a:rPr lang="en-US" altLang="en-US" sz="1800">
                <a:latin typeface="Arial" panose="020B0604020202020204" pitchFamily="34" charset="0"/>
              </a:rPr>
              <a:t>each term is a component (attribute) of the vector,</a:t>
            </a:r>
          </a:p>
          <a:p>
            <a:pPr lvl="1" eaLnBrk="1" hangingPunct="1"/>
            <a:r>
              <a:rPr lang="en-US" altLang="en-US" sz="1800">
                <a:latin typeface="Arial" panose="020B0604020202020204" pitchFamily="34" charset="0"/>
              </a:rPr>
              <a:t>the value of each component is the number of times the corresponding term occurs in the document. </a:t>
            </a:r>
          </a:p>
          <a:p>
            <a:pPr lvl="1" eaLnBrk="1" hangingPunct="1"/>
            <a:endParaRPr lang="en-US" altLang="en-US" sz="1800">
              <a:latin typeface="Arial" panose="020B0604020202020204" pitchFamily="34" charset="0"/>
            </a:endParaRPr>
          </a:p>
          <a:p>
            <a:pPr lvl="1" eaLnBrk="1" hangingPunct="1"/>
            <a:endParaRPr lang="en-US" altLang="en-US" sz="1800">
              <a:latin typeface="Arial" panose="020B0604020202020204" pitchFamily="34" charset="0"/>
            </a:endParaRPr>
          </a:p>
        </p:txBody>
      </p:sp>
      <p:graphicFrame>
        <p:nvGraphicFramePr>
          <p:cNvPr id="20484" name="Object 5">
            <a:extLst>
              <a:ext uri="{FF2B5EF4-FFF2-40B4-BE49-F238E27FC236}">
                <a16:creationId xmlns:a16="http://schemas.microsoft.com/office/drawing/2014/main" id="{B6017FCE-1DA8-3085-41F3-0BE09694C21D}"/>
              </a:ext>
            </a:extLst>
          </p:cNvPr>
          <p:cNvGraphicFramePr>
            <a:graphicFrameLocks noChangeAspect="1"/>
          </p:cNvGraphicFramePr>
          <p:nvPr/>
        </p:nvGraphicFramePr>
        <p:xfrm>
          <a:off x="1255713" y="3124200"/>
          <a:ext cx="6705600" cy="3116263"/>
        </p:xfrm>
        <a:graphic>
          <a:graphicData uri="http://schemas.openxmlformats.org/presentationml/2006/ole">
            <mc:AlternateContent xmlns:mc="http://schemas.openxmlformats.org/markup-compatibility/2006">
              <mc:Choice xmlns:v="urn:schemas-microsoft-com:vml" Requires="v">
                <p:oleObj name="Visio" r:id="rId3" imgW="5925718" imgH="2693902" progId="">
                  <p:embed/>
                </p:oleObj>
              </mc:Choice>
              <mc:Fallback>
                <p:oleObj name="Visio" r:id="rId3" imgW="5925718" imgH="2693902" progId="">
                  <p:embed/>
                  <p:pic>
                    <p:nvPicPr>
                      <p:cNvPr id="20484" name="Object 5">
                        <a:extLst>
                          <a:ext uri="{FF2B5EF4-FFF2-40B4-BE49-F238E27FC236}">
                            <a16:creationId xmlns:a16="http://schemas.microsoft.com/office/drawing/2014/main" id="{B6017FCE-1DA8-3085-41F3-0BE09694C2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713" y="3124200"/>
                        <a:ext cx="6705600" cy="311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Date Placeholder 3">
            <a:extLst>
              <a:ext uri="{FF2B5EF4-FFF2-40B4-BE49-F238E27FC236}">
                <a16:creationId xmlns:a16="http://schemas.microsoft.com/office/drawing/2014/main" id="{715384F0-A780-52C1-2C0F-4BB12BFAC0E0}"/>
              </a:ext>
            </a:extLst>
          </p:cNvPr>
          <p:cNvSpPr>
            <a:spLocks noGrp="1"/>
          </p:cNvSpPr>
          <p:nvPr>
            <p:ph type="dt" sz="quarter" idx="10"/>
          </p:nvPr>
        </p:nvSpPr>
        <p:spPr>
          <a:xfrm>
            <a:off x="457200" y="6381750"/>
            <a:ext cx="2133600" cy="339725"/>
          </a:xfrm>
        </p:spPr>
        <p:txBody>
          <a:bodyPr/>
          <a:lstStyle/>
          <a:p>
            <a:pPr>
              <a:defRPr/>
            </a:pPr>
            <a:fld id="{58657AAE-B3B7-4603-BDE8-9B7F42DF4F6B}" type="datetime1">
              <a:rPr lang="en-US"/>
              <a:pPr>
                <a:defRPr/>
              </a:pPr>
              <a:t>6/12/2023</a:t>
            </a:fld>
            <a:endParaRPr lang="en-US"/>
          </a:p>
        </p:txBody>
      </p:sp>
      <p:sp>
        <p:nvSpPr>
          <p:cNvPr id="6" name="Footer Placeholder 4">
            <a:extLst>
              <a:ext uri="{FF2B5EF4-FFF2-40B4-BE49-F238E27FC236}">
                <a16:creationId xmlns:a16="http://schemas.microsoft.com/office/drawing/2014/main" id="{6100DCA4-5142-72D5-A014-D3399DB4576B}"/>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20487" name="Slide Number Placeholder 5">
            <a:extLst>
              <a:ext uri="{FF2B5EF4-FFF2-40B4-BE49-F238E27FC236}">
                <a16:creationId xmlns:a16="http://schemas.microsoft.com/office/drawing/2014/main" id="{C7D6DB4D-4070-4709-0628-2CC43DF4EE6A}"/>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E7CF38E-3D58-4037-A2A9-9D916588635E}"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spTree>
  </p:cSld>
  <p:clrMapOvr>
    <a:masterClrMapping/>
  </p:clrMapOvr>
  <p:transition spd="slow">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43623EA4-D8E7-0321-6929-25CA5C85E493}"/>
              </a:ext>
            </a:extLst>
          </p:cNvPr>
          <p:cNvSpPr>
            <a:spLocks noGrp="1"/>
          </p:cNvSpPr>
          <p:nvPr>
            <p:ph type="title"/>
          </p:nvPr>
        </p:nvSpPr>
        <p:spPr>
          <a:xfrm>
            <a:off x="2057400" y="271463"/>
            <a:ext cx="6324600" cy="1143000"/>
          </a:xfrm>
        </p:spPr>
        <p:txBody>
          <a:bodyPr/>
          <a:lstStyle/>
          <a:p>
            <a:pPr eaLnBrk="1" hangingPunct="1"/>
            <a:r>
              <a:rPr lang="en-US" altLang="en-US">
                <a:latin typeface="Open Sans" pitchFamily="34" charset="0"/>
              </a:rPr>
              <a:t>Transaction Data</a:t>
            </a:r>
          </a:p>
        </p:txBody>
      </p:sp>
      <p:sp>
        <p:nvSpPr>
          <p:cNvPr id="22531" name="Rectangle 7">
            <a:extLst>
              <a:ext uri="{FF2B5EF4-FFF2-40B4-BE49-F238E27FC236}">
                <a16:creationId xmlns:a16="http://schemas.microsoft.com/office/drawing/2014/main" id="{1C53E456-D29D-54C3-B85D-BAF733898764}"/>
              </a:ext>
            </a:extLst>
          </p:cNvPr>
          <p:cNvSpPr>
            <a:spLocks noGrp="1"/>
          </p:cNvSpPr>
          <p:nvPr>
            <p:ph idx="1"/>
          </p:nvPr>
        </p:nvSpPr>
        <p:spPr/>
        <p:txBody>
          <a:bodyPr/>
          <a:lstStyle/>
          <a:p>
            <a:pPr eaLnBrk="1" hangingPunct="1"/>
            <a:r>
              <a:rPr lang="en-US" altLang="en-US">
                <a:latin typeface="Arial" panose="020B0604020202020204" pitchFamily="34" charset="0"/>
              </a:rPr>
              <a:t>A special type of record data, where </a:t>
            </a:r>
          </a:p>
          <a:p>
            <a:pPr lvl="1" eaLnBrk="1" hangingPunct="1"/>
            <a:r>
              <a:rPr lang="en-US" altLang="en-US" sz="2000">
                <a:latin typeface="Arial" panose="020B0604020202020204" pitchFamily="34" charset="0"/>
              </a:rPr>
              <a:t>each record (transaction) involves a set of items.  </a:t>
            </a:r>
          </a:p>
          <a:p>
            <a:pPr lvl="1" eaLnBrk="1" hangingPunct="1"/>
            <a:r>
              <a:rPr lang="en-US" altLang="en-US" sz="2000">
                <a:latin typeface="Arial" panose="020B0604020202020204" pitchFamily="34" charset="0"/>
              </a:rPr>
              <a:t>For example, consider a grocery store. The set of products purchased by a customer during one shopping trip constitutes to a transaction, while the individual products that were purchased are the items. </a:t>
            </a:r>
          </a:p>
          <a:p>
            <a:pPr lvl="1" eaLnBrk="1" hangingPunct="1"/>
            <a:endParaRPr lang="en-US" altLang="en-US">
              <a:latin typeface="Arial" panose="020B0604020202020204" pitchFamily="34" charset="0"/>
            </a:endParaRPr>
          </a:p>
          <a:p>
            <a:pPr lvl="1" eaLnBrk="1" hangingPunct="1"/>
            <a:endParaRPr lang="en-US" altLang="en-US">
              <a:latin typeface="Arial" panose="020B0604020202020204" pitchFamily="34" charset="0"/>
            </a:endParaRPr>
          </a:p>
        </p:txBody>
      </p:sp>
      <p:graphicFrame>
        <p:nvGraphicFramePr>
          <p:cNvPr id="22532" name="Object 5">
            <a:extLst>
              <a:ext uri="{FF2B5EF4-FFF2-40B4-BE49-F238E27FC236}">
                <a16:creationId xmlns:a16="http://schemas.microsoft.com/office/drawing/2014/main" id="{AD54DFA8-FB45-62FF-9B35-F92964DE781D}"/>
              </a:ext>
            </a:extLst>
          </p:cNvPr>
          <p:cNvGraphicFramePr>
            <a:graphicFrameLocks noChangeAspect="1"/>
          </p:cNvGraphicFramePr>
          <p:nvPr/>
        </p:nvGraphicFramePr>
        <p:xfrm>
          <a:off x="3241675" y="3903663"/>
          <a:ext cx="4495800" cy="2351087"/>
        </p:xfrm>
        <a:graphic>
          <a:graphicData uri="http://schemas.openxmlformats.org/presentationml/2006/ole">
            <mc:AlternateContent xmlns:mc="http://schemas.openxmlformats.org/markup-compatibility/2006">
              <mc:Choice xmlns:v="urn:schemas-microsoft-com:vml" Requires="v">
                <p:oleObj name="Document" r:id="rId3" imgW="3823716" imgH="1999488" progId="Word.Document.8">
                  <p:embed/>
                </p:oleObj>
              </mc:Choice>
              <mc:Fallback>
                <p:oleObj name="Document" r:id="rId3" imgW="3823716" imgH="1999488" progId="Word.Document.8">
                  <p:embed/>
                  <p:pic>
                    <p:nvPicPr>
                      <p:cNvPr id="22532" name="Object 5">
                        <a:extLst>
                          <a:ext uri="{FF2B5EF4-FFF2-40B4-BE49-F238E27FC236}">
                            <a16:creationId xmlns:a16="http://schemas.microsoft.com/office/drawing/2014/main" id="{AD54DFA8-FB45-62FF-9B35-F92964DE78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1675" y="3903663"/>
                        <a:ext cx="4495800" cy="235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2" name="Date Placeholder 1">
            <a:extLst>
              <a:ext uri="{FF2B5EF4-FFF2-40B4-BE49-F238E27FC236}">
                <a16:creationId xmlns:a16="http://schemas.microsoft.com/office/drawing/2014/main" id="{66AE48D0-1FB8-55BE-8DD3-BE718B9C1949}"/>
              </a:ext>
            </a:extLst>
          </p:cNvPr>
          <p:cNvSpPr>
            <a:spLocks noGrp="1"/>
          </p:cNvSpPr>
          <p:nvPr>
            <p:ph type="dt" sz="quarter" idx="10"/>
          </p:nvPr>
        </p:nvSpPr>
        <p:spPr/>
        <p:txBody>
          <a:bodyPr/>
          <a:lstStyle/>
          <a:p>
            <a:pPr>
              <a:defRPr/>
            </a:pPr>
            <a:fld id="{ADAB5FE7-B32E-4B0F-85A1-BFBC85E6D539}" type="datetime1">
              <a:rPr lang="en-US"/>
              <a:pPr>
                <a:defRPr/>
              </a:pPr>
              <a:t>6/12/2023</a:t>
            </a:fld>
            <a:endParaRPr lang="en-US"/>
          </a:p>
        </p:txBody>
      </p:sp>
      <p:sp>
        <p:nvSpPr>
          <p:cNvPr id="3" name="Footer Placeholder 2">
            <a:extLst>
              <a:ext uri="{FF2B5EF4-FFF2-40B4-BE49-F238E27FC236}">
                <a16:creationId xmlns:a16="http://schemas.microsoft.com/office/drawing/2014/main" id="{D7850436-3684-6D64-6559-6C98D25B5792}"/>
              </a:ext>
            </a:extLst>
          </p:cNvPr>
          <p:cNvSpPr>
            <a:spLocks noGrp="1"/>
          </p:cNvSpPr>
          <p:nvPr>
            <p:ph type="ftr" sz="quarter" idx="11"/>
          </p:nvPr>
        </p:nvSpPr>
        <p:spPr/>
        <p:txBody>
          <a:bodyPr/>
          <a:lstStyle/>
          <a:p>
            <a:pPr>
              <a:defRPr/>
            </a:pPr>
            <a:r>
              <a:rPr lang="en-US"/>
              <a:t>Data Exploration and Pre-processing</a:t>
            </a:r>
          </a:p>
        </p:txBody>
      </p:sp>
      <p:sp>
        <p:nvSpPr>
          <p:cNvPr id="22535" name="Slide Number Placeholder 3">
            <a:extLst>
              <a:ext uri="{FF2B5EF4-FFF2-40B4-BE49-F238E27FC236}">
                <a16:creationId xmlns:a16="http://schemas.microsoft.com/office/drawing/2014/main" id="{4DBC68B7-9FE0-5D84-8C8F-1F25525FAC1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B7E2F72-61B3-4DAC-8A7D-A40010402CBF}" type="slidenum">
              <a:rPr lang="en-US" altLang="en-US" sz="1200" smtClean="0">
                <a:solidFill>
                  <a:srgbClr val="898989"/>
                </a:solidFill>
              </a:rPr>
              <a:pPr>
                <a:spcBef>
                  <a:spcPct val="0"/>
                </a:spcBef>
                <a:buFontTx/>
                <a:buNone/>
              </a:pPr>
              <a:t>13</a:t>
            </a:fld>
            <a:endParaRPr lang="en-US" altLang="en-US" sz="1200">
              <a:solidFill>
                <a:srgbClr val="898989"/>
              </a:solidFill>
            </a:endParaRPr>
          </a:p>
        </p:txBody>
      </p:sp>
    </p:spTree>
  </p:cSld>
  <p:clrMapOvr>
    <a:masterClrMapping/>
  </p:clrMapOvr>
  <p:transition spd="slow">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844EDE8-EED7-5F49-5EA1-DBA79B8699A1}"/>
              </a:ext>
            </a:extLst>
          </p:cNvPr>
          <p:cNvSpPr>
            <a:spLocks noGrp="1"/>
          </p:cNvSpPr>
          <p:nvPr>
            <p:ph type="title"/>
          </p:nvPr>
        </p:nvSpPr>
        <p:spPr>
          <a:xfrm>
            <a:off x="2057400" y="228600"/>
            <a:ext cx="6324600" cy="1143000"/>
          </a:xfrm>
        </p:spPr>
        <p:txBody>
          <a:bodyPr/>
          <a:lstStyle/>
          <a:p>
            <a:pPr eaLnBrk="1" hangingPunct="1"/>
            <a:r>
              <a:rPr lang="en-US" altLang="en-US">
                <a:latin typeface="Open Sans" pitchFamily="34" charset="0"/>
              </a:rPr>
              <a:t>Graph Data </a:t>
            </a:r>
          </a:p>
        </p:txBody>
      </p:sp>
      <p:sp>
        <p:nvSpPr>
          <p:cNvPr id="24579" name="Rectangle 8">
            <a:extLst>
              <a:ext uri="{FF2B5EF4-FFF2-40B4-BE49-F238E27FC236}">
                <a16:creationId xmlns:a16="http://schemas.microsoft.com/office/drawing/2014/main" id="{5D543FA9-C46B-1469-35A1-851843BE8675}"/>
              </a:ext>
            </a:extLst>
          </p:cNvPr>
          <p:cNvSpPr>
            <a:spLocks noGrp="1"/>
          </p:cNvSpPr>
          <p:nvPr>
            <p:ph idx="1"/>
          </p:nvPr>
        </p:nvSpPr>
        <p:spPr/>
        <p:txBody>
          <a:bodyPr/>
          <a:lstStyle/>
          <a:p>
            <a:pPr eaLnBrk="1" hangingPunct="1"/>
            <a:r>
              <a:rPr lang="en-US" altLang="en-US">
                <a:latin typeface="Arial" panose="020B0604020202020204" pitchFamily="34" charset="0"/>
              </a:rPr>
              <a:t>Examples: Generic graph and HTML Links </a:t>
            </a:r>
          </a:p>
        </p:txBody>
      </p:sp>
      <p:graphicFrame>
        <p:nvGraphicFramePr>
          <p:cNvPr id="24580" name="Object 5">
            <a:extLst>
              <a:ext uri="{FF2B5EF4-FFF2-40B4-BE49-F238E27FC236}">
                <a16:creationId xmlns:a16="http://schemas.microsoft.com/office/drawing/2014/main" id="{80AC5803-8F8C-90C8-EBC9-A6C815AF39BC}"/>
              </a:ext>
            </a:extLst>
          </p:cNvPr>
          <p:cNvGraphicFramePr>
            <a:graphicFrameLocks noChangeAspect="1"/>
          </p:cNvGraphicFramePr>
          <p:nvPr/>
        </p:nvGraphicFramePr>
        <p:xfrm>
          <a:off x="641350" y="2663825"/>
          <a:ext cx="3556000" cy="2730500"/>
        </p:xfrm>
        <a:graphic>
          <a:graphicData uri="http://schemas.openxmlformats.org/presentationml/2006/ole">
            <mc:AlternateContent xmlns:mc="http://schemas.openxmlformats.org/markup-compatibility/2006">
              <mc:Choice xmlns:v="urn:schemas-microsoft-com:vml" Requires="v">
                <p:oleObj name="VISIO" r:id="rId3" imgW="839724" imgH="646176" progId="">
                  <p:embed/>
                </p:oleObj>
              </mc:Choice>
              <mc:Fallback>
                <p:oleObj name="VISIO" r:id="rId3" imgW="839724" imgH="646176" progId="">
                  <p:embed/>
                  <p:pic>
                    <p:nvPicPr>
                      <p:cNvPr id="24580" name="Object 5">
                        <a:extLst>
                          <a:ext uri="{FF2B5EF4-FFF2-40B4-BE49-F238E27FC236}">
                            <a16:creationId xmlns:a16="http://schemas.microsoft.com/office/drawing/2014/main" id="{80AC5803-8F8C-90C8-EBC9-A6C815AF39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350" y="2663825"/>
                        <a:ext cx="3556000" cy="273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24581" name="Object 6">
            <a:extLst>
              <a:ext uri="{FF2B5EF4-FFF2-40B4-BE49-F238E27FC236}">
                <a16:creationId xmlns:a16="http://schemas.microsoft.com/office/drawing/2014/main" id="{3BEA56BB-91C6-94F0-5A5F-A0DA013264EB}"/>
              </a:ext>
            </a:extLst>
          </p:cNvPr>
          <p:cNvGraphicFramePr>
            <a:graphicFrameLocks noChangeAspect="1"/>
          </p:cNvGraphicFramePr>
          <p:nvPr/>
        </p:nvGraphicFramePr>
        <p:xfrm>
          <a:off x="4197350" y="2670175"/>
          <a:ext cx="4962525" cy="2554288"/>
        </p:xfrm>
        <a:graphic>
          <a:graphicData uri="http://schemas.openxmlformats.org/presentationml/2006/ole">
            <mc:AlternateContent xmlns:mc="http://schemas.openxmlformats.org/markup-compatibility/2006">
              <mc:Choice xmlns:v="urn:schemas-microsoft-com:vml" Requires="v">
                <p:oleObj name="VISIO" r:id="rId5" imgW="4229100" imgH="2180844" progId="">
                  <p:embed/>
                </p:oleObj>
              </mc:Choice>
              <mc:Fallback>
                <p:oleObj name="VISIO" r:id="rId5" imgW="4229100" imgH="2180844" progId="">
                  <p:embed/>
                  <p:pic>
                    <p:nvPicPr>
                      <p:cNvPr id="24581" name="Object 6">
                        <a:extLst>
                          <a:ext uri="{FF2B5EF4-FFF2-40B4-BE49-F238E27FC236}">
                            <a16:creationId xmlns:a16="http://schemas.microsoft.com/office/drawing/2014/main" id="{3BEA56BB-91C6-94F0-5A5F-A0DA013264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7350" y="2670175"/>
                        <a:ext cx="4962525"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Date Placeholder 3">
            <a:extLst>
              <a:ext uri="{FF2B5EF4-FFF2-40B4-BE49-F238E27FC236}">
                <a16:creationId xmlns:a16="http://schemas.microsoft.com/office/drawing/2014/main" id="{0156B7E8-4E07-75D6-06F9-F6C5709195E2}"/>
              </a:ext>
            </a:extLst>
          </p:cNvPr>
          <p:cNvSpPr>
            <a:spLocks noGrp="1"/>
          </p:cNvSpPr>
          <p:nvPr>
            <p:ph type="dt" sz="quarter" idx="10"/>
          </p:nvPr>
        </p:nvSpPr>
        <p:spPr>
          <a:xfrm>
            <a:off x="457200" y="6381750"/>
            <a:ext cx="2133600" cy="339725"/>
          </a:xfrm>
        </p:spPr>
        <p:txBody>
          <a:bodyPr/>
          <a:lstStyle/>
          <a:p>
            <a:pPr>
              <a:defRPr/>
            </a:pPr>
            <a:fld id="{852508A4-0108-40D8-B0CD-8853CE5F2621}" type="datetime1">
              <a:rPr lang="en-US"/>
              <a:pPr>
                <a:defRPr/>
              </a:pPr>
              <a:t>6/12/2023</a:t>
            </a:fld>
            <a:endParaRPr lang="en-US"/>
          </a:p>
        </p:txBody>
      </p:sp>
      <p:sp>
        <p:nvSpPr>
          <p:cNvPr id="7" name="Footer Placeholder 4">
            <a:extLst>
              <a:ext uri="{FF2B5EF4-FFF2-40B4-BE49-F238E27FC236}">
                <a16:creationId xmlns:a16="http://schemas.microsoft.com/office/drawing/2014/main" id="{908DEBB6-C74F-C540-B49A-5A72C3F27EF8}"/>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24584" name="Slide Number Placeholder 5">
            <a:extLst>
              <a:ext uri="{FF2B5EF4-FFF2-40B4-BE49-F238E27FC236}">
                <a16:creationId xmlns:a16="http://schemas.microsoft.com/office/drawing/2014/main" id="{7692C8FD-7893-136E-E749-404F43053467}"/>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2FE1B4-96E6-468E-9A66-CF55581E1B02}"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spTree>
  </p:cSld>
  <p:clrMapOvr>
    <a:masterClrMapping/>
  </p:clrMapOvr>
  <p:transition spd="slow">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AFE3A50D-CB8A-C03E-D8C4-55CE64096CC8}"/>
              </a:ext>
            </a:extLst>
          </p:cNvPr>
          <p:cNvSpPr>
            <a:spLocks noGrp="1"/>
          </p:cNvSpPr>
          <p:nvPr>
            <p:ph type="title"/>
          </p:nvPr>
        </p:nvSpPr>
        <p:spPr>
          <a:xfrm>
            <a:off x="2057400" y="138113"/>
            <a:ext cx="6324600" cy="1143000"/>
          </a:xfrm>
        </p:spPr>
        <p:txBody>
          <a:bodyPr/>
          <a:lstStyle/>
          <a:p>
            <a:pPr eaLnBrk="1" hangingPunct="1"/>
            <a:r>
              <a:rPr lang="en-US" altLang="en-US">
                <a:latin typeface="Open Sans" pitchFamily="34" charset="0"/>
              </a:rPr>
              <a:t>Chemical Data </a:t>
            </a:r>
          </a:p>
        </p:txBody>
      </p:sp>
      <p:sp>
        <p:nvSpPr>
          <p:cNvPr id="45058" name="Rectangle 8">
            <a:extLst>
              <a:ext uri="{FF2B5EF4-FFF2-40B4-BE49-F238E27FC236}">
                <a16:creationId xmlns:a16="http://schemas.microsoft.com/office/drawing/2014/main" id="{C648D700-1DB3-625D-EA41-769DF0FA5BAB}"/>
              </a:ext>
            </a:extLst>
          </p:cNvPr>
          <p:cNvSpPr>
            <a:spLocks noGrp="1" noChangeArrowheads="1"/>
          </p:cNvSpPr>
          <p:nvPr>
            <p:ph idx="1"/>
          </p:nvPr>
        </p:nvSpPr>
        <p:spPr/>
        <p:txBody>
          <a:bodyPr/>
          <a:lstStyle/>
          <a:p>
            <a:pPr eaLnBrk="1" hangingPunct="1">
              <a:defRPr/>
            </a:pPr>
            <a:r>
              <a:rPr lang="en-US" dirty="0">
                <a:latin typeface="Arial" charset="0"/>
              </a:rPr>
              <a:t>Benzene Molecule: C</a:t>
            </a:r>
            <a:r>
              <a:rPr lang="en-US" baseline="-25000" dirty="0">
                <a:latin typeface="Arial" charset="0"/>
              </a:rPr>
              <a:t>6</a:t>
            </a:r>
            <a:r>
              <a:rPr lang="en-US" dirty="0">
                <a:latin typeface="Arial" charset="0"/>
              </a:rPr>
              <a:t>H</a:t>
            </a:r>
            <a:r>
              <a:rPr lang="en-US" baseline="-25000" dirty="0">
                <a:latin typeface="Arial" charset="0"/>
              </a:rPr>
              <a:t>6</a:t>
            </a:r>
          </a:p>
          <a:p>
            <a:pPr marL="0" indent="0" eaLnBrk="1" hangingPunct="1">
              <a:defRPr/>
            </a:pPr>
            <a:endParaRPr lang="en-US" dirty="0">
              <a:latin typeface="Arial" charset="0"/>
            </a:endParaRPr>
          </a:p>
        </p:txBody>
      </p:sp>
      <p:graphicFrame>
        <p:nvGraphicFramePr>
          <p:cNvPr id="26628" name="Object 6">
            <a:extLst>
              <a:ext uri="{FF2B5EF4-FFF2-40B4-BE49-F238E27FC236}">
                <a16:creationId xmlns:a16="http://schemas.microsoft.com/office/drawing/2014/main" id="{3241C24D-BC34-A993-903E-D70E3EDBEAEA}"/>
              </a:ext>
            </a:extLst>
          </p:cNvPr>
          <p:cNvGraphicFramePr>
            <a:graphicFrameLocks noChangeAspect="1"/>
          </p:cNvGraphicFramePr>
          <p:nvPr/>
        </p:nvGraphicFramePr>
        <p:xfrm>
          <a:off x="2411413" y="2492375"/>
          <a:ext cx="3671887" cy="3424238"/>
        </p:xfrm>
        <a:graphic>
          <a:graphicData uri="http://schemas.openxmlformats.org/presentationml/2006/ole">
            <mc:AlternateContent xmlns:mc="http://schemas.openxmlformats.org/markup-compatibility/2006">
              <mc:Choice xmlns:v="urn:schemas-microsoft-com:vml" Requires="v">
                <p:oleObj name="VISIO" r:id="rId3" imgW="5792724" imgH="5411724" progId="">
                  <p:embed/>
                </p:oleObj>
              </mc:Choice>
              <mc:Fallback>
                <p:oleObj name="VISIO" r:id="rId3" imgW="5792724" imgH="5411724" progId="">
                  <p:embed/>
                  <p:pic>
                    <p:nvPicPr>
                      <p:cNvPr id="26628" name="Object 6">
                        <a:extLst>
                          <a:ext uri="{FF2B5EF4-FFF2-40B4-BE49-F238E27FC236}">
                            <a16:creationId xmlns:a16="http://schemas.microsoft.com/office/drawing/2014/main" id="{3241C24D-BC34-A993-903E-D70E3EDBEA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492375"/>
                        <a:ext cx="3671887" cy="342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Date Placeholder 3">
            <a:extLst>
              <a:ext uri="{FF2B5EF4-FFF2-40B4-BE49-F238E27FC236}">
                <a16:creationId xmlns:a16="http://schemas.microsoft.com/office/drawing/2014/main" id="{8379AA24-F0B2-9B23-7C1A-B8BDA2E6A3B7}"/>
              </a:ext>
            </a:extLst>
          </p:cNvPr>
          <p:cNvSpPr>
            <a:spLocks noGrp="1"/>
          </p:cNvSpPr>
          <p:nvPr>
            <p:ph type="dt" sz="quarter" idx="10"/>
          </p:nvPr>
        </p:nvSpPr>
        <p:spPr>
          <a:xfrm>
            <a:off x="457200" y="6381750"/>
            <a:ext cx="2133600" cy="339725"/>
          </a:xfrm>
        </p:spPr>
        <p:txBody>
          <a:bodyPr/>
          <a:lstStyle/>
          <a:p>
            <a:pPr>
              <a:defRPr/>
            </a:pPr>
            <a:fld id="{C9BF32DE-5377-4CDC-8216-B53F4DB000D7}" type="datetime1">
              <a:rPr lang="en-US"/>
              <a:pPr>
                <a:defRPr/>
              </a:pPr>
              <a:t>6/12/2023</a:t>
            </a:fld>
            <a:endParaRPr lang="en-US"/>
          </a:p>
        </p:txBody>
      </p:sp>
      <p:sp>
        <p:nvSpPr>
          <p:cNvPr id="6" name="Footer Placeholder 4">
            <a:extLst>
              <a:ext uri="{FF2B5EF4-FFF2-40B4-BE49-F238E27FC236}">
                <a16:creationId xmlns:a16="http://schemas.microsoft.com/office/drawing/2014/main" id="{C3F29462-C6AA-4712-1CC0-DC105360D07A}"/>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26631" name="Slide Number Placeholder 5">
            <a:extLst>
              <a:ext uri="{FF2B5EF4-FFF2-40B4-BE49-F238E27FC236}">
                <a16:creationId xmlns:a16="http://schemas.microsoft.com/office/drawing/2014/main" id="{310509C8-B8F8-15C6-2ACF-9C50873C1959}"/>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38159E3-8D1E-4BD0-A3E2-0B65C4B83FAF}"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spTree>
  </p:cSld>
  <p:clrMapOvr>
    <a:masterClrMapping/>
  </p:clrMapOvr>
  <p:transition spd="slow">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a:extLst>
              <a:ext uri="{FF2B5EF4-FFF2-40B4-BE49-F238E27FC236}">
                <a16:creationId xmlns:a16="http://schemas.microsoft.com/office/drawing/2014/main" id="{E42D0F54-51BE-FDE0-EE22-92F932148BF4}"/>
              </a:ext>
            </a:extLst>
          </p:cNvPr>
          <p:cNvSpPr>
            <a:spLocks noGrp="1"/>
          </p:cNvSpPr>
          <p:nvPr>
            <p:ph type="title"/>
          </p:nvPr>
        </p:nvSpPr>
        <p:spPr>
          <a:xfrm>
            <a:off x="2057400" y="261938"/>
            <a:ext cx="6324600" cy="1143000"/>
          </a:xfrm>
        </p:spPr>
        <p:txBody>
          <a:bodyPr/>
          <a:lstStyle/>
          <a:p>
            <a:pPr eaLnBrk="1" hangingPunct="1"/>
            <a:r>
              <a:rPr lang="en-US" altLang="en-US">
                <a:latin typeface="Open Sans" pitchFamily="34" charset="0"/>
              </a:rPr>
              <a:t>Ordered Data </a:t>
            </a:r>
          </a:p>
        </p:txBody>
      </p:sp>
      <p:sp>
        <p:nvSpPr>
          <p:cNvPr id="28675" name="Rectangle 6">
            <a:extLst>
              <a:ext uri="{FF2B5EF4-FFF2-40B4-BE49-F238E27FC236}">
                <a16:creationId xmlns:a16="http://schemas.microsoft.com/office/drawing/2014/main" id="{91CA73B8-7C8E-75B1-FEDC-EFBCD7BB567F}"/>
              </a:ext>
            </a:extLst>
          </p:cNvPr>
          <p:cNvSpPr>
            <a:spLocks noGrp="1"/>
          </p:cNvSpPr>
          <p:nvPr>
            <p:ph idx="1"/>
          </p:nvPr>
        </p:nvSpPr>
        <p:spPr/>
        <p:txBody>
          <a:bodyPr/>
          <a:lstStyle/>
          <a:p>
            <a:pPr marL="0" indent="0" eaLnBrk="1" hangingPunct="1"/>
            <a:r>
              <a:rPr lang="en-US" altLang="en-US">
                <a:latin typeface="Arial" panose="020B0604020202020204" pitchFamily="34" charset="0"/>
              </a:rPr>
              <a:t> Genomic sequence data</a:t>
            </a:r>
          </a:p>
        </p:txBody>
      </p:sp>
      <p:graphicFrame>
        <p:nvGraphicFramePr>
          <p:cNvPr id="28676" name="Object 4">
            <a:extLst>
              <a:ext uri="{FF2B5EF4-FFF2-40B4-BE49-F238E27FC236}">
                <a16:creationId xmlns:a16="http://schemas.microsoft.com/office/drawing/2014/main" id="{A01C54CF-5F87-EDCA-D4D4-BF29FFBCB6EA}"/>
              </a:ext>
            </a:extLst>
          </p:cNvPr>
          <p:cNvGraphicFramePr>
            <a:graphicFrameLocks noChangeAspect="1"/>
          </p:cNvGraphicFramePr>
          <p:nvPr/>
        </p:nvGraphicFramePr>
        <p:xfrm>
          <a:off x="2432050" y="2203450"/>
          <a:ext cx="4278313" cy="3651250"/>
        </p:xfrm>
        <a:graphic>
          <a:graphicData uri="http://schemas.openxmlformats.org/presentationml/2006/ole">
            <mc:AlternateContent xmlns:mc="http://schemas.openxmlformats.org/markup-compatibility/2006">
              <mc:Choice xmlns:v="urn:schemas-microsoft-com:vml" Requires="v">
                <p:oleObj name="VISIO" r:id="rId3" imgW="2330196" imgH="1991868" progId="">
                  <p:embed/>
                </p:oleObj>
              </mc:Choice>
              <mc:Fallback>
                <p:oleObj name="VISIO" r:id="rId3" imgW="2330196" imgH="1991868" progId="">
                  <p:embed/>
                  <p:pic>
                    <p:nvPicPr>
                      <p:cNvPr id="28676" name="Object 4">
                        <a:extLst>
                          <a:ext uri="{FF2B5EF4-FFF2-40B4-BE49-F238E27FC236}">
                            <a16:creationId xmlns:a16="http://schemas.microsoft.com/office/drawing/2014/main" id="{A01C54CF-5F87-EDCA-D4D4-BF29FFBCB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050" y="2203450"/>
                        <a:ext cx="4278313" cy="365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5" name="Date Placeholder 3">
            <a:extLst>
              <a:ext uri="{FF2B5EF4-FFF2-40B4-BE49-F238E27FC236}">
                <a16:creationId xmlns:a16="http://schemas.microsoft.com/office/drawing/2014/main" id="{E73F7B03-395D-B2B5-B23F-EA5C39052F40}"/>
              </a:ext>
            </a:extLst>
          </p:cNvPr>
          <p:cNvSpPr>
            <a:spLocks noGrp="1"/>
          </p:cNvSpPr>
          <p:nvPr>
            <p:ph type="dt" sz="quarter" idx="10"/>
          </p:nvPr>
        </p:nvSpPr>
        <p:spPr>
          <a:xfrm>
            <a:off x="457200" y="6381750"/>
            <a:ext cx="2133600" cy="339725"/>
          </a:xfrm>
        </p:spPr>
        <p:txBody>
          <a:bodyPr/>
          <a:lstStyle/>
          <a:p>
            <a:pPr>
              <a:defRPr/>
            </a:pPr>
            <a:fld id="{E087FF05-574C-4412-98E2-584B78239D2F}" type="datetime1">
              <a:rPr lang="en-US"/>
              <a:pPr>
                <a:defRPr/>
              </a:pPr>
              <a:t>6/12/2023</a:t>
            </a:fld>
            <a:endParaRPr lang="en-US"/>
          </a:p>
        </p:txBody>
      </p:sp>
      <p:sp>
        <p:nvSpPr>
          <p:cNvPr id="6" name="Footer Placeholder 4">
            <a:extLst>
              <a:ext uri="{FF2B5EF4-FFF2-40B4-BE49-F238E27FC236}">
                <a16:creationId xmlns:a16="http://schemas.microsoft.com/office/drawing/2014/main" id="{FAF4E8DD-EF04-587A-D0AD-F60DE158ABDA}"/>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28679" name="Slide Number Placeholder 5">
            <a:extLst>
              <a:ext uri="{FF2B5EF4-FFF2-40B4-BE49-F238E27FC236}">
                <a16:creationId xmlns:a16="http://schemas.microsoft.com/office/drawing/2014/main" id="{9A639ADC-F6F5-CEE8-60F2-6D5B379F33EF}"/>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279DCBB-83E0-4EDE-8487-EDC76CF1832F}" type="slidenum">
              <a:rPr lang="en-US" altLang="en-US" sz="1200" smtClean="0">
                <a:solidFill>
                  <a:srgbClr val="898989"/>
                </a:solidFill>
              </a:rPr>
              <a:pPr>
                <a:spcBef>
                  <a:spcPct val="0"/>
                </a:spcBef>
                <a:buFontTx/>
                <a:buNone/>
              </a:pPr>
              <a:t>16</a:t>
            </a:fld>
            <a:endParaRPr lang="en-US" altLang="en-US" sz="1200">
              <a:solidFill>
                <a:srgbClr val="898989"/>
              </a:solidFill>
            </a:endParaRPr>
          </a:p>
        </p:txBody>
      </p:sp>
    </p:spTree>
  </p:cSld>
  <p:clrMapOvr>
    <a:masterClrMapping/>
  </p:clrMapOvr>
  <p:transition spd="slow">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59BEC31-A97A-97D9-DF59-B02EB44527D2}"/>
              </a:ext>
            </a:extLst>
          </p:cNvPr>
          <p:cNvSpPr>
            <a:spLocks noGrp="1"/>
          </p:cNvSpPr>
          <p:nvPr>
            <p:ph type="title"/>
          </p:nvPr>
        </p:nvSpPr>
        <p:spPr>
          <a:xfrm>
            <a:off x="2286000" y="296863"/>
            <a:ext cx="6477000" cy="762000"/>
          </a:xfrm>
        </p:spPr>
        <p:txBody>
          <a:bodyPr/>
          <a:lstStyle/>
          <a:p>
            <a:pPr eaLnBrk="1" hangingPunct="1"/>
            <a:r>
              <a:rPr lang="en-US" altLang="en-US">
                <a:latin typeface="Open Sans" pitchFamily="34" charset="0"/>
              </a:rPr>
              <a:t>Spatio-Temporal Data</a:t>
            </a:r>
          </a:p>
        </p:txBody>
      </p:sp>
      <p:pic>
        <p:nvPicPr>
          <p:cNvPr id="30723" name="Picture 9" descr="sst_land_temp_82_best">
            <a:extLst>
              <a:ext uri="{FF2B5EF4-FFF2-40B4-BE49-F238E27FC236}">
                <a16:creationId xmlns:a16="http://schemas.microsoft.com/office/drawing/2014/main" id="{EFF1DB03-2E4C-ECAB-E95A-0BEE07FD0360}"/>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3314700" y="1839913"/>
            <a:ext cx="5753100" cy="4316412"/>
          </a:xfrm>
        </p:spPr>
      </p:pic>
      <p:sp>
        <p:nvSpPr>
          <p:cNvPr id="30724" name="Rectangle 11">
            <a:extLst>
              <a:ext uri="{FF2B5EF4-FFF2-40B4-BE49-F238E27FC236}">
                <a16:creationId xmlns:a16="http://schemas.microsoft.com/office/drawing/2014/main" id="{8C7B24BD-5890-540E-8912-E08CCB2ECC6B}"/>
              </a:ext>
            </a:extLst>
          </p:cNvPr>
          <p:cNvSpPr>
            <a:spLocks noGrp="1"/>
          </p:cNvSpPr>
          <p:nvPr>
            <p:ph type="body" idx="4294967295"/>
          </p:nvPr>
        </p:nvSpPr>
        <p:spPr>
          <a:xfrm>
            <a:off x="992188" y="2138363"/>
            <a:ext cx="6797675" cy="4624387"/>
          </a:xfrm>
        </p:spPr>
        <p:txBody>
          <a:bodyPr/>
          <a:lstStyle/>
          <a:p>
            <a:pPr eaLnBrk="1" hangingPunct="1"/>
            <a:r>
              <a:rPr lang="en-US" altLang="en-US" sz="2000">
                <a:latin typeface="Arial" panose="020B0604020202020204" pitchFamily="34" charset="0"/>
              </a:rPr>
              <a:t>Spatio-Temporal Data</a:t>
            </a:r>
          </a:p>
        </p:txBody>
      </p:sp>
      <p:sp>
        <p:nvSpPr>
          <p:cNvPr id="30725" name="Rectangle 3">
            <a:extLst>
              <a:ext uri="{FF2B5EF4-FFF2-40B4-BE49-F238E27FC236}">
                <a16:creationId xmlns:a16="http://schemas.microsoft.com/office/drawing/2014/main" id="{7996CC2D-578E-47A4-19FF-A0454DFA2A10}"/>
              </a:ext>
            </a:extLst>
          </p:cNvPr>
          <p:cNvSpPr>
            <a:spLocks noChangeArrowheads="1"/>
          </p:cNvSpPr>
          <p:nvPr/>
        </p:nvSpPr>
        <p:spPr bwMode="auto">
          <a:xfrm>
            <a:off x="266700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30726" name="Text Box 12">
            <a:extLst>
              <a:ext uri="{FF2B5EF4-FFF2-40B4-BE49-F238E27FC236}">
                <a16:creationId xmlns:a16="http://schemas.microsoft.com/office/drawing/2014/main" id="{6B39FFE1-3C69-1B57-4AB8-FFA18F0D0E20}"/>
              </a:ext>
            </a:extLst>
          </p:cNvPr>
          <p:cNvSpPr txBox="1">
            <a:spLocks noChangeArrowheads="1"/>
          </p:cNvSpPr>
          <p:nvPr/>
        </p:nvSpPr>
        <p:spPr bwMode="auto">
          <a:xfrm>
            <a:off x="1343025" y="2535238"/>
            <a:ext cx="2286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Average Monthly Temperature of land and ocean</a:t>
            </a:r>
          </a:p>
        </p:txBody>
      </p:sp>
      <p:sp>
        <p:nvSpPr>
          <p:cNvPr id="7" name="Date Placeholder 3">
            <a:extLst>
              <a:ext uri="{FF2B5EF4-FFF2-40B4-BE49-F238E27FC236}">
                <a16:creationId xmlns:a16="http://schemas.microsoft.com/office/drawing/2014/main" id="{863F8E15-6C47-AC5E-2578-E798A23C1AAA}"/>
              </a:ext>
            </a:extLst>
          </p:cNvPr>
          <p:cNvSpPr>
            <a:spLocks noGrp="1"/>
          </p:cNvSpPr>
          <p:nvPr>
            <p:ph type="dt" sz="quarter" idx="10"/>
          </p:nvPr>
        </p:nvSpPr>
        <p:spPr>
          <a:xfrm>
            <a:off x="457200" y="6381750"/>
            <a:ext cx="2133600" cy="339725"/>
          </a:xfrm>
        </p:spPr>
        <p:txBody>
          <a:bodyPr/>
          <a:lstStyle/>
          <a:p>
            <a:pPr>
              <a:defRPr/>
            </a:pPr>
            <a:fld id="{164AB404-6C7E-4369-8D65-58CEB85E66ED}" type="datetime1">
              <a:rPr lang="en-US"/>
              <a:pPr>
                <a:defRPr/>
              </a:pPr>
              <a:t>6/12/2023</a:t>
            </a:fld>
            <a:endParaRPr lang="en-US"/>
          </a:p>
        </p:txBody>
      </p:sp>
      <p:sp>
        <p:nvSpPr>
          <p:cNvPr id="8" name="Footer Placeholder 4">
            <a:extLst>
              <a:ext uri="{FF2B5EF4-FFF2-40B4-BE49-F238E27FC236}">
                <a16:creationId xmlns:a16="http://schemas.microsoft.com/office/drawing/2014/main" id="{35FA8941-C835-CB19-5978-1B979C9CB9D4}"/>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30729" name="Slide Number Placeholder 5">
            <a:extLst>
              <a:ext uri="{FF2B5EF4-FFF2-40B4-BE49-F238E27FC236}">
                <a16:creationId xmlns:a16="http://schemas.microsoft.com/office/drawing/2014/main" id="{816FF271-9BC5-324C-97C8-BFB45E18FBEF}"/>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722CF5A-E6F0-4018-8041-88D366FECCD3}"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spTree>
  </p:cSld>
  <p:clrMapOvr>
    <a:masterClrMapping/>
  </p:clrMapOvr>
  <p:transition spd="slow">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445517E-359B-2DC2-7001-4348927EEBCB}"/>
              </a:ext>
            </a:extLst>
          </p:cNvPr>
          <p:cNvSpPr>
            <a:spLocks noGrp="1"/>
          </p:cNvSpPr>
          <p:nvPr>
            <p:ph type="title"/>
          </p:nvPr>
        </p:nvSpPr>
        <p:spPr>
          <a:xfrm>
            <a:off x="914400" y="2667000"/>
            <a:ext cx="7772400" cy="1362075"/>
          </a:xfrm>
        </p:spPr>
        <p:txBody>
          <a:bodyPr/>
          <a:lstStyle/>
          <a:p>
            <a:pPr algn="ctr">
              <a:defRPr/>
            </a:pPr>
            <a:r>
              <a:rPr lang="en-US" dirty="0"/>
              <a:t>Data Quality</a:t>
            </a:r>
          </a:p>
        </p:txBody>
      </p:sp>
      <p:sp>
        <p:nvSpPr>
          <p:cNvPr id="4" name="Date Placeholder 3">
            <a:extLst>
              <a:ext uri="{FF2B5EF4-FFF2-40B4-BE49-F238E27FC236}">
                <a16:creationId xmlns:a16="http://schemas.microsoft.com/office/drawing/2014/main" id="{A5DF7D53-CCE1-0D1F-29C8-DBFBDDAAE7B3}"/>
              </a:ext>
            </a:extLst>
          </p:cNvPr>
          <p:cNvSpPr>
            <a:spLocks noGrp="1"/>
          </p:cNvSpPr>
          <p:nvPr>
            <p:ph type="dt" sz="quarter" idx="10"/>
          </p:nvPr>
        </p:nvSpPr>
        <p:spPr/>
        <p:txBody>
          <a:bodyPr/>
          <a:lstStyle/>
          <a:p>
            <a:pPr>
              <a:defRPr/>
            </a:pPr>
            <a:fld id="{AEA3F280-3783-432B-B26F-D1BC8CF56D22}" type="datetime1">
              <a:rPr lang="en-US"/>
              <a:pPr>
                <a:defRPr/>
              </a:pPr>
              <a:t>6/12/2023</a:t>
            </a:fld>
            <a:endParaRPr lang="en-US"/>
          </a:p>
        </p:txBody>
      </p:sp>
      <p:sp>
        <p:nvSpPr>
          <p:cNvPr id="5" name="Footer Placeholder 4">
            <a:extLst>
              <a:ext uri="{FF2B5EF4-FFF2-40B4-BE49-F238E27FC236}">
                <a16:creationId xmlns:a16="http://schemas.microsoft.com/office/drawing/2014/main" id="{E96DA354-3A94-C45E-B979-0571379B715B}"/>
              </a:ext>
            </a:extLst>
          </p:cNvPr>
          <p:cNvSpPr>
            <a:spLocks noGrp="1"/>
          </p:cNvSpPr>
          <p:nvPr>
            <p:ph type="ftr" sz="quarter" idx="11"/>
          </p:nvPr>
        </p:nvSpPr>
        <p:spPr/>
        <p:txBody>
          <a:bodyPr/>
          <a:lstStyle/>
          <a:p>
            <a:pPr>
              <a:defRPr/>
            </a:pPr>
            <a:r>
              <a:rPr lang="en-US"/>
              <a:t>Data Exploration and Pre-processing</a:t>
            </a:r>
          </a:p>
        </p:txBody>
      </p:sp>
      <p:sp>
        <p:nvSpPr>
          <p:cNvPr id="31749" name="Slide Number Placeholder 5">
            <a:extLst>
              <a:ext uri="{FF2B5EF4-FFF2-40B4-BE49-F238E27FC236}">
                <a16:creationId xmlns:a16="http://schemas.microsoft.com/office/drawing/2014/main" id="{264015BA-AB8E-741E-D08A-ECF45B9567C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C1C840E-7DD6-48B5-B2E9-68AE4FC9A50A}" type="slidenum">
              <a:rPr lang="en-US" altLang="en-US" sz="1200" smtClean="0">
                <a:solidFill>
                  <a:srgbClr val="898989"/>
                </a:solidFill>
              </a:rPr>
              <a:pPr>
                <a:spcBef>
                  <a:spcPct val="0"/>
                </a:spcBef>
                <a:buFontTx/>
                <a:buNone/>
              </a:pPr>
              <a:t>18</a:t>
            </a:fld>
            <a:endParaRPr lang="en-US" altLang="en-US" sz="1200">
              <a:solidFill>
                <a:srgbClr val="898989"/>
              </a:solidFill>
            </a:endParaRPr>
          </a:p>
        </p:txBody>
      </p:sp>
    </p:spTree>
  </p:cSld>
  <p:clrMapOvr>
    <a:masterClrMapping/>
  </p:clrMapOvr>
  <p:transition spd="slow">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A4D1437A-6238-B14C-A195-A0A2C550833A}"/>
              </a:ext>
            </a:extLst>
          </p:cNvPr>
          <p:cNvSpPr>
            <a:spLocks noGrp="1"/>
          </p:cNvSpPr>
          <p:nvPr>
            <p:ph type="title"/>
          </p:nvPr>
        </p:nvSpPr>
        <p:spPr>
          <a:xfrm>
            <a:off x="2057400" y="228600"/>
            <a:ext cx="6324600" cy="1143000"/>
          </a:xfrm>
        </p:spPr>
        <p:txBody>
          <a:bodyPr/>
          <a:lstStyle/>
          <a:p>
            <a:r>
              <a:rPr lang="en-US" altLang="en-US">
                <a:latin typeface="Open Sans" pitchFamily="34" charset="0"/>
              </a:rPr>
              <a:t>Data Quality</a:t>
            </a:r>
          </a:p>
        </p:txBody>
      </p:sp>
      <p:sp>
        <p:nvSpPr>
          <p:cNvPr id="4" name="Date Placeholder 3">
            <a:extLst>
              <a:ext uri="{FF2B5EF4-FFF2-40B4-BE49-F238E27FC236}">
                <a16:creationId xmlns:a16="http://schemas.microsoft.com/office/drawing/2014/main" id="{B92B5FED-1049-F109-BE00-65DAB24ADD97}"/>
              </a:ext>
            </a:extLst>
          </p:cNvPr>
          <p:cNvSpPr>
            <a:spLocks noGrp="1"/>
          </p:cNvSpPr>
          <p:nvPr>
            <p:ph type="dt" sz="quarter" idx="10"/>
          </p:nvPr>
        </p:nvSpPr>
        <p:spPr/>
        <p:txBody>
          <a:bodyPr/>
          <a:lstStyle/>
          <a:p>
            <a:pPr>
              <a:defRPr/>
            </a:pPr>
            <a:fld id="{2639A66D-4A00-4E73-8168-43A6A110A168}" type="datetime1">
              <a:rPr lang="en-US"/>
              <a:pPr>
                <a:defRPr/>
              </a:pPr>
              <a:t>6/12/2023</a:t>
            </a:fld>
            <a:endParaRPr lang="en-US"/>
          </a:p>
        </p:txBody>
      </p:sp>
      <p:sp>
        <p:nvSpPr>
          <p:cNvPr id="5" name="Footer Placeholder 4">
            <a:extLst>
              <a:ext uri="{FF2B5EF4-FFF2-40B4-BE49-F238E27FC236}">
                <a16:creationId xmlns:a16="http://schemas.microsoft.com/office/drawing/2014/main" id="{FB2F939B-67DC-349E-1718-C9E556122396}"/>
              </a:ext>
            </a:extLst>
          </p:cNvPr>
          <p:cNvSpPr>
            <a:spLocks noGrp="1"/>
          </p:cNvSpPr>
          <p:nvPr>
            <p:ph type="ftr" sz="quarter" idx="11"/>
          </p:nvPr>
        </p:nvSpPr>
        <p:spPr/>
        <p:txBody>
          <a:bodyPr/>
          <a:lstStyle/>
          <a:p>
            <a:pPr>
              <a:defRPr/>
            </a:pPr>
            <a:r>
              <a:rPr lang="en-US"/>
              <a:t>Data Exploration and Pre-processing</a:t>
            </a:r>
          </a:p>
        </p:txBody>
      </p:sp>
      <p:sp>
        <p:nvSpPr>
          <p:cNvPr id="32773" name="Slide Number Placeholder 5">
            <a:extLst>
              <a:ext uri="{FF2B5EF4-FFF2-40B4-BE49-F238E27FC236}">
                <a16:creationId xmlns:a16="http://schemas.microsoft.com/office/drawing/2014/main" id="{619E75C8-0FBB-35AB-B36D-751B7915D7B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5A2DC2-67D6-4DD6-B242-10DAF4D443B5}" type="slidenum">
              <a:rPr lang="en-US" altLang="en-US" sz="1200" smtClean="0">
                <a:solidFill>
                  <a:srgbClr val="898989"/>
                </a:solidFill>
              </a:rPr>
              <a:pPr>
                <a:spcBef>
                  <a:spcPct val="0"/>
                </a:spcBef>
                <a:buFontTx/>
                <a:buNone/>
              </a:pPr>
              <a:t>19</a:t>
            </a:fld>
            <a:endParaRPr lang="en-US" altLang="en-US" sz="1200">
              <a:solidFill>
                <a:srgbClr val="898989"/>
              </a:solidFill>
            </a:endParaRPr>
          </a:p>
        </p:txBody>
      </p:sp>
      <p:sp>
        <p:nvSpPr>
          <p:cNvPr id="32774" name="Rectangle 6">
            <a:extLst>
              <a:ext uri="{FF2B5EF4-FFF2-40B4-BE49-F238E27FC236}">
                <a16:creationId xmlns:a16="http://schemas.microsoft.com/office/drawing/2014/main" id="{5B8F8854-1BBA-D6C6-5B1B-58F83E7278F6}"/>
              </a:ext>
            </a:extLst>
          </p:cNvPr>
          <p:cNvSpPr>
            <a:spLocks noGrp="1"/>
          </p:cNvSpPr>
          <p:nvPr>
            <p:ph idx="1"/>
          </p:nvPr>
        </p:nvSpPr>
        <p:spPr/>
        <p:txBody>
          <a:bodyPr/>
          <a:lstStyle/>
          <a:p>
            <a:pPr eaLnBrk="1" hangingPunct="1"/>
            <a:r>
              <a:rPr lang="en-US" altLang="en-US">
                <a:latin typeface="Arial" panose="020B0604020202020204" pitchFamily="34" charset="0"/>
              </a:rPr>
              <a:t>What kinds of data quality problems?</a:t>
            </a:r>
          </a:p>
          <a:p>
            <a:pPr eaLnBrk="1" hangingPunct="1"/>
            <a:r>
              <a:rPr lang="en-US" altLang="en-US">
                <a:latin typeface="Arial" panose="020B0604020202020204" pitchFamily="34" charset="0"/>
              </a:rPr>
              <a:t>How can we detect problems with the data? </a:t>
            </a:r>
          </a:p>
          <a:p>
            <a:pPr eaLnBrk="1" hangingPunct="1"/>
            <a:r>
              <a:rPr lang="en-US" altLang="en-US">
                <a:latin typeface="Arial" panose="020B0604020202020204" pitchFamily="34" charset="0"/>
              </a:rPr>
              <a:t>What can we do about these problems? </a:t>
            </a:r>
          </a:p>
          <a:p>
            <a:pPr eaLnBrk="1" hangingPunct="1"/>
            <a:r>
              <a:rPr lang="en-US" altLang="en-US">
                <a:latin typeface="Arial" panose="020B0604020202020204" pitchFamily="34" charset="0"/>
              </a:rPr>
              <a:t>Examples of data quality problems: </a:t>
            </a:r>
          </a:p>
          <a:p>
            <a:pPr lvl="1" eaLnBrk="1" hangingPunct="1"/>
            <a:r>
              <a:rPr lang="en-US" altLang="en-US" sz="2400">
                <a:latin typeface="Arial" panose="020B0604020202020204" pitchFamily="34" charset="0"/>
              </a:rPr>
              <a:t>Noise and outliers </a:t>
            </a:r>
          </a:p>
          <a:p>
            <a:pPr lvl="1" eaLnBrk="1" hangingPunct="1"/>
            <a:r>
              <a:rPr lang="en-US" altLang="en-US" sz="2400">
                <a:latin typeface="Arial" panose="020B0604020202020204" pitchFamily="34" charset="0"/>
              </a:rPr>
              <a:t>Missing values </a:t>
            </a:r>
          </a:p>
          <a:p>
            <a:pPr lvl="1" eaLnBrk="1" hangingPunct="1"/>
            <a:r>
              <a:rPr lang="en-US" altLang="en-US" sz="2400">
                <a:latin typeface="Arial" panose="020B0604020202020204" pitchFamily="34" charset="0"/>
              </a:rPr>
              <a:t>Duplicate data </a:t>
            </a:r>
          </a:p>
        </p:txBody>
      </p:sp>
    </p:spTree>
  </p:cSld>
  <p:clrMapOvr>
    <a:masterClrMapping/>
  </p:clrMapOvr>
  <p:transition spd="slow">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9F1F85D0-3771-13AF-454F-B61F652B2517}"/>
              </a:ext>
            </a:extLst>
          </p:cNvPr>
          <p:cNvSpPr>
            <a:spLocks noGrp="1"/>
          </p:cNvSpPr>
          <p:nvPr>
            <p:ph type="title"/>
          </p:nvPr>
        </p:nvSpPr>
        <p:spPr>
          <a:xfrm>
            <a:off x="2138363" y="296863"/>
            <a:ext cx="6324600" cy="1143000"/>
          </a:xfrm>
        </p:spPr>
        <p:txBody>
          <a:bodyPr/>
          <a:lstStyle/>
          <a:p>
            <a:r>
              <a:rPr lang="en-US" altLang="en-US">
                <a:latin typeface="Open Sans" pitchFamily="34" charset="0"/>
              </a:rPr>
              <a:t>Noise</a:t>
            </a:r>
          </a:p>
        </p:txBody>
      </p:sp>
      <p:sp>
        <p:nvSpPr>
          <p:cNvPr id="4" name="Date Placeholder 3">
            <a:extLst>
              <a:ext uri="{FF2B5EF4-FFF2-40B4-BE49-F238E27FC236}">
                <a16:creationId xmlns:a16="http://schemas.microsoft.com/office/drawing/2014/main" id="{54568569-11E6-2970-7100-08546DECB753}"/>
              </a:ext>
            </a:extLst>
          </p:cNvPr>
          <p:cNvSpPr>
            <a:spLocks noGrp="1"/>
          </p:cNvSpPr>
          <p:nvPr>
            <p:ph type="dt" sz="quarter" idx="10"/>
          </p:nvPr>
        </p:nvSpPr>
        <p:spPr/>
        <p:txBody>
          <a:bodyPr/>
          <a:lstStyle/>
          <a:p>
            <a:pPr>
              <a:defRPr/>
            </a:pPr>
            <a:fld id="{A8E896B1-052F-4457-8C06-5970F67619A7}" type="datetime1">
              <a:rPr lang="en-US"/>
              <a:pPr>
                <a:defRPr/>
              </a:pPr>
              <a:t>6/12/2023</a:t>
            </a:fld>
            <a:endParaRPr lang="en-US"/>
          </a:p>
        </p:txBody>
      </p:sp>
      <p:sp>
        <p:nvSpPr>
          <p:cNvPr id="5" name="Footer Placeholder 4">
            <a:extLst>
              <a:ext uri="{FF2B5EF4-FFF2-40B4-BE49-F238E27FC236}">
                <a16:creationId xmlns:a16="http://schemas.microsoft.com/office/drawing/2014/main" id="{442E422D-CFAA-1963-5DFE-D85C564B5BD9}"/>
              </a:ext>
            </a:extLst>
          </p:cNvPr>
          <p:cNvSpPr>
            <a:spLocks noGrp="1"/>
          </p:cNvSpPr>
          <p:nvPr>
            <p:ph type="ftr" sz="quarter" idx="11"/>
          </p:nvPr>
        </p:nvSpPr>
        <p:spPr/>
        <p:txBody>
          <a:bodyPr/>
          <a:lstStyle/>
          <a:p>
            <a:pPr>
              <a:defRPr/>
            </a:pPr>
            <a:r>
              <a:rPr lang="en-US"/>
              <a:t>Data Exploration and Pre-processing</a:t>
            </a:r>
          </a:p>
        </p:txBody>
      </p:sp>
      <p:sp>
        <p:nvSpPr>
          <p:cNvPr id="33797" name="Slide Number Placeholder 5">
            <a:extLst>
              <a:ext uri="{FF2B5EF4-FFF2-40B4-BE49-F238E27FC236}">
                <a16:creationId xmlns:a16="http://schemas.microsoft.com/office/drawing/2014/main" id="{DEA67AE8-3017-51CA-41CD-EDA9228B2D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41E8955-391C-4BF3-9A19-550E5405D9FB}" type="slidenum">
              <a:rPr lang="en-US" altLang="en-US" sz="1200" smtClean="0">
                <a:solidFill>
                  <a:srgbClr val="898989"/>
                </a:solidFill>
              </a:rPr>
              <a:pPr>
                <a:spcBef>
                  <a:spcPct val="0"/>
                </a:spcBef>
                <a:buFontTx/>
                <a:buNone/>
              </a:pPr>
              <a:t>20</a:t>
            </a:fld>
            <a:endParaRPr lang="en-US" altLang="en-US" sz="1200">
              <a:solidFill>
                <a:srgbClr val="898989"/>
              </a:solidFill>
            </a:endParaRPr>
          </a:p>
        </p:txBody>
      </p:sp>
      <p:sp>
        <p:nvSpPr>
          <p:cNvPr id="33798" name="Rectangle 9">
            <a:extLst>
              <a:ext uri="{FF2B5EF4-FFF2-40B4-BE49-F238E27FC236}">
                <a16:creationId xmlns:a16="http://schemas.microsoft.com/office/drawing/2014/main" id="{1D0F3B1B-D521-537D-73AB-0BAB8407FEF2}"/>
              </a:ext>
            </a:extLst>
          </p:cNvPr>
          <p:cNvSpPr>
            <a:spLocks noGrp="1"/>
          </p:cNvSpPr>
          <p:nvPr>
            <p:ph idx="1"/>
          </p:nvPr>
        </p:nvSpPr>
        <p:spPr>
          <a:xfrm>
            <a:off x="966788" y="1752600"/>
            <a:ext cx="7620000" cy="4491038"/>
          </a:xfrm>
        </p:spPr>
        <p:txBody>
          <a:bodyPr/>
          <a:lstStyle/>
          <a:p>
            <a:pPr eaLnBrk="1" hangingPunct="1"/>
            <a:r>
              <a:rPr lang="en-US" altLang="en-US" sz="1800">
                <a:latin typeface="Arial" panose="020B0604020202020204" pitchFamily="34" charset="0"/>
              </a:rPr>
              <a:t>Noise refers to modification of original values</a:t>
            </a:r>
          </a:p>
          <a:p>
            <a:pPr lvl="1" eaLnBrk="1" hangingPunct="1"/>
            <a:r>
              <a:rPr lang="en-US" altLang="en-US" sz="1800">
                <a:latin typeface="Arial" panose="020B0604020202020204" pitchFamily="34" charset="0"/>
              </a:rPr>
              <a:t>Examples: distortion of a person</a:t>
            </a:r>
            <a:r>
              <a:rPr lang="ja-JP" altLang="en-US" sz="1800">
                <a:latin typeface="Arial" panose="020B0604020202020204" pitchFamily="34" charset="0"/>
              </a:rPr>
              <a:t>’</a:t>
            </a:r>
            <a:r>
              <a:rPr lang="en-US" altLang="ja-JP" sz="1800">
                <a:latin typeface="Arial" panose="020B0604020202020204" pitchFamily="34" charset="0"/>
              </a:rPr>
              <a:t>s voice when talking on a poor phone and </a:t>
            </a:r>
            <a:r>
              <a:rPr lang="ja-JP" altLang="en-US" sz="1800">
                <a:latin typeface="Arial" panose="020B0604020202020204" pitchFamily="34" charset="0"/>
              </a:rPr>
              <a:t>“</a:t>
            </a:r>
            <a:r>
              <a:rPr lang="en-US" altLang="ja-JP" sz="1800">
                <a:latin typeface="Arial" panose="020B0604020202020204" pitchFamily="34" charset="0"/>
              </a:rPr>
              <a:t>snow</a:t>
            </a:r>
            <a:r>
              <a:rPr lang="ja-JP" altLang="en-US" sz="1800">
                <a:latin typeface="Arial" panose="020B0604020202020204" pitchFamily="34" charset="0"/>
              </a:rPr>
              <a:t>”</a:t>
            </a:r>
            <a:r>
              <a:rPr lang="en-US" altLang="ja-JP" sz="1800">
                <a:latin typeface="Arial" panose="020B0604020202020204" pitchFamily="34" charset="0"/>
              </a:rPr>
              <a:t> on television screen</a:t>
            </a:r>
          </a:p>
          <a:p>
            <a:pPr lvl="1" eaLnBrk="1" hangingPunct="1"/>
            <a:endParaRPr lang="en-US" altLang="en-US" sz="1600">
              <a:latin typeface="Arial" panose="020B0604020202020204" pitchFamily="34" charset="0"/>
            </a:endParaRPr>
          </a:p>
          <a:p>
            <a:pPr lvl="1" eaLnBrk="1" hangingPunct="1"/>
            <a:endParaRPr lang="en-US" altLang="en-US" sz="1600">
              <a:latin typeface="Arial" panose="020B0604020202020204" pitchFamily="34" charset="0"/>
            </a:endParaRPr>
          </a:p>
        </p:txBody>
      </p:sp>
      <p:pic>
        <p:nvPicPr>
          <p:cNvPr id="33799" name="Picture 4">
            <a:extLst>
              <a:ext uri="{FF2B5EF4-FFF2-40B4-BE49-F238E27FC236}">
                <a16:creationId xmlns:a16="http://schemas.microsoft.com/office/drawing/2014/main" id="{44CE8C71-DA92-2148-AFCA-F28233915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250"/>
          <a:stretch>
            <a:fillRect/>
          </a:stretch>
        </p:blipFill>
        <p:spPr bwMode="auto">
          <a:xfrm>
            <a:off x="954088" y="2719388"/>
            <a:ext cx="3998912"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0" name="Picture 5">
            <a:extLst>
              <a:ext uri="{FF2B5EF4-FFF2-40B4-BE49-F238E27FC236}">
                <a16:creationId xmlns:a16="http://schemas.microsoft.com/office/drawing/2014/main" id="{E15BA034-EAF8-A832-49E7-698021FD8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92" r="6250"/>
          <a:stretch>
            <a:fillRect/>
          </a:stretch>
        </p:blipFill>
        <p:spPr bwMode="auto">
          <a:xfrm>
            <a:off x="4872038" y="2719388"/>
            <a:ext cx="3590925" cy="298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1" name="Text Box 6">
            <a:extLst>
              <a:ext uri="{FF2B5EF4-FFF2-40B4-BE49-F238E27FC236}">
                <a16:creationId xmlns:a16="http://schemas.microsoft.com/office/drawing/2014/main" id="{D4BB14EA-16C4-DA1F-DA3A-0517DFD60DB3}"/>
              </a:ext>
            </a:extLst>
          </p:cNvPr>
          <p:cNvSpPr txBox="1">
            <a:spLocks noChangeArrowheads="1"/>
          </p:cNvSpPr>
          <p:nvPr/>
        </p:nvSpPr>
        <p:spPr bwMode="auto">
          <a:xfrm>
            <a:off x="2000250" y="5822950"/>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Two Sine Waves</a:t>
            </a:r>
          </a:p>
        </p:txBody>
      </p:sp>
      <p:sp>
        <p:nvSpPr>
          <p:cNvPr id="33802" name="Text Box 7">
            <a:extLst>
              <a:ext uri="{FF2B5EF4-FFF2-40B4-BE49-F238E27FC236}">
                <a16:creationId xmlns:a16="http://schemas.microsoft.com/office/drawing/2014/main" id="{99692E36-19A0-0272-FEA3-83EEE7BAC04F}"/>
              </a:ext>
            </a:extLst>
          </p:cNvPr>
          <p:cNvSpPr txBox="1">
            <a:spLocks noChangeArrowheads="1"/>
          </p:cNvSpPr>
          <p:nvPr/>
        </p:nvSpPr>
        <p:spPr bwMode="auto">
          <a:xfrm>
            <a:off x="5070475" y="5824538"/>
            <a:ext cx="31956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800">
                <a:latin typeface="Arial" panose="020B0604020202020204" pitchFamily="34" charset="0"/>
              </a:rPr>
              <a:t>Two Sine Waves + Noise</a:t>
            </a:r>
          </a:p>
        </p:txBody>
      </p:sp>
    </p:spTree>
  </p:cSld>
  <p:clrMapOvr>
    <a:masterClrMapping/>
  </p:clrMapOvr>
  <p:transition spd="slow">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1E40BB64-0CD7-E259-518E-FDA5CD73DFEB}"/>
              </a:ext>
            </a:extLst>
          </p:cNvPr>
          <p:cNvSpPr>
            <a:spLocks noGrp="1"/>
          </p:cNvSpPr>
          <p:nvPr>
            <p:ph type="title"/>
          </p:nvPr>
        </p:nvSpPr>
        <p:spPr/>
        <p:txBody>
          <a:bodyPr/>
          <a:lstStyle/>
          <a:p>
            <a:r>
              <a:rPr lang="en-US" altLang="en-US">
                <a:latin typeface="Open Sans" pitchFamily="34" charset="0"/>
              </a:rPr>
              <a:t>Outliers</a:t>
            </a:r>
          </a:p>
        </p:txBody>
      </p:sp>
      <p:sp>
        <p:nvSpPr>
          <p:cNvPr id="4" name="Date Placeholder 3">
            <a:extLst>
              <a:ext uri="{FF2B5EF4-FFF2-40B4-BE49-F238E27FC236}">
                <a16:creationId xmlns:a16="http://schemas.microsoft.com/office/drawing/2014/main" id="{6A3DCB95-F34E-5830-419A-33D08BC31DE0}"/>
              </a:ext>
            </a:extLst>
          </p:cNvPr>
          <p:cNvSpPr>
            <a:spLocks noGrp="1"/>
          </p:cNvSpPr>
          <p:nvPr>
            <p:ph type="dt" sz="quarter" idx="10"/>
          </p:nvPr>
        </p:nvSpPr>
        <p:spPr/>
        <p:txBody>
          <a:bodyPr/>
          <a:lstStyle/>
          <a:p>
            <a:pPr>
              <a:defRPr/>
            </a:pPr>
            <a:fld id="{97175B01-4965-4219-A2CF-76612820067E}" type="datetime1">
              <a:rPr lang="en-US"/>
              <a:pPr>
                <a:defRPr/>
              </a:pPr>
              <a:t>6/12/2023</a:t>
            </a:fld>
            <a:endParaRPr lang="en-US"/>
          </a:p>
        </p:txBody>
      </p:sp>
      <p:sp>
        <p:nvSpPr>
          <p:cNvPr id="5" name="Footer Placeholder 4">
            <a:extLst>
              <a:ext uri="{FF2B5EF4-FFF2-40B4-BE49-F238E27FC236}">
                <a16:creationId xmlns:a16="http://schemas.microsoft.com/office/drawing/2014/main" id="{EBC96B0B-5CAE-FA58-494A-77C63B4DC598}"/>
              </a:ext>
            </a:extLst>
          </p:cNvPr>
          <p:cNvSpPr>
            <a:spLocks noGrp="1"/>
          </p:cNvSpPr>
          <p:nvPr>
            <p:ph type="ftr" sz="quarter" idx="11"/>
          </p:nvPr>
        </p:nvSpPr>
        <p:spPr/>
        <p:txBody>
          <a:bodyPr/>
          <a:lstStyle/>
          <a:p>
            <a:pPr>
              <a:defRPr/>
            </a:pPr>
            <a:r>
              <a:rPr lang="en-US"/>
              <a:t>Data Exploration and Pre-processing</a:t>
            </a:r>
          </a:p>
        </p:txBody>
      </p:sp>
      <p:sp>
        <p:nvSpPr>
          <p:cNvPr id="34821" name="Slide Number Placeholder 5">
            <a:extLst>
              <a:ext uri="{FF2B5EF4-FFF2-40B4-BE49-F238E27FC236}">
                <a16:creationId xmlns:a16="http://schemas.microsoft.com/office/drawing/2014/main" id="{C4CEF792-45B9-011A-89F2-B259B72470B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EA69BD4-4D19-41A1-AC49-BBC446D7EBCE}" type="slidenum">
              <a:rPr lang="en-US" altLang="en-US" sz="1200" smtClean="0">
                <a:solidFill>
                  <a:srgbClr val="898989"/>
                </a:solidFill>
              </a:rPr>
              <a:pPr>
                <a:spcBef>
                  <a:spcPct val="0"/>
                </a:spcBef>
                <a:buFontTx/>
                <a:buNone/>
              </a:pPr>
              <a:t>21</a:t>
            </a:fld>
            <a:endParaRPr lang="en-US" altLang="en-US" sz="1200">
              <a:solidFill>
                <a:srgbClr val="898989"/>
              </a:solidFill>
            </a:endParaRPr>
          </a:p>
        </p:txBody>
      </p:sp>
      <p:sp>
        <p:nvSpPr>
          <p:cNvPr id="16" name="Rectangle 3">
            <a:extLst>
              <a:ext uri="{FF2B5EF4-FFF2-40B4-BE49-F238E27FC236}">
                <a16:creationId xmlns:a16="http://schemas.microsoft.com/office/drawing/2014/main" id="{9DDFC9D3-9E22-C63C-5FDD-23C690B15681}"/>
              </a:ext>
            </a:extLst>
          </p:cNvPr>
          <p:cNvSpPr>
            <a:spLocks noGrp="1" noChangeArrowheads="1"/>
          </p:cNvSpPr>
          <p:nvPr>
            <p:ph idx="1"/>
          </p:nvPr>
        </p:nvSpPr>
        <p:spPr>
          <a:xfrm>
            <a:off x="990600" y="1828800"/>
            <a:ext cx="8001000" cy="4267200"/>
          </a:xfrm>
        </p:spPr>
        <p:txBody>
          <a:bodyPr/>
          <a:lstStyle/>
          <a:p>
            <a:pPr eaLnBrk="1" hangingPunct="1">
              <a:defRPr/>
            </a:pPr>
            <a:r>
              <a:rPr lang="en-US" sz="2400" dirty="0">
                <a:latin typeface="Arial" charset="0"/>
              </a:rPr>
              <a:t>Outliers are data objects with characteristics that are considerably different than most of the other data objects in the dataset.</a:t>
            </a:r>
          </a:p>
          <a:p>
            <a:pPr marL="0" indent="0" eaLnBrk="1" hangingPunct="1">
              <a:defRPr/>
            </a:pPr>
            <a:endParaRPr lang="en-US" dirty="0">
              <a:latin typeface="Arial" charset="0"/>
            </a:endParaRPr>
          </a:p>
        </p:txBody>
      </p:sp>
      <p:grpSp>
        <p:nvGrpSpPr>
          <p:cNvPr id="34823" name="Group 4">
            <a:extLst>
              <a:ext uri="{FF2B5EF4-FFF2-40B4-BE49-F238E27FC236}">
                <a16:creationId xmlns:a16="http://schemas.microsoft.com/office/drawing/2014/main" id="{1F14D88B-9A08-5484-BB17-1424FAFF9FE5}"/>
              </a:ext>
            </a:extLst>
          </p:cNvPr>
          <p:cNvGrpSpPr>
            <a:grpSpLocks/>
          </p:cNvGrpSpPr>
          <p:nvPr/>
        </p:nvGrpSpPr>
        <p:grpSpPr bwMode="auto">
          <a:xfrm>
            <a:off x="2792413" y="3160713"/>
            <a:ext cx="3744912" cy="2825750"/>
            <a:chOff x="3648" y="2448"/>
            <a:chExt cx="2112" cy="1872"/>
          </a:xfrm>
        </p:grpSpPr>
        <p:pic>
          <p:nvPicPr>
            <p:cNvPr id="34824" name="Picture 5">
              <a:extLst>
                <a:ext uri="{FF2B5EF4-FFF2-40B4-BE49-F238E27FC236}">
                  <a16:creationId xmlns:a16="http://schemas.microsoft.com/office/drawing/2014/main" id="{9983B9E3-2583-C7BB-D6AF-DC13F0571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 y="2448"/>
              <a:ext cx="2112"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5" name="Oval 6">
              <a:extLst>
                <a:ext uri="{FF2B5EF4-FFF2-40B4-BE49-F238E27FC236}">
                  <a16:creationId xmlns:a16="http://schemas.microsoft.com/office/drawing/2014/main" id="{9E9A4159-E2E1-823C-DA64-32AD2FC3D41B}"/>
                </a:ext>
              </a:extLst>
            </p:cNvPr>
            <p:cNvSpPr>
              <a:spLocks noChangeArrowheads="1"/>
            </p:cNvSpPr>
            <p:nvPr/>
          </p:nvSpPr>
          <p:spPr bwMode="auto">
            <a:xfrm>
              <a:off x="3766" y="2961"/>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34826" name="Oval 7">
              <a:extLst>
                <a:ext uri="{FF2B5EF4-FFF2-40B4-BE49-F238E27FC236}">
                  <a16:creationId xmlns:a16="http://schemas.microsoft.com/office/drawing/2014/main" id="{4ADD7871-0729-0D9D-5764-03FEBAB75415}"/>
                </a:ext>
              </a:extLst>
            </p:cNvPr>
            <p:cNvSpPr>
              <a:spLocks noChangeArrowheads="1"/>
            </p:cNvSpPr>
            <p:nvPr/>
          </p:nvSpPr>
          <p:spPr bwMode="auto">
            <a:xfrm>
              <a:off x="3907" y="3224"/>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34827" name="Oval 8">
              <a:extLst>
                <a:ext uri="{FF2B5EF4-FFF2-40B4-BE49-F238E27FC236}">
                  <a16:creationId xmlns:a16="http://schemas.microsoft.com/office/drawing/2014/main" id="{BFA7E1FC-7E37-0057-13BD-87146E68DCD7}"/>
                </a:ext>
              </a:extLst>
            </p:cNvPr>
            <p:cNvSpPr>
              <a:spLocks noChangeArrowheads="1"/>
            </p:cNvSpPr>
            <p:nvPr/>
          </p:nvSpPr>
          <p:spPr bwMode="auto">
            <a:xfrm>
              <a:off x="5612" y="3871"/>
              <a:ext cx="86" cy="86"/>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34828" name="Oval 9">
              <a:extLst>
                <a:ext uri="{FF2B5EF4-FFF2-40B4-BE49-F238E27FC236}">
                  <a16:creationId xmlns:a16="http://schemas.microsoft.com/office/drawing/2014/main" id="{31E77303-9F84-D7A5-1073-C0FE6B6C0717}"/>
                </a:ext>
              </a:extLst>
            </p:cNvPr>
            <p:cNvSpPr>
              <a:spLocks noChangeArrowheads="1"/>
            </p:cNvSpPr>
            <p:nvPr/>
          </p:nvSpPr>
          <p:spPr bwMode="auto">
            <a:xfrm>
              <a:off x="4319" y="3937"/>
              <a:ext cx="87"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34829" name="Rectangle 10">
              <a:extLst>
                <a:ext uri="{FF2B5EF4-FFF2-40B4-BE49-F238E27FC236}">
                  <a16:creationId xmlns:a16="http://schemas.microsoft.com/office/drawing/2014/main" id="{05613417-BF99-B9E7-600C-0944CFCA2D9E}"/>
                </a:ext>
              </a:extLst>
            </p:cNvPr>
            <p:cNvSpPr>
              <a:spLocks noChangeArrowheads="1"/>
            </p:cNvSpPr>
            <p:nvPr/>
          </p:nvSpPr>
          <p:spPr bwMode="auto">
            <a:xfrm>
              <a:off x="4944" y="3072"/>
              <a:ext cx="192" cy="2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34830" name="Rectangle 11">
              <a:extLst>
                <a:ext uri="{FF2B5EF4-FFF2-40B4-BE49-F238E27FC236}">
                  <a16:creationId xmlns:a16="http://schemas.microsoft.com/office/drawing/2014/main" id="{62FF121D-A4FB-889C-0A62-3DF6DC298DB6}"/>
                </a:ext>
              </a:extLst>
            </p:cNvPr>
            <p:cNvSpPr>
              <a:spLocks noChangeArrowheads="1"/>
            </p:cNvSpPr>
            <p:nvPr/>
          </p:nvSpPr>
          <p:spPr bwMode="auto">
            <a:xfrm>
              <a:off x="3888" y="3120"/>
              <a:ext cx="19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pSp>
    </p:spTree>
  </p:cSld>
  <p:clrMapOvr>
    <a:masterClrMapping/>
  </p:clrMapOvr>
  <p:transition spd="slow">
    <p:split orient="vert"/>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4E378ABB-3578-ACCA-49EF-9BDCF883878D}"/>
              </a:ext>
            </a:extLst>
          </p:cNvPr>
          <p:cNvSpPr>
            <a:spLocks noGrp="1"/>
          </p:cNvSpPr>
          <p:nvPr>
            <p:ph type="title"/>
          </p:nvPr>
        </p:nvSpPr>
        <p:spPr>
          <a:xfrm>
            <a:off x="2057400" y="254000"/>
            <a:ext cx="6324600" cy="1143000"/>
          </a:xfrm>
        </p:spPr>
        <p:txBody>
          <a:bodyPr/>
          <a:lstStyle/>
          <a:p>
            <a:pPr eaLnBrk="1" hangingPunct="1"/>
            <a:r>
              <a:rPr lang="en-US" altLang="en-US">
                <a:latin typeface="Open Sans" pitchFamily="34" charset="0"/>
              </a:rPr>
              <a:t>Missing Values</a:t>
            </a:r>
          </a:p>
        </p:txBody>
      </p:sp>
      <p:sp>
        <p:nvSpPr>
          <p:cNvPr id="35843" name="Rectangle 5">
            <a:extLst>
              <a:ext uri="{FF2B5EF4-FFF2-40B4-BE49-F238E27FC236}">
                <a16:creationId xmlns:a16="http://schemas.microsoft.com/office/drawing/2014/main" id="{91FFFA89-82FF-BF5A-C3CA-C712278559B3}"/>
              </a:ext>
            </a:extLst>
          </p:cNvPr>
          <p:cNvSpPr>
            <a:spLocks noGrp="1"/>
          </p:cNvSpPr>
          <p:nvPr>
            <p:ph idx="1"/>
          </p:nvPr>
        </p:nvSpPr>
        <p:spPr/>
        <p:txBody>
          <a:bodyPr/>
          <a:lstStyle/>
          <a:p>
            <a:pPr eaLnBrk="1" hangingPunct="1">
              <a:lnSpc>
                <a:spcPct val="90000"/>
              </a:lnSpc>
            </a:pPr>
            <a:r>
              <a:rPr lang="en-US" altLang="en-US">
                <a:latin typeface="Open Sans" pitchFamily="34" charset="0"/>
              </a:rPr>
              <a:t>Reasons for missing values</a:t>
            </a:r>
          </a:p>
          <a:p>
            <a:pPr lvl="1" eaLnBrk="1" hangingPunct="1">
              <a:lnSpc>
                <a:spcPct val="90000"/>
              </a:lnSpc>
            </a:pPr>
            <a:r>
              <a:rPr lang="en-US" altLang="en-US" sz="2400">
                <a:latin typeface="Open Sans" pitchFamily="34" charset="0"/>
              </a:rPr>
              <a:t>Information is not collected </a:t>
            </a:r>
            <a:br>
              <a:rPr lang="en-US" altLang="en-US" sz="2400">
                <a:latin typeface="Open Sans" pitchFamily="34" charset="0"/>
              </a:rPr>
            </a:br>
            <a:r>
              <a:rPr lang="en-US" altLang="en-US" sz="2400">
                <a:latin typeface="Open Sans" pitchFamily="34" charset="0"/>
              </a:rPr>
              <a:t>(e.g., people decline to give their age and weight)</a:t>
            </a:r>
          </a:p>
          <a:p>
            <a:pPr lvl="1" eaLnBrk="1" hangingPunct="1">
              <a:lnSpc>
                <a:spcPct val="90000"/>
              </a:lnSpc>
            </a:pPr>
            <a:r>
              <a:rPr lang="en-US" altLang="en-US" sz="2400">
                <a:latin typeface="Open Sans" pitchFamily="34" charset="0"/>
              </a:rPr>
              <a:t>Attributes may not be applicable to all cases </a:t>
            </a:r>
            <a:br>
              <a:rPr lang="en-US" altLang="en-US" sz="2400">
                <a:latin typeface="Open Sans" pitchFamily="34" charset="0"/>
              </a:rPr>
            </a:br>
            <a:r>
              <a:rPr lang="en-US" altLang="en-US" sz="2400">
                <a:latin typeface="Open Sans" pitchFamily="34" charset="0"/>
              </a:rPr>
              <a:t>(e.g., annual income is not applicable to children)</a:t>
            </a:r>
            <a:endParaRPr lang="en-US" altLang="en-US">
              <a:latin typeface="Open Sans" pitchFamily="34" charset="0"/>
            </a:endParaRPr>
          </a:p>
          <a:p>
            <a:pPr eaLnBrk="1" hangingPunct="1">
              <a:lnSpc>
                <a:spcPct val="90000"/>
              </a:lnSpc>
            </a:pPr>
            <a:r>
              <a:rPr lang="en-US" altLang="en-US">
                <a:latin typeface="Open Sans" pitchFamily="34" charset="0"/>
              </a:rPr>
              <a:t>Handling missing values</a:t>
            </a:r>
          </a:p>
          <a:p>
            <a:pPr lvl="1" eaLnBrk="1" hangingPunct="1">
              <a:lnSpc>
                <a:spcPct val="90000"/>
              </a:lnSpc>
            </a:pPr>
            <a:r>
              <a:rPr lang="en-US" altLang="en-US" sz="2400">
                <a:latin typeface="Open Sans" pitchFamily="34" charset="0"/>
              </a:rPr>
              <a:t>Eliminate data objects</a:t>
            </a:r>
          </a:p>
          <a:p>
            <a:pPr lvl="1" eaLnBrk="1" hangingPunct="1">
              <a:lnSpc>
                <a:spcPct val="90000"/>
              </a:lnSpc>
            </a:pPr>
            <a:r>
              <a:rPr lang="en-US" altLang="en-US" sz="2400">
                <a:latin typeface="Open Sans" pitchFamily="34" charset="0"/>
              </a:rPr>
              <a:t>Estimate missing values</a:t>
            </a:r>
          </a:p>
          <a:p>
            <a:pPr lvl="1" eaLnBrk="1" hangingPunct="1">
              <a:lnSpc>
                <a:spcPct val="90000"/>
              </a:lnSpc>
            </a:pPr>
            <a:r>
              <a:rPr lang="en-US" altLang="en-US" sz="2400">
                <a:latin typeface="Open Sans" pitchFamily="34" charset="0"/>
              </a:rPr>
              <a:t>Ignore the missing value during analysis</a:t>
            </a:r>
          </a:p>
          <a:p>
            <a:pPr lvl="1" eaLnBrk="1" hangingPunct="1">
              <a:lnSpc>
                <a:spcPct val="90000"/>
              </a:lnSpc>
            </a:pPr>
            <a:r>
              <a:rPr lang="en-US" altLang="en-US" sz="2400">
                <a:latin typeface="Open Sans" pitchFamily="34" charset="0"/>
              </a:rPr>
              <a:t>Replace with all possible values (weighted by their probabilities</a:t>
            </a:r>
            <a:r>
              <a:rPr lang="en-US" altLang="en-US">
                <a:latin typeface="Open Sans" pitchFamily="34" charset="0"/>
              </a:rPr>
              <a:t>)</a:t>
            </a:r>
          </a:p>
        </p:txBody>
      </p:sp>
      <p:sp>
        <p:nvSpPr>
          <p:cNvPr id="4" name="Date Placeholder 3">
            <a:extLst>
              <a:ext uri="{FF2B5EF4-FFF2-40B4-BE49-F238E27FC236}">
                <a16:creationId xmlns:a16="http://schemas.microsoft.com/office/drawing/2014/main" id="{1EE21678-AA52-704E-E446-3F41CA7DB1DE}"/>
              </a:ext>
            </a:extLst>
          </p:cNvPr>
          <p:cNvSpPr>
            <a:spLocks noGrp="1"/>
          </p:cNvSpPr>
          <p:nvPr>
            <p:ph type="dt" sz="quarter" idx="10"/>
          </p:nvPr>
        </p:nvSpPr>
        <p:spPr>
          <a:xfrm>
            <a:off x="457200" y="6381750"/>
            <a:ext cx="2133600" cy="339725"/>
          </a:xfrm>
        </p:spPr>
        <p:txBody>
          <a:bodyPr/>
          <a:lstStyle/>
          <a:p>
            <a:pPr>
              <a:defRPr/>
            </a:pPr>
            <a:fld id="{E06DEC9E-728F-44D3-A7E6-88BF1E902B33}" type="datetime1">
              <a:rPr lang="en-US"/>
              <a:pPr>
                <a:defRPr/>
              </a:pPr>
              <a:t>6/12/2023</a:t>
            </a:fld>
            <a:endParaRPr lang="en-US"/>
          </a:p>
        </p:txBody>
      </p:sp>
      <p:sp>
        <p:nvSpPr>
          <p:cNvPr id="5" name="Footer Placeholder 4">
            <a:extLst>
              <a:ext uri="{FF2B5EF4-FFF2-40B4-BE49-F238E27FC236}">
                <a16:creationId xmlns:a16="http://schemas.microsoft.com/office/drawing/2014/main" id="{202FF052-90C4-B1F2-5949-FCAE47A3D5CE}"/>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35846" name="Slide Number Placeholder 5">
            <a:extLst>
              <a:ext uri="{FF2B5EF4-FFF2-40B4-BE49-F238E27FC236}">
                <a16:creationId xmlns:a16="http://schemas.microsoft.com/office/drawing/2014/main" id="{1E799DD6-5F0C-CD76-B122-83EFFB9B14BF}"/>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5F4AACC-0BAC-46D7-8CCB-6E413AE82F82}" type="slidenum">
              <a:rPr lang="en-US" altLang="en-US" sz="1200" smtClean="0">
                <a:solidFill>
                  <a:srgbClr val="898989"/>
                </a:solidFill>
              </a:rPr>
              <a:pPr>
                <a:spcBef>
                  <a:spcPct val="0"/>
                </a:spcBef>
                <a:buFontTx/>
                <a:buNone/>
              </a:pPr>
              <a:t>22</a:t>
            </a:fld>
            <a:endParaRPr lang="en-US" altLang="en-US" sz="1200">
              <a:solidFill>
                <a:srgbClr val="898989"/>
              </a:solidFill>
            </a:endParaRPr>
          </a:p>
        </p:txBody>
      </p:sp>
    </p:spTree>
  </p:cSld>
  <p:clrMapOvr>
    <a:masterClrMapping/>
  </p:clrMapOvr>
  <p:transition spd="slow">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CA930006-552C-2458-FD43-12BC37D51438}"/>
              </a:ext>
            </a:extLst>
          </p:cNvPr>
          <p:cNvSpPr>
            <a:spLocks noGrp="1"/>
          </p:cNvSpPr>
          <p:nvPr>
            <p:ph type="title"/>
          </p:nvPr>
        </p:nvSpPr>
        <p:spPr>
          <a:xfrm>
            <a:off x="2133600" y="244475"/>
            <a:ext cx="6324600" cy="1143000"/>
          </a:xfrm>
        </p:spPr>
        <p:txBody>
          <a:bodyPr/>
          <a:lstStyle/>
          <a:p>
            <a:pPr eaLnBrk="1" hangingPunct="1"/>
            <a:r>
              <a:rPr lang="en-US" altLang="en-US">
                <a:latin typeface="Open Sans" pitchFamily="34" charset="0"/>
              </a:rPr>
              <a:t>Duplicate Data</a:t>
            </a:r>
          </a:p>
        </p:txBody>
      </p:sp>
      <p:sp>
        <p:nvSpPr>
          <p:cNvPr id="37891" name="Rectangle 3">
            <a:extLst>
              <a:ext uri="{FF2B5EF4-FFF2-40B4-BE49-F238E27FC236}">
                <a16:creationId xmlns:a16="http://schemas.microsoft.com/office/drawing/2014/main" id="{DDC491B4-3C8D-4ED7-2CD5-818BCB503559}"/>
              </a:ext>
            </a:extLst>
          </p:cNvPr>
          <p:cNvSpPr>
            <a:spLocks noGrp="1"/>
          </p:cNvSpPr>
          <p:nvPr>
            <p:ph idx="1"/>
          </p:nvPr>
        </p:nvSpPr>
        <p:spPr/>
        <p:txBody>
          <a:bodyPr/>
          <a:lstStyle/>
          <a:p>
            <a:pPr eaLnBrk="1" hangingPunct="1"/>
            <a:r>
              <a:rPr lang="en-US" altLang="en-US">
                <a:latin typeface="Open Sans" pitchFamily="34" charset="0"/>
              </a:rPr>
              <a:t>Data set may include data objects that are duplicates, or almost duplicates of one another</a:t>
            </a:r>
          </a:p>
          <a:p>
            <a:pPr lvl="1" eaLnBrk="1" hangingPunct="1"/>
            <a:r>
              <a:rPr lang="en-US" altLang="en-US" sz="2400">
                <a:latin typeface="Open Sans" pitchFamily="34" charset="0"/>
              </a:rPr>
              <a:t>Major issue when merging data from heterogenous sources</a:t>
            </a:r>
          </a:p>
          <a:p>
            <a:pPr eaLnBrk="1" hangingPunct="1"/>
            <a:r>
              <a:rPr lang="en-US" altLang="en-US">
                <a:latin typeface="Open Sans" pitchFamily="34" charset="0"/>
              </a:rPr>
              <a:t>Examples:</a:t>
            </a:r>
          </a:p>
          <a:p>
            <a:pPr lvl="1" eaLnBrk="1" hangingPunct="1"/>
            <a:r>
              <a:rPr lang="en-US" altLang="en-US" sz="2400">
                <a:latin typeface="Open Sans" pitchFamily="34" charset="0"/>
              </a:rPr>
              <a:t>Same person with multiple email addresses</a:t>
            </a:r>
          </a:p>
          <a:p>
            <a:pPr eaLnBrk="1" hangingPunct="1"/>
            <a:r>
              <a:rPr lang="en-US" altLang="en-US">
                <a:latin typeface="Open Sans" pitchFamily="34" charset="0"/>
              </a:rPr>
              <a:t>Data cleaning</a:t>
            </a:r>
          </a:p>
          <a:p>
            <a:pPr lvl="1" eaLnBrk="1" hangingPunct="1"/>
            <a:r>
              <a:rPr lang="en-US" altLang="en-US" sz="2400">
                <a:latin typeface="Open Sans" pitchFamily="34" charset="0"/>
              </a:rPr>
              <a:t>Process of dealing with duplicate data issues</a:t>
            </a:r>
          </a:p>
        </p:txBody>
      </p:sp>
      <p:sp>
        <p:nvSpPr>
          <p:cNvPr id="4" name="Date Placeholder 3">
            <a:extLst>
              <a:ext uri="{FF2B5EF4-FFF2-40B4-BE49-F238E27FC236}">
                <a16:creationId xmlns:a16="http://schemas.microsoft.com/office/drawing/2014/main" id="{D0BEC767-7D46-59BA-1A19-DCE169240EAA}"/>
              </a:ext>
            </a:extLst>
          </p:cNvPr>
          <p:cNvSpPr>
            <a:spLocks noGrp="1"/>
          </p:cNvSpPr>
          <p:nvPr>
            <p:ph type="dt" sz="quarter" idx="10"/>
          </p:nvPr>
        </p:nvSpPr>
        <p:spPr>
          <a:xfrm>
            <a:off x="457200" y="6381750"/>
            <a:ext cx="2133600" cy="339725"/>
          </a:xfrm>
        </p:spPr>
        <p:txBody>
          <a:bodyPr/>
          <a:lstStyle/>
          <a:p>
            <a:pPr>
              <a:defRPr/>
            </a:pPr>
            <a:fld id="{6E0FF756-CB09-4EF8-88E6-98336256E90D}" type="datetime1">
              <a:rPr lang="en-US"/>
              <a:pPr>
                <a:defRPr/>
              </a:pPr>
              <a:t>6/12/2023</a:t>
            </a:fld>
            <a:endParaRPr lang="en-US"/>
          </a:p>
        </p:txBody>
      </p:sp>
      <p:sp>
        <p:nvSpPr>
          <p:cNvPr id="5" name="Footer Placeholder 4">
            <a:extLst>
              <a:ext uri="{FF2B5EF4-FFF2-40B4-BE49-F238E27FC236}">
                <a16:creationId xmlns:a16="http://schemas.microsoft.com/office/drawing/2014/main" id="{4DEC1070-91BF-ACDB-90C6-9E2CD4BC556A}"/>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37894" name="Slide Number Placeholder 5">
            <a:extLst>
              <a:ext uri="{FF2B5EF4-FFF2-40B4-BE49-F238E27FC236}">
                <a16:creationId xmlns:a16="http://schemas.microsoft.com/office/drawing/2014/main" id="{DA87D6CC-4394-0A62-3BB2-D16BAEF51900}"/>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B5FFCAF-DC59-47C6-ABFE-EEC75455B556}" type="slidenum">
              <a:rPr lang="en-US" altLang="en-US" sz="1200" smtClean="0">
                <a:solidFill>
                  <a:srgbClr val="898989"/>
                </a:solidFill>
              </a:rPr>
              <a:pPr>
                <a:spcBef>
                  <a:spcPct val="0"/>
                </a:spcBef>
                <a:buFontTx/>
                <a:buNone/>
              </a:pPr>
              <a:t>23</a:t>
            </a:fld>
            <a:endParaRPr lang="en-US" altLang="en-US" sz="1200">
              <a:solidFill>
                <a:srgbClr val="898989"/>
              </a:solidFill>
            </a:endParaRPr>
          </a:p>
        </p:txBody>
      </p:sp>
    </p:spTree>
  </p:cSld>
  <p:clrMapOvr>
    <a:masterClrMapping/>
  </p:clrMapOvr>
  <p:transition spd="slow">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DA16C77-D5AA-31A6-F5B7-6D11B7FAE499}"/>
              </a:ext>
            </a:extLst>
          </p:cNvPr>
          <p:cNvSpPr>
            <a:spLocks noGrp="1"/>
          </p:cNvSpPr>
          <p:nvPr>
            <p:ph type="title"/>
          </p:nvPr>
        </p:nvSpPr>
        <p:spPr>
          <a:xfrm>
            <a:off x="909638" y="2590800"/>
            <a:ext cx="7772400" cy="1362075"/>
          </a:xfrm>
        </p:spPr>
        <p:txBody>
          <a:bodyPr/>
          <a:lstStyle/>
          <a:p>
            <a:pPr algn="ctr">
              <a:defRPr/>
            </a:pPr>
            <a:r>
              <a:rPr lang="en-US" dirty="0"/>
              <a:t>Data Pre-Processing</a:t>
            </a:r>
          </a:p>
        </p:txBody>
      </p:sp>
      <p:sp>
        <p:nvSpPr>
          <p:cNvPr id="4" name="Date Placeholder 3">
            <a:extLst>
              <a:ext uri="{FF2B5EF4-FFF2-40B4-BE49-F238E27FC236}">
                <a16:creationId xmlns:a16="http://schemas.microsoft.com/office/drawing/2014/main" id="{F5860831-9367-D2AB-F3EE-3851F32543D4}"/>
              </a:ext>
            </a:extLst>
          </p:cNvPr>
          <p:cNvSpPr>
            <a:spLocks noGrp="1"/>
          </p:cNvSpPr>
          <p:nvPr>
            <p:ph type="dt" sz="quarter" idx="10"/>
          </p:nvPr>
        </p:nvSpPr>
        <p:spPr/>
        <p:txBody>
          <a:bodyPr/>
          <a:lstStyle/>
          <a:p>
            <a:pPr>
              <a:defRPr/>
            </a:pPr>
            <a:fld id="{5E673D69-C2F5-4913-8182-8B8DADE0F86C}" type="datetime1">
              <a:rPr lang="en-US"/>
              <a:pPr>
                <a:defRPr/>
              </a:pPr>
              <a:t>6/12/2023</a:t>
            </a:fld>
            <a:endParaRPr lang="en-US"/>
          </a:p>
        </p:txBody>
      </p:sp>
      <p:sp>
        <p:nvSpPr>
          <p:cNvPr id="5" name="Footer Placeholder 4">
            <a:extLst>
              <a:ext uri="{FF2B5EF4-FFF2-40B4-BE49-F238E27FC236}">
                <a16:creationId xmlns:a16="http://schemas.microsoft.com/office/drawing/2014/main" id="{4EA41476-82B2-D7E0-5830-2CF0C606727C}"/>
              </a:ext>
            </a:extLst>
          </p:cNvPr>
          <p:cNvSpPr>
            <a:spLocks noGrp="1"/>
          </p:cNvSpPr>
          <p:nvPr>
            <p:ph type="ftr" sz="quarter" idx="11"/>
          </p:nvPr>
        </p:nvSpPr>
        <p:spPr/>
        <p:txBody>
          <a:bodyPr/>
          <a:lstStyle/>
          <a:p>
            <a:pPr>
              <a:defRPr/>
            </a:pPr>
            <a:r>
              <a:rPr lang="en-US"/>
              <a:t>Data Exploration and Pre-processing</a:t>
            </a:r>
          </a:p>
        </p:txBody>
      </p:sp>
      <p:sp>
        <p:nvSpPr>
          <p:cNvPr id="38917" name="Slide Number Placeholder 5">
            <a:extLst>
              <a:ext uri="{FF2B5EF4-FFF2-40B4-BE49-F238E27FC236}">
                <a16:creationId xmlns:a16="http://schemas.microsoft.com/office/drawing/2014/main" id="{46520A55-2AF7-2D84-A863-35CEB8C4B2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2ED62D1-0CE3-4C73-A492-DC06FC08A780}"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sp>
        <p:nvSpPr>
          <p:cNvPr id="38918" name="TextBox 9">
            <a:extLst>
              <a:ext uri="{FF2B5EF4-FFF2-40B4-BE49-F238E27FC236}">
                <a16:creationId xmlns:a16="http://schemas.microsoft.com/office/drawing/2014/main" id="{F6282517-115E-28C2-68B4-41BB542FC3FC}"/>
              </a:ext>
            </a:extLst>
          </p:cNvPr>
          <p:cNvSpPr txBox="1">
            <a:spLocks noChangeArrowheads="1"/>
          </p:cNvSpPr>
          <p:nvPr/>
        </p:nvSpPr>
        <p:spPr bwMode="auto">
          <a:xfrm>
            <a:off x="2590800" y="3443288"/>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solidFill>
                  <a:srgbClr val="333333"/>
                </a:solidFill>
                <a:latin typeface="Roboto"/>
              </a:rPr>
              <a:t>“Data scientists spend 80% of their time cleaning and manipulating data and only 20% of their time actually analyzing it.”</a:t>
            </a:r>
            <a:endParaRPr lang="en-US" altLang="en-US" sz="1800">
              <a:latin typeface="Arial" panose="020B0604020202020204" pitchFamily="34" charset="0"/>
            </a:endParaRPr>
          </a:p>
        </p:txBody>
      </p:sp>
    </p:spTree>
  </p:cSld>
  <p:clrMapOvr>
    <a:masterClrMapping/>
  </p:clrMapOvr>
  <p:transition spd="slow">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F5DD2006-99C9-F923-3801-6FDDFB7AAE3A}"/>
              </a:ext>
            </a:extLst>
          </p:cNvPr>
          <p:cNvSpPr>
            <a:spLocks noGrp="1"/>
          </p:cNvSpPr>
          <p:nvPr>
            <p:ph type="title"/>
          </p:nvPr>
        </p:nvSpPr>
        <p:spPr/>
        <p:txBody>
          <a:bodyPr>
            <a:normAutofit fontScale="90000"/>
          </a:bodyPr>
          <a:lstStyle/>
          <a:p>
            <a:pPr>
              <a:defRPr/>
            </a:pPr>
            <a:r>
              <a:rPr lang="en-US" altLang="en-US">
                <a:latin typeface="Open Sans" pitchFamily="34" charset="0"/>
              </a:rPr>
              <a:t>Tasks in Data Pre-Processing</a:t>
            </a:r>
          </a:p>
        </p:txBody>
      </p:sp>
      <p:sp>
        <p:nvSpPr>
          <p:cNvPr id="39939" name="Content Placeholder 2">
            <a:extLst>
              <a:ext uri="{FF2B5EF4-FFF2-40B4-BE49-F238E27FC236}">
                <a16:creationId xmlns:a16="http://schemas.microsoft.com/office/drawing/2014/main" id="{32C4AA8B-B1F7-B634-0B2D-D33BDD4432D5}"/>
              </a:ext>
            </a:extLst>
          </p:cNvPr>
          <p:cNvSpPr>
            <a:spLocks noGrp="1"/>
          </p:cNvSpPr>
          <p:nvPr>
            <p:ph idx="1"/>
          </p:nvPr>
        </p:nvSpPr>
        <p:spPr>
          <a:xfrm>
            <a:off x="914400" y="1828800"/>
            <a:ext cx="8001000" cy="4800600"/>
          </a:xfrm>
        </p:spPr>
        <p:txBody>
          <a:bodyPr/>
          <a:lstStyle/>
          <a:p>
            <a:r>
              <a:rPr lang="en-US" altLang="en-US" sz="3200">
                <a:latin typeface="Open Sans" pitchFamily="34" charset="0"/>
              </a:rPr>
              <a:t>Data cleaning</a:t>
            </a:r>
          </a:p>
          <a:p>
            <a:r>
              <a:rPr lang="en-US" altLang="en-US" sz="3200">
                <a:latin typeface="Open Sans" pitchFamily="34" charset="0"/>
              </a:rPr>
              <a:t>Data integration</a:t>
            </a:r>
          </a:p>
          <a:p>
            <a:r>
              <a:rPr lang="en-US" altLang="en-US" sz="3200">
                <a:latin typeface="Open Sans" pitchFamily="34" charset="0"/>
              </a:rPr>
              <a:t>Data transformation</a:t>
            </a:r>
          </a:p>
          <a:p>
            <a:r>
              <a:rPr lang="en-US" altLang="en-US" sz="3200">
                <a:latin typeface="Open Sans" pitchFamily="34" charset="0"/>
              </a:rPr>
              <a:t>Data reduction</a:t>
            </a:r>
          </a:p>
          <a:p>
            <a:r>
              <a:rPr lang="en-US" altLang="en-US" sz="3200">
                <a:latin typeface="Open Sans" pitchFamily="34" charset="0"/>
              </a:rPr>
              <a:t>Data discretization</a:t>
            </a:r>
          </a:p>
        </p:txBody>
      </p:sp>
      <p:sp>
        <p:nvSpPr>
          <p:cNvPr id="4" name="Date Placeholder 3">
            <a:extLst>
              <a:ext uri="{FF2B5EF4-FFF2-40B4-BE49-F238E27FC236}">
                <a16:creationId xmlns:a16="http://schemas.microsoft.com/office/drawing/2014/main" id="{64E126EC-286C-1195-084F-C5833B389371}"/>
              </a:ext>
            </a:extLst>
          </p:cNvPr>
          <p:cNvSpPr>
            <a:spLocks noGrp="1"/>
          </p:cNvSpPr>
          <p:nvPr>
            <p:ph type="dt" sz="quarter" idx="10"/>
          </p:nvPr>
        </p:nvSpPr>
        <p:spPr/>
        <p:txBody>
          <a:bodyPr/>
          <a:lstStyle/>
          <a:p>
            <a:pPr>
              <a:defRPr/>
            </a:pPr>
            <a:fld id="{005BCF02-85AB-4407-99F5-FA79FFC534A2}" type="datetime1">
              <a:rPr lang="en-US"/>
              <a:pPr>
                <a:defRPr/>
              </a:pPr>
              <a:t>6/12/2023</a:t>
            </a:fld>
            <a:endParaRPr lang="en-US"/>
          </a:p>
        </p:txBody>
      </p:sp>
      <p:sp>
        <p:nvSpPr>
          <p:cNvPr id="5" name="Footer Placeholder 4">
            <a:extLst>
              <a:ext uri="{FF2B5EF4-FFF2-40B4-BE49-F238E27FC236}">
                <a16:creationId xmlns:a16="http://schemas.microsoft.com/office/drawing/2014/main" id="{53ABC15B-4E63-0BD8-FCAC-DCA0731CF76B}"/>
              </a:ext>
            </a:extLst>
          </p:cNvPr>
          <p:cNvSpPr>
            <a:spLocks noGrp="1"/>
          </p:cNvSpPr>
          <p:nvPr>
            <p:ph type="ftr" sz="quarter" idx="11"/>
          </p:nvPr>
        </p:nvSpPr>
        <p:spPr/>
        <p:txBody>
          <a:bodyPr/>
          <a:lstStyle/>
          <a:p>
            <a:pPr>
              <a:defRPr/>
            </a:pPr>
            <a:r>
              <a:rPr lang="en-US"/>
              <a:t>Data Exploration and Pre-processing</a:t>
            </a:r>
          </a:p>
        </p:txBody>
      </p:sp>
      <p:sp>
        <p:nvSpPr>
          <p:cNvPr id="39942" name="Slide Number Placeholder 5">
            <a:extLst>
              <a:ext uri="{FF2B5EF4-FFF2-40B4-BE49-F238E27FC236}">
                <a16:creationId xmlns:a16="http://schemas.microsoft.com/office/drawing/2014/main" id="{E691CF25-4F12-0DEF-19BC-0A489A9592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BA86DCF-EF2E-400A-9189-F19B9C11CA90}"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Tree>
  </p:cSld>
  <p:clrMapOvr>
    <a:masterClrMapping/>
  </p:clrMapOvr>
  <p:transition spd="slow">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0">
            <a:extLst>
              <a:ext uri="{FF2B5EF4-FFF2-40B4-BE49-F238E27FC236}">
                <a16:creationId xmlns:a16="http://schemas.microsoft.com/office/drawing/2014/main" id="{CFF37089-B838-8D8E-E33F-0E29823237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6401"/>
          <a:stretch>
            <a:fillRect/>
          </a:stretch>
        </p:blipFill>
        <p:spPr bwMode="auto">
          <a:xfrm>
            <a:off x="9525" y="0"/>
            <a:ext cx="9134475" cy="682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0F317BA9-FEC1-0DE8-6F21-78A2BD88DAA1}"/>
              </a:ext>
            </a:extLst>
          </p:cNvPr>
          <p:cNvSpPr>
            <a:spLocks noGrp="1"/>
          </p:cNvSpPr>
          <p:nvPr>
            <p:ph type="dt" sz="quarter" idx="10"/>
          </p:nvPr>
        </p:nvSpPr>
        <p:spPr/>
        <p:txBody>
          <a:bodyPr/>
          <a:lstStyle/>
          <a:p>
            <a:pPr>
              <a:defRPr/>
            </a:pPr>
            <a:fld id="{ADD43E06-16AF-4297-BE5A-11150D64D2D8}" type="datetime1">
              <a:rPr lang="en-US"/>
              <a:pPr>
                <a:defRPr/>
              </a:pPr>
              <a:t>6/12/2023</a:t>
            </a:fld>
            <a:endParaRPr lang="en-US"/>
          </a:p>
        </p:txBody>
      </p:sp>
      <p:sp>
        <p:nvSpPr>
          <p:cNvPr id="5" name="Footer Placeholder 4">
            <a:extLst>
              <a:ext uri="{FF2B5EF4-FFF2-40B4-BE49-F238E27FC236}">
                <a16:creationId xmlns:a16="http://schemas.microsoft.com/office/drawing/2014/main" id="{BE4E6DFF-6A36-6B42-28A8-FC627B1C5C85}"/>
              </a:ext>
            </a:extLst>
          </p:cNvPr>
          <p:cNvSpPr>
            <a:spLocks noGrp="1"/>
          </p:cNvSpPr>
          <p:nvPr>
            <p:ph type="ftr" sz="quarter" idx="11"/>
          </p:nvPr>
        </p:nvSpPr>
        <p:spPr/>
        <p:txBody>
          <a:bodyPr/>
          <a:lstStyle/>
          <a:p>
            <a:pPr>
              <a:defRPr/>
            </a:pPr>
            <a:r>
              <a:rPr lang="en-US"/>
              <a:t>Data Exploration and Pre-processing</a:t>
            </a:r>
          </a:p>
        </p:txBody>
      </p:sp>
      <p:sp>
        <p:nvSpPr>
          <p:cNvPr id="40965" name="Slide Number Placeholder 5">
            <a:extLst>
              <a:ext uri="{FF2B5EF4-FFF2-40B4-BE49-F238E27FC236}">
                <a16:creationId xmlns:a16="http://schemas.microsoft.com/office/drawing/2014/main" id="{08B78DE8-198B-5CD1-DAA4-5FFC9680988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23A2984-8F33-4E28-BE2E-61C43162518D}" type="slidenum">
              <a:rPr lang="en-US" altLang="en-US" sz="1200" smtClean="0">
                <a:solidFill>
                  <a:srgbClr val="898989"/>
                </a:solidFill>
              </a:rPr>
              <a:pPr>
                <a:spcBef>
                  <a:spcPct val="0"/>
                </a:spcBef>
                <a:buFontTx/>
                <a:buNone/>
              </a:pPr>
              <a:t>26</a:t>
            </a:fld>
            <a:endParaRPr lang="en-US" altLang="en-US" sz="1200">
              <a:solidFill>
                <a:srgbClr val="898989"/>
              </a:solidFill>
            </a:endParaRPr>
          </a:p>
        </p:txBody>
      </p:sp>
      <p:sp>
        <p:nvSpPr>
          <p:cNvPr id="14" name="TextBox 13">
            <a:extLst>
              <a:ext uri="{FF2B5EF4-FFF2-40B4-BE49-F238E27FC236}">
                <a16:creationId xmlns:a16="http://schemas.microsoft.com/office/drawing/2014/main" id="{8ED7E959-6611-367E-EC42-50E6957E7B4C}"/>
              </a:ext>
            </a:extLst>
          </p:cNvPr>
          <p:cNvSpPr txBox="1">
            <a:spLocks noChangeArrowheads="1"/>
          </p:cNvSpPr>
          <p:nvPr/>
        </p:nvSpPr>
        <p:spPr bwMode="auto">
          <a:xfrm>
            <a:off x="914400" y="2362200"/>
            <a:ext cx="4495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396875"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 typeface="Arial" panose="020B0604020202020204" pitchFamily="34" charset="0"/>
              <a:buChar char="•"/>
            </a:pPr>
            <a:r>
              <a:rPr lang="en-US" altLang="en-US" sz="2400" b="1">
                <a:latin typeface="Open Sans" pitchFamily="34" charset="0"/>
              </a:rPr>
              <a:t>filling missing values</a:t>
            </a:r>
          </a:p>
          <a:p>
            <a:pPr lvl="1">
              <a:spcBef>
                <a:spcPct val="0"/>
              </a:spcBef>
              <a:buFont typeface="Arial" panose="020B0604020202020204" pitchFamily="34" charset="0"/>
              <a:buChar char="•"/>
            </a:pPr>
            <a:r>
              <a:rPr lang="en-US" altLang="en-US" sz="2400" b="1">
                <a:latin typeface="Open Sans" pitchFamily="34" charset="0"/>
              </a:rPr>
              <a:t>smooth noisy data</a:t>
            </a:r>
          </a:p>
          <a:p>
            <a:pPr lvl="1">
              <a:spcBef>
                <a:spcPct val="0"/>
              </a:spcBef>
              <a:buFont typeface="Arial" panose="020B0604020202020204" pitchFamily="34" charset="0"/>
              <a:buChar char="•"/>
            </a:pPr>
            <a:r>
              <a:rPr lang="en-US" altLang="en-US" sz="2400" b="1">
                <a:latin typeface="Open Sans" pitchFamily="34" charset="0"/>
              </a:rPr>
              <a:t>identify or remove outliers</a:t>
            </a:r>
          </a:p>
          <a:p>
            <a:pPr lvl="1">
              <a:spcBef>
                <a:spcPct val="0"/>
              </a:spcBef>
              <a:buFont typeface="Arial" panose="020B0604020202020204" pitchFamily="34" charset="0"/>
              <a:buChar char="•"/>
            </a:pPr>
            <a:r>
              <a:rPr lang="en-US" altLang="en-US" sz="2400" b="1">
                <a:latin typeface="Open Sans" pitchFamily="34" charset="0"/>
              </a:rPr>
              <a:t>resolve inconsistencies</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5FA8EC4-CB49-39AC-6891-387849AA1493}"/>
              </a:ext>
            </a:extLst>
          </p:cNvPr>
          <p:cNvSpPr>
            <a:spLocks noGrp="1"/>
          </p:cNvSpPr>
          <p:nvPr>
            <p:ph type="dt" sz="quarter" idx="10"/>
          </p:nvPr>
        </p:nvSpPr>
        <p:spPr/>
        <p:txBody>
          <a:bodyPr/>
          <a:lstStyle/>
          <a:p>
            <a:pPr>
              <a:defRPr/>
            </a:pPr>
            <a:fld id="{925DA7A4-4D4F-4FD6-8CF6-FA53E1B6D217}" type="datetime1">
              <a:rPr lang="en-US"/>
              <a:pPr>
                <a:defRPr/>
              </a:pPr>
              <a:t>6/12/2023</a:t>
            </a:fld>
            <a:endParaRPr lang="en-US"/>
          </a:p>
        </p:txBody>
      </p:sp>
      <p:sp>
        <p:nvSpPr>
          <p:cNvPr id="5" name="Footer Placeholder 4">
            <a:extLst>
              <a:ext uri="{FF2B5EF4-FFF2-40B4-BE49-F238E27FC236}">
                <a16:creationId xmlns:a16="http://schemas.microsoft.com/office/drawing/2014/main" id="{EC0D987B-E4DA-AAF2-E2B6-757BC1766B9E}"/>
              </a:ext>
            </a:extLst>
          </p:cNvPr>
          <p:cNvSpPr>
            <a:spLocks noGrp="1"/>
          </p:cNvSpPr>
          <p:nvPr>
            <p:ph type="ftr" sz="quarter" idx="11"/>
          </p:nvPr>
        </p:nvSpPr>
        <p:spPr/>
        <p:txBody>
          <a:bodyPr/>
          <a:lstStyle/>
          <a:p>
            <a:pPr>
              <a:defRPr/>
            </a:pPr>
            <a:r>
              <a:rPr lang="en-US"/>
              <a:t>Data Exploration and Pre-processing</a:t>
            </a:r>
          </a:p>
        </p:txBody>
      </p:sp>
      <p:sp>
        <p:nvSpPr>
          <p:cNvPr id="43012" name="Slide Number Placeholder 5">
            <a:extLst>
              <a:ext uri="{FF2B5EF4-FFF2-40B4-BE49-F238E27FC236}">
                <a16:creationId xmlns:a16="http://schemas.microsoft.com/office/drawing/2014/main" id="{3ED439F8-6BC8-3A03-7F88-C2CCF92749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84A71C8-ABBA-4044-B427-B2E72C46400A}"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pic>
        <p:nvPicPr>
          <p:cNvPr id="43013" name="Picture 7">
            <a:extLst>
              <a:ext uri="{FF2B5EF4-FFF2-40B4-BE49-F238E27FC236}">
                <a16:creationId xmlns:a16="http://schemas.microsoft.com/office/drawing/2014/main" id="{E83B8280-D749-24B5-D77C-43B56BA12D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640" b="10489"/>
          <a:stretch>
            <a:fillRect/>
          </a:stretch>
        </p:blipFill>
        <p:spPr bwMode="auto">
          <a:xfrm>
            <a:off x="-1588" y="0"/>
            <a:ext cx="9134476"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TextBox 8">
            <a:extLst>
              <a:ext uri="{FF2B5EF4-FFF2-40B4-BE49-F238E27FC236}">
                <a16:creationId xmlns:a16="http://schemas.microsoft.com/office/drawing/2014/main" id="{030BD576-FE04-70AC-14C7-FDE950272E48}"/>
              </a:ext>
            </a:extLst>
          </p:cNvPr>
          <p:cNvSpPr txBox="1">
            <a:spLocks noChangeArrowheads="1"/>
          </p:cNvSpPr>
          <p:nvPr/>
        </p:nvSpPr>
        <p:spPr bwMode="auto">
          <a:xfrm>
            <a:off x="1676400" y="22225"/>
            <a:ext cx="4876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b="1">
                <a:solidFill>
                  <a:srgbClr val="0070C0"/>
                </a:solidFill>
                <a:latin typeface="Arial" panose="020B0604020202020204" pitchFamily="34" charset="0"/>
              </a:rPr>
              <a:t>Data Integration</a:t>
            </a:r>
          </a:p>
        </p:txBody>
      </p:sp>
      <p:sp>
        <p:nvSpPr>
          <p:cNvPr id="10" name="TextBox 9">
            <a:extLst>
              <a:ext uri="{FF2B5EF4-FFF2-40B4-BE49-F238E27FC236}">
                <a16:creationId xmlns:a16="http://schemas.microsoft.com/office/drawing/2014/main" id="{1B3D2F70-DE79-B40B-60BC-D1A33A8AD1D2}"/>
              </a:ext>
            </a:extLst>
          </p:cNvPr>
          <p:cNvSpPr txBox="1">
            <a:spLocks noChangeArrowheads="1"/>
          </p:cNvSpPr>
          <p:nvPr/>
        </p:nvSpPr>
        <p:spPr bwMode="auto">
          <a:xfrm>
            <a:off x="6105525" y="3657600"/>
            <a:ext cx="28098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2400" b="1">
                <a:solidFill>
                  <a:srgbClr val="0070C0"/>
                </a:solidFill>
                <a:latin typeface="Open Sans" pitchFamily="34" charset="0"/>
              </a:rPr>
              <a:t>Integration of multiple databases, data cubes, files, and unstructured data </a:t>
            </a:r>
          </a:p>
          <a:p>
            <a:pPr algn="r">
              <a:spcBef>
                <a:spcPct val="0"/>
              </a:spcBef>
              <a:buFontTx/>
              <a:buNone/>
            </a:pPr>
            <a:endParaRPr lang="en-US" altLang="en-US" sz="2400" b="1">
              <a:solidFill>
                <a:srgbClr val="0070C0"/>
              </a:solidFill>
              <a:latin typeface="Open Sans" pitchFamily="34"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AB77639-7807-F084-43C9-A1BBABDFBAC5}"/>
              </a:ext>
            </a:extLst>
          </p:cNvPr>
          <p:cNvSpPr>
            <a:spLocks noGrp="1"/>
          </p:cNvSpPr>
          <p:nvPr>
            <p:ph type="dt" sz="quarter" idx="10"/>
          </p:nvPr>
        </p:nvSpPr>
        <p:spPr/>
        <p:txBody>
          <a:bodyPr/>
          <a:lstStyle/>
          <a:p>
            <a:pPr>
              <a:defRPr/>
            </a:pPr>
            <a:fld id="{2C0C6AAE-2479-4E0E-BE75-4B88BB6CBE32}" type="datetime1">
              <a:rPr lang="en-US"/>
              <a:pPr>
                <a:defRPr/>
              </a:pPr>
              <a:t>6/12/2023</a:t>
            </a:fld>
            <a:endParaRPr lang="en-US"/>
          </a:p>
        </p:txBody>
      </p:sp>
      <p:sp>
        <p:nvSpPr>
          <p:cNvPr id="5" name="Footer Placeholder 4">
            <a:extLst>
              <a:ext uri="{FF2B5EF4-FFF2-40B4-BE49-F238E27FC236}">
                <a16:creationId xmlns:a16="http://schemas.microsoft.com/office/drawing/2014/main" id="{9C57BE46-06F7-AFCA-F645-9A55A8820153}"/>
              </a:ext>
            </a:extLst>
          </p:cNvPr>
          <p:cNvSpPr>
            <a:spLocks noGrp="1"/>
          </p:cNvSpPr>
          <p:nvPr>
            <p:ph type="ftr" sz="quarter" idx="11"/>
          </p:nvPr>
        </p:nvSpPr>
        <p:spPr/>
        <p:txBody>
          <a:bodyPr/>
          <a:lstStyle/>
          <a:p>
            <a:pPr>
              <a:defRPr/>
            </a:pPr>
            <a:r>
              <a:rPr lang="en-US"/>
              <a:t>Data Exploration and Pre-processing</a:t>
            </a:r>
          </a:p>
        </p:txBody>
      </p:sp>
      <p:sp>
        <p:nvSpPr>
          <p:cNvPr id="45060" name="Slide Number Placeholder 5">
            <a:extLst>
              <a:ext uri="{FF2B5EF4-FFF2-40B4-BE49-F238E27FC236}">
                <a16:creationId xmlns:a16="http://schemas.microsoft.com/office/drawing/2014/main" id="{660154B3-1509-EFD0-A755-A7FDD5388D3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198C4A8-D045-49B6-93A2-0BF32D685C13}" type="slidenum">
              <a:rPr lang="en-US" altLang="en-US" sz="1200" smtClean="0">
                <a:solidFill>
                  <a:srgbClr val="898989"/>
                </a:solidFill>
              </a:rPr>
              <a:pPr>
                <a:spcBef>
                  <a:spcPct val="0"/>
                </a:spcBef>
                <a:buFontTx/>
                <a:buNone/>
              </a:pPr>
              <a:t>28</a:t>
            </a:fld>
            <a:endParaRPr lang="en-US" altLang="en-US" sz="1200">
              <a:solidFill>
                <a:srgbClr val="898989"/>
              </a:solidFill>
            </a:endParaRPr>
          </a:p>
        </p:txBody>
      </p:sp>
      <p:pic>
        <p:nvPicPr>
          <p:cNvPr id="45061" name="Picture 2">
            <a:extLst>
              <a:ext uri="{FF2B5EF4-FFF2-40B4-BE49-F238E27FC236}">
                <a16:creationId xmlns:a16="http://schemas.microsoft.com/office/drawing/2014/main" id="{1B2B112E-0A46-3395-2BE7-6C91223902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444" r="12524"/>
          <a:stretch>
            <a:fillRect/>
          </a:stretch>
        </p:blipFill>
        <p:spPr bwMode="auto">
          <a:xfrm>
            <a:off x="0" y="0"/>
            <a:ext cx="9134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TextBox 6">
            <a:extLst>
              <a:ext uri="{FF2B5EF4-FFF2-40B4-BE49-F238E27FC236}">
                <a16:creationId xmlns:a16="http://schemas.microsoft.com/office/drawing/2014/main" id="{B207557D-FF2A-984D-C9A5-4DD7495129F5}"/>
              </a:ext>
            </a:extLst>
          </p:cNvPr>
          <p:cNvSpPr txBox="1">
            <a:spLocks noChangeArrowheads="1"/>
          </p:cNvSpPr>
          <p:nvPr/>
        </p:nvSpPr>
        <p:spPr bwMode="auto">
          <a:xfrm>
            <a:off x="-11113" y="-130175"/>
            <a:ext cx="9144001"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400" b="1">
                <a:solidFill>
                  <a:schemeClr val="bg1"/>
                </a:solidFill>
                <a:latin typeface="Arial" panose="020B0604020202020204" pitchFamily="34" charset="0"/>
              </a:rPr>
              <a:t>Data Transformation</a:t>
            </a:r>
          </a:p>
        </p:txBody>
      </p:sp>
      <p:sp>
        <p:nvSpPr>
          <p:cNvPr id="10" name="TextBox 9">
            <a:extLst>
              <a:ext uri="{FF2B5EF4-FFF2-40B4-BE49-F238E27FC236}">
                <a16:creationId xmlns:a16="http://schemas.microsoft.com/office/drawing/2014/main" id="{26A090FF-E2E0-8B64-5378-D0F07F663FAD}"/>
              </a:ext>
            </a:extLst>
          </p:cNvPr>
          <p:cNvSpPr txBox="1">
            <a:spLocks noChangeArrowheads="1"/>
          </p:cNvSpPr>
          <p:nvPr/>
        </p:nvSpPr>
        <p:spPr bwMode="auto">
          <a:xfrm>
            <a:off x="6553200" y="839788"/>
            <a:ext cx="25796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pPr>
            <a:r>
              <a:rPr lang="en-US" altLang="en-US" sz="2000" b="1">
                <a:solidFill>
                  <a:schemeClr val="bg1"/>
                </a:solidFill>
                <a:latin typeface="Open Sans" pitchFamily="34" charset="0"/>
              </a:rPr>
              <a:t>Normalization</a:t>
            </a:r>
          </a:p>
          <a:p>
            <a:pPr>
              <a:spcBef>
                <a:spcPct val="0"/>
              </a:spcBef>
            </a:pPr>
            <a:r>
              <a:rPr lang="en-US" altLang="en-US" sz="2000" b="1">
                <a:solidFill>
                  <a:schemeClr val="bg1"/>
                </a:solidFill>
                <a:latin typeface="Open Sans" pitchFamily="34" charset="0"/>
              </a:rPr>
              <a:t>Aggregation</a:t>
            </a:r>
          </a:p>
          <a:p>
            <a:pPr>
              <a:spcBef>
                <a:spcPct val="0"/>
              </a:spcBef>
            </a:pPr>
            <a:r>
              <a:rPr lang="en-US" altLang="en-US" sz="2000" b="1">
                <a:solidFill>
                  <a:schemeClr val="bg1"/>
                </a:solidFill>
                <a:latin typeface="Open Sans" pitchFamily="34" charset="0"/>
              </a:rPr>
              <a:t>Generalization</a:t>
            </a:r>
          </a:p>
          <a:p>
            <a:pPr>
              <a:spcBef>
                <a:spcPct val="0"/>
              </a:spcBef>
            </a:pPr>
            <a:r>
              <a:rPr lang="en-US" altLang="en-US" sz="2000" b="1">
                <a:solidFill>
                  <a:schemeClr val="bg1"/>
                </a:solidFill>
                <a:latin typeface="Open Sans" pitchFamily="34" charset="0"/>
              </a:rPr>
              <a:t>Smoothing</a:t>
            </a:r>
          </a:p>
          <a:p>
            <a:pPr>
              <a:spcBef>
                <a:spcPct val="0"/>
              </a:spcBef>
            </a:pPr>
            <a:r>
              <a:rPr lang="en-US" altLang="en-US" sz="2000" b="1">
                <a:solidFill>
                  <a:schemeClr val="bg1"/>
                </a:solidFill>
                <a:latin typeface="Open Sans" pitchFamily="34" charset="0"/>
              </a:rPr>
              <a:t>Attribute Construction</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0A0141D3-161F-3033-E9FD-DAE0F7A97257}"/>
              </a:ext>
            </a:extLst>
          </p:cNvPr>
          <p:cNvSpPr>
            <a:spLocks noGrp="1"/>
          </p:cNvSpPr>
          <p:nvPr>
            <p:ph type="title"/>
          </p:nvPr>
        </p:nvSpPr>
        <p:spPr/>
        <p:txBody>
          <a:bodyPr/>
          <a:lstStyle/>
          <a:p>
            <a:r>
              <a:rPr lang="en-US" altLang="en-US">
                <a:latin typeface="Open Sans" pitchFamily="34" charset="0"/>
              </a:rPr>
              <a:t>Normalization</a:t>
            </a:r>
          </a:p>
        </p:txBody>
      </p:sp>
      <p:sp>
        <p:nvSpPr>
          <p:cNvPr id="3" name="Content Placeholder 2">
            <a:extLst>
              <a:ext uri="{FF2B5EF4-FFF2-40B4-BE49-F238E27FC236}">
                <a16:creationId xmlns:a16="http://schemas.microsoft.com/office/drawing/2014/main" id="{ABED6248-4E72-2114-338F-6E9BDBBAA3F8}"/>
              </a:ext>
            </a:extLst>
          </p:cNvPr>
          <p:cNvSpPr>
            <a:spLocks noGrp="1"/>
          </p:cNvSpPr>
          <p:nvPr>
            <p:ph idx="1"/>
          </p:nvPr>
        </p:nvSpPr>
        <p:spPr>
          <a:xfrm>
            <a:off x="685800" y="1676400"/>
            <a:ext cx="8229600" cy="609600"/>
          </a:xfrm>
        </p:spPr>
        <p:txBody>
          <a:bodyPr>
            <a:normAutofit fontScale="92500"/>
          </a:bodyPr>
          <a:lstStyle/>
          <a:p>
            <a:pPr eaLnBrk="1" hangingPunct="1">
              <a:lnSpc>
                <a:spcPct val="110000"/>
              </a:lnSpc>
              <a:defRPr/>
            </a:pPr>
            <a:r>
              <a:rPr lang="en-US" b="1" dirty="0">
                <a:solidFill>
                  <a:srgbClr val="0070C0"/>
                </a:solidFill>
              </a:rPr>
              <a:t>min-max normalization</a:t>
            </a:r>
            <a:r>
              <a:rPr lang="en-US" dirty="0"/>
              <a:t>: </a:t>
            </a:r>
            <a:r>
              <a:rPr lang="en-US" sz="2600" dirty="0"/>
              <a:t>to [</a:t>
            </a:r>
            <a:r>
              <a:rPr lang="en-US" sz="2600" dirty="0" err="1"/>
              <a:t>new_min</a:t>
            </a:r>
            <a:r>
              <a:rPr lang="en-US" sz="2600" baseline="-25000" dirty="0" err="1"/>
              <a:t>A</a:t>
            </a:r>
            <a:r>
              <a:rPr lang="en-US" sz="2600" dirty="0"/>
              <a:t>, </a:t>
            </a:r>
            <a:r>
              <a:rPr lang="en-US" sz="2600" dirty="0" err="1"/>
              <a:t>new_max</a:t>
            </a:r>
            <a:r>
              <a:rPr lang="en-US" sz="2600" baseline="-25000" dirty="0" err="1"/>
              <a:t>A</a:t>
            </a:r>
            <a:r>
              <a:rPr lang="en-US" sz="2600" dirty="0"/>
              <a:t>]</a:t>
            </a:r>
            <a:endParaRPr lang="en-US" dirty="0"/>
          </a:p>
        </p:txBody>
      </p:sp>
      <p:sp>
        <p:nvSpPr>
          <p:cNvPr id="4" name="Date Placeholder 3">
            <a:extLst>
              <a:ext uri="{FF2B5EF4-FFF2-40B4-BE49-F238E27FC236}">
                <a16:creationId xmlns:a16="http://schemas.microsoft.com/office/drawing/2014/main" id="{A8D302DB-2B34-ECE1-8657-0832F88FF859}"/>
              </a:ext>
            </a:extLst>
          </p:cNvPr>
          <p:cNvSpPr>
            <a:spLocks noGrp="1"/>
          </p:cNvSpPr>
          <p:nvPr>
            <p:ph type="dt" sz="quarter" idx="10"/>
          </p:nvPr>
        </p:nvSpPr>
        <p:spPr/>
        <p:txBody>
          <a:bodyPr/>
          <a:lstStyle/>
          <a:p>
            <a:pPr>
              <a:defRPr/>
            </a:pPr>
            <a:fld id="{CED33170-D1B1-4185-914D-1B4D96A31DC2}" type="datetime1">
              <a:rPr lang="en-US"/>
              <a:pPr>
                <a:defRPr/>
              </a:pPr>
              <a:t>6/12/2023</a:t>
            </a:fld>
            <a:endParaRPr lang="en-US"/>
          </a:p>
        </p:txBody>
      </p:sp>
      <p:sp>
        <p:nvSpPr>
          <p:cNvPr id="5" name="Footer Placeholder 4">
            <a:extLst>
              <a:ext uri="{FF2B5EF4-FFF2-40B4-BE49-F238E27FC236}">
                <a16:creationId xmlns:a16="http://schemas.microsoft.com/office/drawing/2014/main" id="{1845D388-9256-F2AC-CD8C-269AC611F685}"/>
              </a:ext>
            </a:extLst>
          </p:cNvPr>
          <p:cNvSpPr>
            <a:spLocks noGrp="1"/>
          </p:cNvSpPr>
          <p:nvPr>
            <p:ph type="ftr" sz="quarter" idx="11"/>
          </p:nvPr>
        </p:nvSpPr>
        <p:spPr/>
        <p:txBody>
          <a:bodyPr/>
          <a:lstStyle/>
          <a:p>
            <a:pPr>
              <a:defRPr/>
            </a:pPr>
            <a:r>
              <a:rPr lang="en-US"/>
              <a:t>Data Exploration and Pre-processing</a:t>
            </a:r>
          </a:p>
        </p:txBody>
      </p:sp>
      <p:sp>
        <p:nvSpPr>
          <p:cNvPr id="47110" name="Slide Number Placeholder 5">
            <a:extLst>
              <a:ext uri="{FF2B5EF4-FFF2-40B4-BE49-F238E27FC236}">
                <a16:creationId xmlns:a16="http://schemas.microsoft.com/office/drawing/2014/main" id="{347D0866-61FF-80B8-4C56-890DC2904E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C698BD9-1F31-4472-88BB-28EF4D3CFA5E}" type="slidenum">
              <a:rPr lang="en-US" altLang="en-US" sz="1200" smtClean="0">
                <a:solidFill>
                  <a:srgbClr val="898989"/>
                </a:solidFill>
              </a:rPr>
              <a:pPr>
                <a:spcBef>
                  <a:spcPct val="0"/>
                </a:spcBef>
                <a:buFontTx/>
                <a:buNone/>
              </a:pPr>
              <a:t>29</a:t>
            </a:fld>
            <a:endParaRPr lang="en-US" altLang="en-US" sz="1200">
              <a:solidFill>
                <a:srgbClr val="898989"/>
              </a:solidFill>
            </a:endParaRPr>
          </a:p>
        </p:txBody>
      </p:sp>
      <p:sp>
        <p:nvSpPr>
          <p:cNvPr id="47111" name="Rectangle 3">
            <a:extLst>
              <a:ext uri="{FF2B5EF4-FFF2-40B4-BE49-F238E27FC236}">
                <a16:creationId xmlns:a16="http://schemas.microsoft.com/office/drawing/2014/main" id="{414AA20C-F2D7-F616-A50F-ABAF98ADA9F6}"/>
              </a:ext>
            </a:extLst>
          </p:cNvPr>
          <p:cNvSpPr txBox="1">
            <a:spLocks noChangeArrowheads="1"/>
          </p:cNvSpPr>
          <p:nvPr/>
        </p:nvSpPr>
        <p:spPr bwMode="auto">
          <a:xfrm>
            <a:off x="838200" y="2051050"/>
            <a:ext cx="83058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0000"/>
              </a:lnSpc>
            </a:pPr>
            <a:endParaRPr lang="en-US" altLang="en-US" sz="1800" dirty="0">
              <a:latin typeface="Open Sans" pitchFamily="34" charset="0"/>
            </a:endParaRPr>
          </a:p>
          <a:p>
            <a:pPr lvl="1" eaLnBrk="1" hangingPunct="1">
              <a:lnSpc>
                <a:spcPct val="120000"/>
              </a:lnSpc>
            </a:pPr>
            <a:endParaRPr lang="en-US" altLang="en-US" sz="1800" dirty="0">
              <a:latin typeface="Open Sans" pitchFamily="34" charset="0"/>
            </a:endParaRPr>
          </a:p>
          <a:p>
            <a:pPr lvl="1" eaLnBrk="1" hangingPunct="1">
              <a:lnSpc>
                <a:spcPct val="120000"/>
              </a:lnSpc>
            </a:pPr>
            <a:endParaRPr lang="en-US" altLang="en-US" sz="1800" dirty="0">
              <a:latin typeface="Open Sans" pitchFamily="34" charset="0"/>
            </a:endParaRPr>
          </a:p>
          <a:p>
            <a:pPr lvl="1" eaLnBrk="1" hangingPunct="1">
              <a:lnSpc>
                <a:spcPct val="120000"/>
              </a:lnSpc>
            </a:pPr>
            <a:endParaRPr lang="en-US" altLang="en-US" sz="1800" dirty="0">
              <a:latin typeface="Open Sans" pitchFamily="34" charset="0"/>
            </a:endParaRPr>
          </a:p>
          <a:p>
            <a:pPr lvl="1" eaLnBrk="1" hangingPunct="1">
              <a:lnSpc>
                <a:spcPct val="120000"/>
              </a:lnSpc>
            </a:pPr>
            <a:r>
              <a:rPr lang="en-US" altLang="en-US" sz="2400" dirty="0">
                <a:latin typeface="Open Sans" pitchFamily="34" charset="0"/>
              </a:rPr>
              <a:t>Ex.  Let income range $12,000 to $98,000 normalized to [0.0, 1.0].  Then $73,600 is mapped to:  </a:t>
            </a:r>
          </a:p>
          <a:p>
            <a:pPr eaLnBrk="1" hangingPunct="1">
              <a:lnSpc>
                <a:spcPct val="120000"/>
              </a:lnSpc>
            </a:pPr>
            <a:endParaRPr lang="en-US" altLang="en-US" sz="1800" dirty="0">
              <a:latin typeface="Open Sans" pitchFamily="34" charset="0"/>
            </a:endParaRPr>
          </a:p>
        </p:txBody>
      </p:sp>
      <p:graphicFrame>
        <p:nvGraphicFramePr>
          <p:cNvPr id="47112" name="Object 10">
            <a:extLst>
              <a:ext uri="{FF2B5EF4-FFF2-40B4-BE49-F238E27FC236}">
                <a16:creationId xmlns:a16="http://schemas.microsoft.com/office/drawing/2014/main" id="{90ACDE93-F0C1-0C09-5753-411081C3C565}"/>
              </a:ext>
            </a:extLst>
          </p:cNvPr>
          <p:cNvGraphicFramePr>
            <a:graphicFrameLocks noChangeAspect="1"/>
          </p:cNvGraphicFramePr>
          <p:nvPr/>
        </p:nvGraphicFramePr>
        <p:xfrm>
          <a:off x="2514600" y="4648200"/>
          <a:ext cx="4843463" cy="914400"/>
        </p:xfrm>
        <a:graphic>
          <a:graphicData uri="http://schemas.openxmlformats.org/presentationml/2006/ole">
            <mc:AlternateContent xmlns:mc="http://schemas.openxmlformats.org/markup-compatibility/2006">
              <mc:Choice xmlns:v="urn:schemas-microsoft-com:vml" Requires="v">
                <p:oleObj name="Equation" r:id="rId2" imgW="2222500" imgH="419100" progId="Equation.3">
                  <p:embed/>
                </p:oleObj>
              </mc:Choice>
              <mc:Fallback>
                <p:oleObj name="Equation" r:id="rId2" imgW="2222500" imgH="419100" progId="Equation.3">
                  <p:embed/>
                  <p:pic>
                    <p:nvPicPr>
                      <p:cNvPr id="47112" name="Object 10">
                        <a:extLst>
                          <a:ext uri="{FF2B5EF4-FFF2-40B4-BE49-F238E27FC236}">
                            <a16:creationId xmlns:a16="http://schemas.microsoft.com/office/drawing/2014/main" id="{90ACDE93-F0C1-0C09-5753-411081C3C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648200"/>
                        <a:ext cx="484346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3" name="Object 4">
            <a:extLst>
              <a:ext uri="{FF2B5EF4-FFF2-40B4-BE49-F238E27FC236}">
                <a16:creationId xmlns:a16="http://schemas.microsoft.com/office/drawing/2014/main" id="{92DCEC6E-9E3A-8D72-B591-1F281DAA3B7E}"/>
              </a:ext>
            </a:extLst>
          </p:cNvPr>
          <p:cNvGraphicFramePr>
            <a:graphicFrameLocks noChangeAspect="1"/>
          </p:cNvGraphicFramePr>
          <p:nvPr/>
        </p:nvGraphicFramePr>
        <p:xfrm>
          <a:off x="1152525" y="2438400"/>
          <a:ext cx="7658100" cy="914400"/>
        </p:xfrm>
        <a:graphic>
          <a:graphicData uri="http://schemas.openxmlformats.org/presentationml/2006/ole">
            <mc:AlternateContent xmlns:mc="http://schemas.openxmlformats.org/markup-compatibility/2006">
              <mc:Choice xmlns:v="urn:schemas-microsoft-com:vml" Requires="v">
                <p:oleObj name="Equation" r:id="rId4" imgW="3340100" imgH="393700" progId="Equation.3">
                  <p:embed/>
                </p:oleObj>
              </mc:Choice>
              <mc:Fallback>
                <p:oleObj name="Equation" r:id="rId4" imgW="3340100" imgH="393700" progId="Equation.3">
                  <p:embed/>
                  <p:pic>
                    <p:nvPicPr>
                      <p:cNvPr id="47113" name="Object 4">
                        <a:extLst>
                          <a:ext uri="{FF2B5EF4-FFF2-40B4-BE49-F238E27FC236}">
                            <a16:creationId xmlns:a16="http://schemas.microsoft.com/office/drawing/2014/main" id="{92DCEC6E-9E3A-8D72-B591-1F281DAA3B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525" y="2438400"/>
                        <a:ext cx="7658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4" name="Object 7">
            <a:extLst>
              <a:ext uri="{FF2B5EF4-FFF2-40B4-BE49-F238E27FC236}">
                <a16:creationId xmlns:a16="http://schemas.microsoft.com/office/drawing/2014/main" id="{A5B97D7B-0C67-1D97-5653-7A8300778215}"/>
              </a:ext>
            </a:extLst>
          </p:cNvPr>
          <p:cNvGraphicFramePr>
            <a:graphicFrameLocks noChangeAspect="1"/>
          </p:cNvGraphicFramePr>
          <p:nvPr/>
        </p:nvGraphicFramePr>
        <p:xfrm>
          <a:off x="4514850" y="3249613"/>
          <a:ext cx="112713" cy="214312"/>
        </p:xfrm>
        <a:graphic>
          <a:graphicData uri="http://schemas.openxmlformats.org/presentationml/2006/ole">
            <mc:AlternateContent xmlns:mc="http://schemas.openxmlformats.org/markup-compatibility/2006">
              <mc:Choice xmlns:v="urn:schemas-microsoft-com:vml" Requires="v">
                <p:oleObj name="Equation" r:id="rId6" imgW="114151" imgH="215619" progId="Equation.3">
                  <p:embed/>
                </p:oleObj>
              </mc:Choice>
              <mc:Fallback>
                <p:oleObj name="Equation" r:id="rId6" imgW="114151" imgH="215619" progId="Equation.3">
                  <p:embed/>
                  <p:pic>
                    <p:nvPicPr>
                      <p:cNvPr id="47114" name="Object 7">
                        <a:extLst>
                          <a:ext uri="{FF2B5EF4-FFF2-40B4-BE49-F238E27FC236}">
                            <a16:creationId xmlns:a16="http://schemas.microsoft.com/office/drawing/2014/main" id="{A5B97D7B-0C67-1D97-5653-7A83007782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4850" y="3249613"/>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5DA2E6F9-7E14-A3EC-4255-150539456537}"/>
              </a:ext>
            </a:extLst>
          </p:cNvPr>
          <p:cNvSpPr>
            <a:spLocks noGrp="1"/>
          </p:cNvSpPr>
          <p:nvPr>
            <p:ph type="title"/>
          </p:nvPr>
        </p:nvSpPr>
        <p:spPr/>
        <p:txBody>
          <a:bodyPr/>
          <a:lstStyle/>
          <a:p>
            <a:r>
              <a:rPr lang="en-US" altLang="en-US">
                <a:latin typeface="Open Sans" pitchFamily="34" charset="0"/>
              </a:rPr>
              <a:t>Normalization </a:t>
            </a:r>
            <a:r>
              <a:rPr lang="en-US" altLang="en-US" sz="3200">
                <a:latin typeface="Open Sans" pitchFamily="34" charset="0"/>
              </a:rPr>
              <a:t>(cont.)</a:t>
            </a:r>
            <a:endParaRPr lang="en-US" altLang="en-US">
              <a:latin typeface="Open Sans" pitchFamily="34" charset="0"/>
            </a:endParaRPr>
          </a:p>
        </p:txBody>
      </p:sp>
      <p:sp>
        <p:nvSpPr>
          <p:cNvPr id="48131" name="Content Placeholder 2">
            <a:extLst>
              <a:ext uri="{FF2B5EF4-FFF2-40B4-BE49-F238E27FC236}">
                <a16:creationId xmlns:a16="http://schemas.microsoft.com/office/drawing/2014/main" id="{FAF864C4-0FAA-26A1-0AED-C5F126F7F2F1}"/>
              </a:ext>
            </a:extLst>
          </p:cNvPr>
          <p:cNvSpPr>
            <a:spLocks noGrp="1"/>
          </p:cNvSpPr>
          <p:nvPr>
            <p:ph idx="1"/>
          </p:nvPr>
        </p:nvSpPr>
        <p:spPr>
          <a:xfrm>
            <a:off x="685800" y="1676400"/>
            <a:ext cx="8229600" cy="609600"/>
          </a:xfrm>
        </p:spPr>
        <p:txBody>
          <a:bodyPr/>
          <a:lstStyle/>
          <a:p>
            <a:pPr eaLnBrk="1" hangingPunct="1">
              <a:lnSpc>
                <a:spcPct val="110000"/>
              </a:lnSpc>
            </a:pPr>
            <a:r>
              <a:rPr lang="en-US" altLang="en-US" b="1">
                <a:solidFill>
                  <a:srgbClr val="0070C0"/>
                </a:solidFill>
                <a:latin typeface="Open Sans" pitchFamily="34" charset="0"/>
              </a:rPr>
              <a:t>z-score normalization</a:t>
            </a:r>
            <a:endParaRPr lang="en-US" altLang="en-US">
              <a:latin typeface="Open Sans" pitchFamily="34" charset="0"/>
            </a:endParaRPr>
          </a:p>
        </p:txBody>
      </p:sp>
      <p:sp>
        <p:nvSpPr>
          <p:cNvPr id="4" name="Date Placeholder 3">
            <a:extLst>
              <a:ext uri="{FF2B5EF4-FFF2-40B4-BE49-F238E27FC236}">
                <a16:creationId xmlns:a16="http://schemas.microsoft.com/office/drawing/2014/main" id="{D4141763-0A9D-1F52-B845-27C886F5AC44}"/>
              </a:ext>
            </a:extLst>
          </p:cNvPr>
          <p:cNvSpPr>
            <a:spLocks noGrp="1"/>
          </p:cNvSpPr>
          <p:nvPr>
            <p:ph type="dt" sz="quarter" idx="10"/>
          </p:nvPr>
        </p:nvSpPr>
        <p:spPr/>
        <p:txBody>
          <a:bodyPr/>
          <a:lstStyle/>
          <a:p>
            <a:pPr>
              <a:defRPr/>
            </a:pPr>
            <a:fld id="{71F2B0C5-52CB-4986-B4DB-8D3060449C23}" type="datetime1">
              <a:rPr lang="en-US"/>
              <a:pPr>
                <a:defRPr/>
              </a:pPr>
              <a:t>6/12/2023</a:t>
            </a:fld>
            <a:endParaRPr lang="en-US"/>
          </a:p>
        </p:txBody>
      </p:sp>
      <p:sp>
        <p:nvSpPr>
          <p:cNvPr id="5" name="Footer Placeholder 4">
            <a:extLst>
              <a:ext uri="{FF2B5EF4-FFF2-40B4-BE49-F238E27FC236}">
                <a16:creationId xmlns:a16="http://schemas.microsoft.com/office/drawing/2014/main" id="{87B2237A-84E8-D5F6-3E33-245C23B5DB7F}"/>
              </a:ext>
            </a:extLst>
          </p:cNvPr>
          <p:cNvSpPr>
            <a:spLocks noGrp="1"/>
          </p:cNvSpPr>
          <p:nvPr>
            <p:ph type="ftr" sz="quarter" idx="11"/>
          </p:nvPr>
        </p:nvSpPr>
        <p:spPr/>
        <p:txBody>
          <a:bodyPr/>
          <a:lstStyle/>
          <a:p>
            <a:pPr>
              <a:defRPr/>
            </a:pPr>
            <a:r>
              <a:rPr lang="en-US"/>
              <a:t>Data Exploration and Pre-processing</a:t>
            </a:r>
          </a:p>
        </p:txBody>
      </p:sp>
      <p:sp>
        <p:nvSpPr>
          <p:cNvPr id="48134" name="Slide Number Placeholder 5">
            <a:extLst>
              <a:ext uri="{FF2B5EF4-FFF2-40B4-BE49-F238E27FC236}">
                <a16:creationId xmlns:a16="http://schemas.microsoft.com/office/drawing/2014/main" id="{976BC9ED-EAD6-FAB9-F96E-D85ACBD296F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3DF28E4-AC2E-41DE-9EA0-F9C71809B92D}"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sp>
        <p:nvSpPr>
          <p:cNvPr id="7" name="Rectangle 3">
            <a:extLst>
              <a:ext uri="{FF2B5EF4-FFF2-40B4-BE49-F238E27FC236}">
                <a16:creationId xmlns:a16="http://schemas.microsoft.com/office/drawing/2014/main" id="{F399CFDE-81AE-AD5F-F7DD-BF23F3D396F2}"/>
              </a:ext>
            </a:extLst>
          </p:cNvPr>
          <p:cNvSpPr txBox="1">
            <a:spLocks noChangeArrowheads="1"/>
          </p:cNvSpPr>
          <p:nvPr/>
        </p:nvSpPr>
        <p:spPr bwMode="auto">
          <a:xfrm>
            <a:off x="838200" y="2286000"/>
            <a:ext cx="8305800" cy="4171950"/>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lnSpc>
                <a:spcPct val="120000"/>
              </a:lnSpc>
              <a:buFont typeface="Arial" panose="020B0604020202020204" pitchFamily="34" charset="0"/>
              <a:buNone/>
              <a:defRPr/>
            </a:pPr>
            <a:r>
              <a:rPr lang="el-GR" sz="2000" dirty="0"/>
              <a:t>μ</a:t>
            </a:r>
            <a:r>
              <a:rPr lang="en-US" sz="2000" dirty="0"/>
              <a:t>: mean, </a:t>
            </a:r>
            <a:r>
              <a:rPr lang="el-GR" sz="2000" dirty="0"/>
              <a:t>σ</a:t>
            </a:r>
            <a:r>
              <a:rPr lang="en-US" sz="2000" dirty="0"/>
              <a:t>: standard deviation</a:t>
            </a:r>
          </a:p>
          <a:p>
            <a:pPr lvl="1" eaLnBrk="1" hangingPunct="1">
              <a:lnSpc>
                <a:spcPct val="120000"/>
              </a:lnSpc>
              <a:defRPr/>
            </a:pPr>
            <a:endParaRPr lang="en-US" sz="1800" dirty="0"/>
          </a:p>
          <a:p>
            <a:pPr lvl="1" eaLnBrk="1" hangingPunct="1">
              <a:lnSpc>
                <a:spcPct val="120000"/>
              </a:lnSpc>
              <a:defRPr/>
            </a:pPr>
            <a:endParaRPr lang="en-US" sz="1800" dirty="0"/>
          </a:p>
          <a:p>
            <a:pPr lvl="1" eaLnBrk="1" hangingPunct="1">
              <a:lnSpc>
                <a:spcPct val="120000"/>
              </a:lnSpc>
              <a:defRPr/>
            </a:pPr>
            <a:endParaRPr lang="en-US" sz="1800" dirty="0"/>
          </a:p>
          <a:p>
            <a:pPr lvl="1" eaLnBrk="1" hangingPunct="1">
              <a:lnSpc>
                <a:spcPct val="120000"/>
              </a:lnSpc>
              <a:defRPr/>
            </a:pPr>
            <a:endParaRPr lang="en-US" sz="2400" dirty="0"/>
          </a:p>
          <a:p>
            <a:pPr lvl="1" eaLnBrk="1" hangingPunct="1">
              <a:lnSpc>
                <a:spcPct val="120000"/>
              </a:lnSpc>
              <a:defRPr/>
            </a:pPr>
            <a:r>
              <a:rPr lang="en-US" sz="2400" dirty="0"/>
              <a:t>Ex. Let </a:t>
            </a:r>
            <a:r>
              <a:rPr lang="el-GR" sz="2400" dirty="0"/>
              <a:t>μ</a:t>
            </a:r>
            <a:r>
              <a:rPr lang="en-US" sz="2400" dirty="0"/>
              <a:t> = 54,000, </a:t>
            </a:r>
            <a:r>
              <a:rPr lang="el-GR" sz="2400" dirty="0"/>
              <a:t>σ</a:t>
            </a:r>
            <a:r>
              <a:rPr lang="en-US" sz="2400" dirty="0"/>
              <a:t> = 16,000.  Then:</a:t>
            </a:r>
          </a:p>
          <a:p>
            <a:pPr eaLnBrk="1" hangingPunct="1">
              <a:lnSpc>
                <a:spcPct val="120000"/>
              </a:lnSpc>
              <a:defRPr/>
            </a:pPr>
            <a:endParaRPr lang="en-US" sz="1800" dirty="0"/>
          </a:p>
        </p:txBody>
      </p:sp>
      <p:graphicFrame>
        <p:nvGraphicFramePr>
          <p:cNvPr id="48136" name="Object 7">
            <a:extLst>
              <a:ext uri="{FF2B5EF4-FFF2-40B4-BE49-F238E27FC236}">
                <a16:creationId xmlns:a16="http://schemas.microsoft.com/office/drawing/2014/main" id="{960B7297-DF2C-ED02-1EAD-78FBD2747061}"/>
              </a:ext>
            </a:extLst>
          </p:cNvPr>
          <p:cNvGraphicFramePr>
            <a:graphicFrameLocks noChangeAspect="1"/>
          </p:cNvGraphicFramePr>
          <p:nvPr/>
        </p:nvGraphicFramePr>
        <p:xfrm>
          <a:off x="4514850" y="3249613"/>
          <a:ext cx="112713" cy="214312"/>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48136" name="Object 7">
                        <a:extLst>
                          <a:ext uri="{FF2B5EF4-FFF2-40B4-BE49-F238E27FC236}">
                            <a16:creationId xmlns:a16="http://schemas.microsoft.com/office/drawing/2014/main" id="{960B7297-DF2C-ED02-1EAD-78FBD2747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249613"/>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7" name="Object 5">
            <a:extLst>
              <a:ext uri="{FF2B5EF4-FFF2-40B4-BE49-F238E27FC236}">
                <a16:creationId xmlns:a16="http://schemas.microsoft.com/office/drawing/2014/main" id="{3B356377-2CFA-3894-DE6B-39532F013ABF}"/>
              </a:ext>
            </a:extLst>
          </p:cNvPr>
          <p:cNvGraphicFramePr>
            <a:graphicFrameLocks noChangeAspect="1"/>
          </p:cNvGraphicFramePr>
          <p:nvPr/>
        </p:nvGraphicFramePr>
        <p:xfrm>
          <a:off x="2743200" y="2749550"/>
          <a:ext cx="2895600" cy="1358900"/>
        </p:xfrm>
        <a:graphic>
          <a:graphicData uri="http://schemas.openxmlformats.org/presentationml/2006/ole">
            <mc:AlternateContent xmlns:mc="http://schemas.openxmlformats.org/markup-compatibility/2006">
              <mc:Choice xmlns:v="urn:schemas-microsoft-com:vml" Requires="v">
                <p:oleObj name="Equation" r:id="rId4" imgW="634725" imgH="393529" progId="Equation.3">
                  <p:embed/>
                </p:oleObj>
              </mc:Choice>
              <mc:Fallback>
                <p:oleObj name="Equation" r:id="rId4" imgW="634725" imgH="393529" progId="Equation.3">
                  <p:embed/>
                  <p:pic>
                    <p:nvPicPr>
                      <p:cNvPr id="48137" name="Object 5">
                        <a:extLst>
                          <a:ext uri="{FF2B5EF4-FFF2-40B4-BE49-F238E27FC236}">
                            <a16:creationId xmlns:a16="http://schemas.microsoft.com/office/drawing/2014/main" id="{3B356377-2CFA-3894-DE6B-39532F013A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2749550"/>
                        <a:ext cx="28956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8" name="Object 12">
            <a:extLst>
              <a:ext uri="{FF2B5EF4-FFF2-40B4-BE49-F238E27FC236}">
                <a16:creationId xmlns:a16="http://schemas.microsoft.com/office/drawing/2014/main" id="{A91928E9-C4F1-25EF-2BF8-42CD53B36233}"/>
              </a:ext>
            </a:extLst>
          </p:cNvPr>
          <p:cNvGraphicFramePr>
            <a:graphicFrameLocks noChangeAspect="1"/>
          </p:cNvGraphicFramePr>
          <p:nvPr/>
        </p:nvGraphicFramePr>
        <p:xfrm>
          <a:off x="3094038" y="5159375"/>
          <a:ext cx="2841625" cy="795338"/>
        </p:xfrm>
        <a:graphic>
          <a:graphicData uri="http://schemas.openxmlformats.org/presentationml/2006/ole">
            <mc:AlternateContent xmlns:mc="http://schemas.openxmlformats.org/markup-compatibility/2006">
              <mc:Choice xmlns:v="urn:schemas-microsoft-com:vml" Requires="v">
                <p:oleObj name="Equation" r:id="rId6" imgW="1498600" imgH="419100" progId="Equation.3">
                  <p:embed/>
                </p:oleObj>
              </mc:Choice>
              <mc:Fallback>
                <p:oleObj name="Equation" r:id="rId6" imgW="1498600" imgH="419100" progId="Equation.3">
                  <p:embed/>
                  <p:pic>
                    <p:nvPicPr>
                      <p:cNvPr id="48138" name="Object 12">
                        <a:extLst>
                          <a:ext uri="{FF2B5EF4-FFF2-40B4-BE49-F238E27FC236}">
                            <a16:creationId xmlns:a16="http://schemas.microsoft.com/office/drawing/2014/main" id="{A91928E9-C4F1-25EF-2BF8-42CD53B362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4038" y="5159375"/>
                        <a:ext cx="28416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4A6DECBF-EDCF-376F-A004-F604982A7B36}"/>
              </a:ext>
            </a:extLst>
          </p:cNvPr>
          <p:cNvSpPr>
            <a:spLocks noGrp="1"/>
          </p:cNvSpPr>
          <p:nvPr>
            <p:ph type="title"/>
          </p:nvPr>
        </p:nvSpPr>
        <p:spPr>
          <a:xfrm>
            <a:off x="2057400" y="319088"/>
            <a:ext cx="6324600" cy="1143000"/>
          </a:xfrm>
        </p:spPr>
        <p:txBody>
          <a:bodyPr/>
          <a:lstStyle/>
          <a:p>
            <a:r>
              <a:rPr lang="en-US" altLang="en-US">
                <a:latin typeface="Open Sans" pitchFamily="34" charset="0"/>
              </a:rPr>
              <a:t>Normalization </a:t>
            </a:r>
            <a:r>
              <a:rPr lang="en-US" altLang="en-US" sz="3200">
                <a:latin typeface="Open Sans" pitchFamily="34" charset="0"/>
              </a:rPr>
              <a:t>(cont.)</a:t>
            </a:r>
            <a:endParaRPr lang="en-US" altLang="en-US">
              <a:latin typeface="Open Sans" pitchFamily="34" charset="0"/>
            </a:endParaRPr>
          </a:p>
        </p:txBody>
      </p:sp>
      <p:sp>
        <p:nvSpPr>
          <p:cNvPr id="49155" name="Content Placeholder 2">
            <a:extLst>
              <a:ext uri="{FF2B5EF4-FFF2-40B4-BE49-F238E27FC236}">
                <a16:creationId xmlns:a16="http://schemas.microsoft.com/office/drawing/2014/main" id="{2CEDAEB2-CEC7-6306-782D-BD0FC8CA3C79}"/>
              </a:ext>
            </a:extLst>
          </p:cNvPr>
          <p:cNvSpPr>
            <a:spLocks noGrp="1"/>
          </p:cNvSpPr>
          <p:nvPr>
            <p:ph idx="1"/>
          </p:nvPr>
        </p:nvSpPr>
        <p:spPr>
          <a:xfrm>
            <a:off x="685800" y="1676400"/>
            <a:ext cx="8229600" cy="609600"/>
          </a:xfrm>
        </p:spPr>
        <p:txBody>
          <a:bodyPr/>
          <a:lstStyle/>
          <a:p>
            <a:pPr eaLnBrk="1" hangingPunct="1">
              <a:lnSpc>
                <a:spcPct val="110000"/>
              </a:lnSpc>
            </a:pPr>
            <a:r>
              <a:rPr lang="en-US" altLang="en-US" b="1">
                <a:solidFill>
                  <a:srgbClr val="0070C0"/>
                </a:solidFill>
                <a:latin typeface="Open Sans" pitchFamily="34" charset="0"/>
              </a:rPr>
              <a:t>Normalization by decimal scaling</a:t>
            </a:r>
            <a:endParaRPr lang="en-US" altLang="en-US">
              <a:latin typeface="Open Sans" pitchFamily="34" charset="0"/>
            </a:endParaRPr>
          </a:p>
        </p:txBody>
      </p:sp>
      <p:sp>
        <p:nvSpPr>
          <p:cNvPr id="4" name="Date Placeholder 3">
            <a:extLst>
              <a:ext uri="{FF2B5EF4-FFF2-40B4-BE49-F238E27FC236}">
                <a16:creationId xmlns:a16="http://schemas.microsoft.com/office/drawing/2014/main" id="{9900239A-D7DB-9C2F-459E-2EE58AF5D899}"/>
              </a:ext>
            </a:extLst>
          </p:cNvPr>
          <p:cNvSpPr>
            <a:spLocks noGrp="1"/>
          </p:cNvSpPr>
          <p:nvPr>
            <p:ph type="dt" sz="quarter" idx="10"/>
          </p:nvPr>
        </p:nvSpPr>
        <p:spPr/>
        <p:txBody>
          <a:bodyPr/>
          <a:lstStyle/>
          <a:p>
            <a:pPr>
              <a:defRPr/>
            </a:pPr>
            <a:fld id="{DDD6641E-61F0-4A42-BD75-948A2E72FF6D}" type="datetime1">
              <a:rPr lang="en-US"/>
              <a:pPr>
                <a:defRPr/>
              </a:pPr>
              <a:t>6/12/2023</a:t>
            </a:fld>
            <a:endParaRPr lang="en-US"/>
          </a:p>
        </p:txBody>
      </p:sp>
      <p:sp>
        <p:nvSpPr>
          <p:cNvPr id="5" name="Footer Placeholder 4">
            <a:extLst>
              <a:ext uri="{FF2B5EF4-FFF2-40B4-BE49-F238E27FC236}">
                <a16:creationId xmlns:a16="http://schemas.microsoft.com/office/drawing/2014/main" id="{7776EC1F-F08A-8057-676E-54D5B3DF545C}"/>
              </a:ext>
            </a:extLst>
          </p:cNvPr>
          <p:cNvSpPr>
            <a:spLocks noGrp="1"/>
          </p:cNvSpPr>
          <p:nvPr>
            <p:ph type="ftr" sz="quarter" idx="11"/>
          </p:nvPr>
        </p:nvSpPr>
        <p:spPr/>
        <p:txBody>
          <a:bodyPr/>
          <a:lstStyle/>
          <a:p>
            <a:pPr>
              <a:defRPr/>
            </a:pPr>
            <a:r>
              <a:rPr lang="en-US"/>
              <a:t>Data Exploration and Pre-processing</a:t>
            </a:r>
          </a:p>
        </p:txBody>
      </p:sp>
      <p:sp>
        <p:nvSpPr>
          <p:cNvPr id="49158" name="Slide Number Placeholder 5">
            <a:extLst>
              <a:ext uri="{FF2B5EF4-FFF2-40B4-BE49-F238E27FC236}">
                <a16:creationId xmlns:a16="http://schemas.microsoft.com/office/drawing/2014/main" id="{4C6148A6-FF4A-21CF-DE2D-3D3B4927C04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33550F6-1653-446E-8C7E-49980F37384C}" type="slidenum">
              <a:rPr lang="en-US" altLang="en-US" sz="1200" smtClean="0">
                <a:solidFill>
                  <a:srgbClr val="898989"/>
                </a:solidFill>
              </a:rPr>
              <a:pPr>
                <a:spcBef>
                  <a:spcPct val="0"/>
                </a:spcBef>
                <a:buFontTx/>
                <a:buNone/>
              </a:pPr>
              <a:t>31</a:t>
            </a:fld>
            <a:endParaRPr lang="en-US" altLang="en-US" sz="1200">
              <a:solidFill>
                <a:srgbClr val="898989"/>
              </a:solidFill>
            </a:endParaRPr>
          </a:p>
        </p:txBody>
      </p:sp>
      <p:sp>
        <p:nvSpPr>
          <p:cNvPr id="7" name="Rectangle 3">
            <a:extLst>
              <a:ext uri="{FF2B5EF4-FFF2-40B4-BE49-F238E27FC236}">
                <a16:creationId xmlns:a16="http://schemas.microsoft.com/office/drawing/2014/main" id="{91A8A43A-6A57-2946-5498-BA02724992DC}"/>
              </a:ext>
            </a:extLst>
          </p:cNvPr>
          <p:cNvSpPr txBox="1">
            <a:spLocks noChangeArrowheads="1"/>
          </p:cNvSpPr>
          <p:nvPr/>
        </p:nvSpPr>
        <p:spPr bwMode="auto">
          <a:xfrm>
            <a:off x="838200" y="2286000"/>
            <a:ext cx="8305800" cy="4171950"/>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eaLnBrk="1" hangingPunct="1">
              <a:lnSpc>
                <a:spcPct val="120000"/>
              </a:lnSpc>
              <a:defRPr/>
            </a:pPr>
            <a:endParaRPr lang="en-US" sz="1800" dirty="0"/>
          </a:p>
          <a:p>
            <a:pPr lvl="1" eaLnBrk="1" hangingPunct="1">
              <a:lnSpc>
                <a:spcPct val="120000"/>
              </a:lnSpc>
              <a:defRPr/>
            </a:pPr>
            <a:endParaRPr lang="en-US" sz="1800" dirty="0"/>
          </a:p>
          <a:p>
            <a:pPr lvl="1" eaLnBrk="1" hangingPunct="1">
              <a:lnSpc>
                <a:spcPct val="120000"/>
              </a:lnSpc>
              <a:defRPr/>
            </a:pPr>
            <a:endParaRPr lang="en-US" sz="1800" dirty="0"/>
          </a:p>
          <a:p>
            <a:pPr lvl="1" eaLnBrk="1" hangingPunct="1">
              <a:lnSpc>
                <a:spcPct val="120000"/>
              </a:lnSpc>
              <a:defRPr/>
            </a:pPr>
            <a:endParaRPr lang="en-US" sz="2400" dirty="0"/>
          </a:p>
          <a:p>
            <a:pPr marL="457200" lvl="1" indent="0" eaLnBrk="1" hangingPunct="1">
              <a:lnSpc>
                <a:spcPct val="120000"/>
              </a:lnSpc>
              <a:buFont typeface="Arial" panose="020B0604020202020204" pitchFamily="34" charset="0"/>
              <a:buNone/>
              <a:defRPr/>
            </a:pPr>
            <a:endParaRPr lang="en-US" sz="2400" dirty="0"/>
          </a:p>
          <a:p>
            <a:pPr marL="0" lvl="1" indent="0" algn="ctr" eaLnBrk="1" hangingPunct="1">
              <a:lnSpc>
                <a:spcPct val="120000"/>
              </a:lnSpc>
              <a:buFont typeface="Arial" panose="020B0604020202020204" pitchFamily="34" charset="0"/>
              <a:buNone/>
              <a:defRPr/>
            </a:pPr>
            <a:r>
              <a:rPr lang="en-US" sz="2400" dirty="0"/>
              <a:t>Where j is the smallest integer such that Max(|ν’|) &lt; 1</a:t>
            </a:r>
          </a:p>
          <a:p>
            <a:pPr eaLnBrk="1" hangingPunct="1">
              <a:lnSpc>
                <a:spcPct val="120000"/>
              </a:lnSpc>
              <a:defRPr/>
            </a:pPr>
            <a:endParaRPr lang="en-US" sz="1800" dirty="0"/>
          </a:p>
        </p:txBody>
      </p:sp>
      <p:graphicFrame>
        <p:nvGraphicFramePr>
          <p:cNvPr id="49160" name="Object 7">
            <a:extLst>
              <a:ext uri="{FF2B5EF4-FFF2-40B4-BE49-F238E27FC236}">
                <a16:creationId xmlns:a16="http://schemas.microsoft.com/office/drawing/2014/main" id="{964C2464-77B9-8F02-63C4-E958CCEA6D3A}"/>
              </a:ext>
            </a:extLst>
          </p:cNvPr>
          <p:cNvGraphicFramePr>
            <a:graphicFrameLocks noChangeAspect="1"/>
          </p:cNvGraphicFramePr>
          <p:nvPr/>
        </p:nvGraphicFramePr>
        <p:xfrm>
          <a:off x="4514850" y="3249613"/>
          <a:ext cx="112713" cy="214312"/>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49160" name="Object 7">
                        <a:extLst>
                          <a:ext uri="{FF2B5EF4-FFF2-40B4-BE49-F238E27FC236}">
                            <a16:creationId xmlns:a16="http://schemas.microsoft.com/office/drawing/2014/main" id="{964C2464-77B9-8F02-63C4-E958CCEA6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249613"/>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1" name="Object 6">
            <a:extLst>
              <a:ext uri="{FF2B5EF4-FFF2-40B4-BE49-F238E27FC236}">
                <a16:creationId xmlns:a16="http://schemas.microsoft.com/office/drawing/2014/main" id="{1C228042-3831-EE3A-E361-7DA012C58C59}"/>
              </a:ext>
            </a:extLst>
          </p:cNvPr>
          <p:cNvGraphicFramePr>
            <a:graphicFrameLocks noChangeAspect="1"/>
          </p:cNvGraphicFramePr>
          <p:nvPr/>
        </p:nvGraphicFramePr>
        <p:xfrm>
          <a:off x="3200400" y="2438400"/>
          <a:ext cx="1943100" cy="1544638"/>
        </p:xfrm>
        <a:graphic>
          <a:graphicData uri="http://schemas.openxmlformats.org/presentationml/2006/ole">
            <mc:AlternateContent xmlns:mc="http://schemas.openxmlformats.org/markup-compatibility/2006">
              <mc:Choice xmlns:v="urn:schemas-microsoft-com:vml" Requires="v">
                <p:oleObj name="Equation" r:id="rId4" imgW="495085" imgH="393529" progId="Equation.3">
                  <p:embed/>
                </p:oleObj>
              </mc:Choice>
              <mc:Fallback>
                <p:oleObj name="Equation" r:id="rId4" imgW="495085" imgH="393529" progId="Equation.3">
                  <p:embed/>
                  <p:pic>
                    <p:nvPicPr>
                      <p:cNvPr id="49161" name="Object 6">
                        <a:extLst>
                          <a:ext uri="{FF2B5EF4-FFF2-40B4-BE49-F238E27FC236}">
                            <a16:creationId xmlns:a16="http://schemas.microsoft.com/office/drawing/2014/main" id="{1C228042-3831-EE3A-E361-7DA012C58C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438400"/>
                        <a:ext cx="19431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2654282C-F004-5FD8-9740-B93542014BD9}"/>
              </a:ext>
            </a:extLst>
          </p:cNvPr>
          <p:cNvSpPr>
            <a:spLocks noGrp="1"/>
          </p:cNvSpPr>
          <p:nvPr>
            <p:ph type="title"/>
          </p:nvPr>
        </p:nvSpPr>
        <p:spPr/>
        <p:txBody>
          <a:bodyPr/>
          <a:lstStyle/>
          <a:p>
            <a:endParaRPr lang="en-US" altLang="en-US">
              <a:latin typeface="Open Sans" pitchFamily="34" charset="0"/>
            </a:endParaRPr>
          </a:p>
        </p:txBody>
      </p:sp>
      <p:sp>
        <p:nvSpPr>
          <p:cNvPr id="50179" name="Content Placeholder 2">
            <a:extLst>
              <a:ext uri="{FF2B5EF4-FFF2-40B4-BE49-F238E27FC236}">
                <a16:creationId xmlns:a16="http://schemas.microsoft.com/office/drawing/2014/main" id="{822C6D18-813C-00C1-C1FC-F1A6E145C007}"/>
              </a:ext>
            </a:extLst>
          </p:cNvPr>
          <p:cNvSpPr>
            <a:spLocks noGrp="1"/>
          </p:cNvSpPr>
          <p:nvPr>
            <p:ph idx="1"/>
          </p:nvPr>
        </p:nvSpPr>
        <p:spPr/>
        <p:txBody>
          <a:bodyPr/>
          <a:lstStyle/>
          <a:p>
            <a:endParaRPr lang="en-US" altLang="en-US">
              <a:latin typeface="Open Sans" pitchFamily="34" charset="0"/>
            </a:endParaRPr>
          </a:p>
        </p:txBody>
      </p:sp>
      <p:sp>
        <p:nvSpPr>
          <p:cNvPr id="4" name="Date Placeholder 3">
            <a:extLst>
              <a:ext uri="{FF2B5EF4-FFF2-40B4-BE49-F238E27FC236}">
                <a16:creationId xmlns:a16="http://schemas.microsoft.com/office/drawing/2014/main" id="{CE92363C-2FDC-C21A-F39D-A20B0815851B}"/>
              </a:ext>
            </a:extLst>
          </p:cNvPr>
          <p:cNvSpPr>
            <a:spLocks noGrp="1"/>
          </p:cNvSpPr>
          <p:nvPr>
            <p:ph type="dt" sz="quarter" idx="10"/>
          </p:nvPr>
        </p:nvSpPr>
        <p:spPr/>
        <p:txBody>
          <a:bodyPr/>
          <a:lstStyle/>
          <a:p>
            <a:pPr>
              <a:defRPr/>
            </a:pPr>
            <a:fld id="{CB8924D3-FE64-4EC8-A9C2-3720763ABFD9}" type="datetime1">
              <a:rPr lang="en-US"/>
              <a:pPr>
                <a:defRPr/>
              </a:pPr>
              <a:t>6/12/2023</a:t>
            </a:fld>
            <a:endParaRPr lang="en-US"/>
          </a:p>
        </p:txBody>
      </p:sp>
      <p:sp>
        <p:nvSpPr>
          <p:cNvPr id="5" name="Footer Placeholder 4">
            <a:extLst>
              <a:ext uri="{FF2B5EF4-FFF2-40B4-BE49-F238E27FC236}">
                <a16:creationId xmlns:a16="http://schemas.microsoft.com/office/drawing/2014/main" id="{6DCED7C5-90C9-86F7-7743-98924AA1ED26}"/>
              </a:ext>
            </a:extLst>
          </p:cNvPr>
          <p:cNvSpPr>
            <a:spLocks noGrp="1"/>
          </p:cNvSpPr>
          <p:nvPr>
            <p:ph type="ftr" sz="quarter" idx="11"/>
          </p:nvPr>
        </p:nvSpPr>
        <p:spPr/>
        <p:txBody>
          <a:bodyPr/>
          <a:lstStyle/>
          <a:p>
            <a:pPr>
              <a:defRPr/>
            </a:pPr>
            <a:r>
              <a:rPr lang="en-US"/>
              <a:t>Data Exploration and Pre-processing</a:t>
            </a:r>
          </a:p>
        </p:txBody>
      </p:sp>
      <p:sp>
        <p:nvSpPr>
          <p:cNvPr id="50182" name="Slide Number Placeholder 5">
            <a:extLst>
              <a:ext uri="{FF2B5EF4-FFF2-40B4-BE49-F238E27FC236}">
                <a16:creationId xmlns:a16="http://schemas.microsoft.com/office/drawing/2014/main" id="{779B42E8-AA14-7E54-447C-B432FC09C8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DF3FCB2-2460-4779-8147-351BBA367984}" type="slidenum">
              <a:rPr lang="en-US" altLang="en-US" sz="1200" smtClean="0">
                <a:solidFill>
                  <a:srgbClr val="898989"/>
                </a:solidFill>
              </a:rPr>
              <a:pPr>
                <a:spcBef>
                  <a:spcPct val="0"/>
                </a:spcBef>
                <a:buFontTx/>
                <a:buNone/>
              </a:pPr>
              <a:t>32</a:t>
            </a:fld>
            <a:endParaRPr lang="en-US" altLang="en-US" sz="1200">
              <a:solidFill>
                <a:srgbClr val="898989"/>
              </a:solidFill>
            </a:endParaRPr>
          </a:p>
        </p:txBody>
      </p:sp>
      <p:pic>
        <p:nvPicPr>
          <p:cNvPr id="50183" name="Picture 2" descr="datareduction banner">
            <a:extLst>
              <a:ext uri="{FF2B5EF4-FFF2-40B4-BE49-F238E27FC236}">
                <a16:creationId xmlns:a16="http://schemas.microsoft.com/office/drawing/2014/main" id="{B929500B-3B98-AB5A-F5E9-D1A86AE45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271" r="11662"/>
          <a:stretch>
            <a:fillRect/>
          </a:stretch>
        </p:blipFill>
        <p:spPr bwMode="auto">
          <a:xfrm>
            <a:off x="9525" y="0"/>
            <a:ext cx="9134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4" name="TextBox 6">
            <a:extLst>
              <a:ext uri="{FF2B5EF4-FFF2-40B4-BE49-F238E27FC236}">
                <a16:creationId xmlns:a16="http://schemas.microsoft.com/office/drawing/2014/main" id="{1AE1114D-9FE7-4D74-0318-8D5ECE9C0AEA}"/>
              </a:ext>
            </a:extLst>
          </p:cNvPr>
          <p:cNvSpPr txBox="1">
            <a:spLocks noChangeArrowheads="1"/>
          </p:cNvSpPr>
          <p:nvPr/>
        </p:nvSpPr>
        <p:spPr bwMode="auto">
          <a:xfrm>
            <a:off x="246063" y="3813175"/>
            <a:ext cx="39449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000" b="1">
                <a:solidFill>
                  <a:srgbClr val="0070C0"/>
                </a:solidFill>
                <a:latin typeface="Arial" panose="020B0604020202020204" pitchFamily="34" charset="0"/>
              </a:rPr>
              <a:t>Data Reduction</a:t>
            </a:r>
          </a:p>
        </p:txBody>
      </p:sp>
      <p:sp>
        <p:nvSpPr>
          <p:cNvPr id="9" name="TextBox 8">
            <a:extLst>
              <a:ext uri="{FF2B5EF4-FFF2-40B4-BE49-F238E27FC236}">
                <a16:creationId xmlns:a16="http://schemas.microsoft.com/office/drawing/2014/main" id="{634C7EEA-42E0-CCA3-D914-22D2E62146FF}"/>
              </a:ext>
            </a:extLst>
          </p:cNvPr>
          <p:cNvSpPr txBox="1">
            <a:spLocks noChangeArrowheads="1"/>
          </p:cNvSpPr>
          <p:nvPr/>
        </p:nvSpPr>
        <p:spPr bwMode="auto">
          <a:xfrm>
            <a:off x="5562600" y="3870325"/>
            <a:ext cx="346233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2400" b="1">
                <a:solidFill>
                  <a:srgbClr val="7030A0"/>
                </a:solidFill>
                <a:latin typeface="Open Sans" pitchFamily="34" charset="0"/>
              </a:rPr>
              <a:t>Reduce representation in volume, but produces the same or similar analytical results</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2A1C1EF-0B69-A6FB-1BA6-3C288A787028}"/>
              </a:ext>
            </a:extLst>
          </p:cNvPr>
          <p:cNvSpPr>
            <a:spLocks noGrp="1"/>
          </p:cNvSpPr>
          <p:nvPr>
            <p:ph type="dt" sz="quarter" idx="10"/>
          </p:nvPr>
        </p:nvSpPr>
        <p:spPr/>
        <p:txBody>
          <a:bodyPr/>
          <a:lstStyle/>
          <a:p>
            <a:pPr>
              <a:defRPr/>
            </a:pPr>
            <a:fld id="{D20189AE-9EA4-4A9D-888D-CF3D36752C76}" type="datetime1">
              <a:rPr lang="en-US"/>
              <a:pPr>
                <a:defRPr/>
              </a:pPr>
              <a:t>6/12/2023</a:t>
            </a:fld>
            <a:endParaRPr lang="en-US"/>
          </a:p>
        </p:txBody>
      </p:sp>
      <p:sp>
        <p:nvSpPr>
          <p:cNvPr id="5" name="Footer Placeholder 4">
            <a:extLst>
              <a:ext uri="{FF2B5EF4-FFF2-40B4-BE49-F238E27FC236}">
                <a16:creationId xmlns:a16="http://schemas.microsoft.com/office/drawing/2014/main" id="{8469F2C9-909D-9B06-26E9-9C415AA3471C}"/>
              </a:ext>
            </a:extLst>
          </p:cNvPr>
          <p:cNvSpPr>
            <a:spLocks noGrp="1"/>
          </p:cNvSpPr>
          <p:nvPr>
            <p:ph type="ftr" sz="quarter" idx="11"/>
          </p:nvPr>
        </p:nvSpPr>
        <p:spPr/>
        <p:txBody>
          <a:bodyPr/>
          <a:lstStyle/>
          <a:p>
            <a:pPr>
              <a:defRPr/>
            </a:pPr>
            <a:r>
              <a:rPr lang="en-US"/>
              <a:t>Data Exploration and Pre-processing</a:t>
            </a:r>
          </a:p>
        </p:txBody>
      </p:sp>
      <p:sp>
        <p:nvSpPr>
          <p:cNvPr id="52228" name="Slide Number Placeholder 5">
            <a:extLst>
              <a:ext uri="{FF2B5EF4-FFF2-40B4-BE49-F238E27FC236}">
                <a16:creationId xmlns:a16="http://schemas.microsoft.com/office/drawing/2014/main" id="{EE247972-1437-F50E-D349-6C226B3D050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3617F36-1605-4FCB-8F63-91C74FAB6569}" type="slidenum">
              <a:rPr lang="en-US" altLang="en-US" sz="1200" smtClean="0">
                <a:solidFill>
                  <a:srgbClr val="898989"/>
                </a:solidFill>
              </a:rPr>
              <a:pPr>
                <a:spcBef>
                  <a:spcPct val="0"/>
                </a:spcBef>
                <a:buFontTx/>
                <a:buNone/>
              </a:pPr>
              <a:t>33</a:t>
            </a:fld>
            <a:endParaRPr lang="en-US" altLang="en-US" sz="1200">
              <a:solidFill>
                <a:srgbClr val="898989"/>
              </a:solidFill>
            </a:endParaRPr>
          </a:p>
        </p:txBody>
      </p:sp>
      <p:pic>
        <p:nvPicPr>
          <p:cNvPr id="52229" name="Picture 4" descr="Image for post">
            <a:extLst>
              <a:ext uri="{FF2B5EF4-FFF2-40B4-BE49-F238E27FC236}">
                <a16:creationId xmlns:a16="http://schemas.microsoft.com/office/drawing/2014/main" id="{7903F0CF-6AEF-D52B-B45F-CC3FB31D3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96" r="5592"/>
          <a:stretch>
            <a:fillRect/>
          </a:stretch>
        </p:blipFill>
        <p:spPr bwMode="auto">
          <a:xfrm>
            <a:off x="-76200" y="0"/>
            <a:ext cx="9220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0" name="TextBox 7">
            <a:extLst>
              <a:ext uri="{FF2B5EF4-FFF2-40B4-BE49-F238E27FC236}">
                <a16:creationId xmlns:a16="http://schemas.microsoft.com/office/drawing/2014/main" id="{732B6894-F5D2-65A4-BDA8-55E541C0CBC5}"/>
              </a:ext>
            </a:extLst>
          </p:cNvPr>
          <p:cNvSpPr txBox="1">
            <a:spLocks noChangeArrowheads="1"/>
          </p:cNvSpPr>
          <p:nvPr/>
        </p:nvSpPr>
        <p:spPr bwMode="auto">
          <a:xfrm>
            <a:off x="990600" y="152400"/>
            <a:ext cx="76200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4400" b="1">
                <a:solidFill>
                  <a:schemeClr val="bg1"/>
                </a:solidFill>
                <a:latin typeface="Arial" panose="020B0604020202020204" pitchFamily="34" charset="0"/>
              </a:rPr>
              <a:t>Data Discretization</a:t>
            </a:r>
          </a:p>
        </p:txBody>
      </p:sp>
      <p:sp>
        <p:nvSpPr>
          <p:cNvPr id="9" name="TextBox 8">
            <a:extLst>
              <a:ext uri="{FF2B5EF4-FFF2-40B4-BE49-F238E27FC236}">
                <a16:creationId xmlns:a16="http://schemas.microsoft.com/office/drawing/2014/main" id="{8B29D67C-DFF0-1822-6471-793027D1650C}"/>
              </a:ext>
            </a:extLst>
          </p:cNvPr>
          <p:cNvSpPr txBox="1"/>
          <p:nvPr/>
        </p:nvSpPr>
        <p:spPr>
          <a:xfrm>
            <a:off x="4762500" y="2362200"/>
            <a:ext cx="4191000" cy="1323975"/>
          </a:xfrm>
          <a:prstGeom prst="rect">
            <a:avLst/>
          </a:prstGeom>
          <a:noFill/>
        </p:spPr>
        <p:txBody>
          <a:bodyPr>
            <a:spAutoFit/>
          </a:bodyPr>
          <a:lstStyle>
            <a:defPPr>
              <a:defRPr lang="en-US"/>
            </a:defPPr>
            <a:lvl1pPr marL="342900" indent="-342900">
              <a:buFont typeface="Arial" panose="020B0604020202020204" pitchFamily="34" charset="0"/>
              <a:buChar char="•"/>
              <a:defRPr sz="2000" b="1">
                <a:solidFill>
                  <a:schemeClr val="bg1"/>
                </a:solidFill>
                <a:latin typeface="Open Sans"/>
              </a:defRPr>
            </a:lvl1pPr>
          </a:lstStyle>
          <a:p>
            <a:pPr marL="0" indent="0" algn="r">
              <a:buFont typeface="Arial" panose="020B0604020202020204" pitchFamily="34" charset="0"/>
              <a:buNone/>
              <a:defRPr/>
            </a:pPr>
            <a:r>
              <a:rPr lang="en-US" dirty="0"/>
              <a:t>Part of data reduction, but with particular importance, especially for numerical data</a:t>
            </a:r>
          </a:p>
          <a:p>
            <a:pPr>
              <a:defRPr/>
            </a:pPr>
            <a:endParaRPr lang="en-US" dirty="0"/>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22183E4-A208-2E51-23EA-F7FAB6422C2A}"/>
              </a:ext>
            </a:extLst>
          </p:cNvPr>
          <p:cNvSpPr>
            <a:spLocks noGrp="1"/>
          </p:cNvSpPr>
          <p:nvPr>
            <p:ph type="title"/>
          </p:nvPr>
        </p:nvSpPr>
        <p:spPr>
          <a:xfrm>
            <a:off x="881063" y="2747963"/>
            <a:ext cx="7772400" cy="1362075"/>
          </a:xfrm>
        </p:spPr>
        <p:txBody>
          <a:bodyPr/>
          <a:lstStyle/>
          <a:p>
            <a:pPr algn="ctr">
              <a:defRPr/>
            </a:pPr>
            <a:r>
              <a:rPr lang="en-US" dirty="0"/>
              <a:t>Dimensionality Reduction</a:t>
            </a:r>
          </a:p>
        </p:txBody>
      </p:sp>
      <p:sp>
        <p:nvSpPr>
          <p:cNvPr id="4" name="Date Placeholder 3">
            <a:extLst>
              <a:ext uri="{FF2B5EF4-FFF2-40B4-BE49-F238E27FC236}">
                <a16:creationId xmlns:a16="http://schemas.microsoft.com/office/drawing/2014/main" id="{ABD4FF95-33A5-3A5D-4030-6755B644F950}"/>
              </a:ext>
            </a:extLst>
          </p:cNvPr>
          <p:cNvSpPr>
            <a:spLocks noGrp="1"/>
          </p:cNvSpPr>
          <p:nvPr>
            <p:ph type="dt" sz="quarter" idx="10"/>
          </p:nvPr>
        </p:nvSpPr>
        <p:spPr/>
        <p:txBody>
          <a:bodyPr/>
          <a:lstStyle/>
          <a:p>
            <a:pPr>
              <a:defRPr/>
            </a:pPr>
            <a:fld id="{1C4054F1-5335-422E-A04B-93FE59949849}" type="datetime1">
              <a:rPr lang="en-US"/>
              <a:pPr>
                <a:defRPr/>
              </a:pPr>
              <a:t>6/12/2023</a:t>
            </a:fld>
            <a:endParaRPr lang="en-US"/>
          </a:p>
        </p:txBody>
      </p:sp>
      <p:sp>
        <p:nvSpPr>
          <p:cNvPr id="5" name="Footer Placeholder 4">
            <a:extLst>
              <a:ext uri="{FF2B5EF4-FFF2-40B4-BE49-F238E27FC236}">
                <a16:creationId xmlns:a16="http://schemas.microsoft.com/office/drawing/2014/main" id="{0D07B229-5D29-D70E-B218-96BF6E4747F4}"/>
              </a:ext>
            </a:extLst>
          </p:cNvPr>
          <p:cNvSpPr>
            <a:spLocks noGrp="1"/>
          </p:cNvSpPr>
          <p:nvPr>
            <p:ph type="ftr" sz="quarter" idx="11"/>
          </p:nvPr>
        </p:nvSpPr>
        <p:spPr/>
        <p:txBody>
          <a:bodyPr/>
          <a:lstStyle/>
          <a:p>
            <a:pPr>
              <a:defRPr/>
            </a:pPr>
            <a:r>
              <a:rPr lang="en-US"/>
              <a:t>Data Exploration and Pre-processing</a:t>
            </a:r>
          </a:p>
        </p:txBody>
      </p:sp>
      <p:sp>
        <p:nvSpPr>
          <p:cNvPr id="54277" name="Slide Number Placeholder 5">
            <a:extLst>
              <a:ext uri="{FF2B5EF4-FFF2-40B4-BE49-F238E27FC236}">
                <a16:creationId xmlns:a16="http://schemas.microsoft.com/office/drawing/2014/main" id="{9BDD9759-4D66-90B6-A320-971BB15FCB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F65C60C-F23F-4014-817C-FA1E58FC1A66}" type="slidenum">
              <a:rPr lang="en-US" altLang="en-US" sz="1200" smtClean="0">
                <a:solidFill>
                  <a:srgbClr val="898989"/>
                </a:solidFill>
              </a:rPr>
              <a:pPr>
                <a:spcBef>
                  <a:spcPct val="0"/>
                </a:spcBef>
                <a:buFontTx/>
                <a:buNone/>
              </a:pPr>
              <a:t>34</a:t>
            </a:fld>
            <a:endParaRPr lang="en-US" altLang="en-US" sz="1200">
              <a:solidFill>
                <a:srgbClr val="898989"/>
              </a:solidFill>
            </a:endParaRPr>
          </a:p>
        </p:txBody>
      </p:sp>
    </p:spTree>
  </p:cSld>
  <p:clrMapOvr>
    <a:masterClrMapping/>
  </p:clrMapOvr>
  <p:transition spd="slow">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2DF06E9-453B-349D-99AE-50209DD58123}"/>
              </a:ext>
            </a:extLst>
          </p:cNvPr>
          <p:cNvSpPr>
            <a:spLocks noGrp="1"/>
          </p:cNvSpPr>
          <p:nvPr>
            <p:ph type="title"/>
          </p:nvPr>
        </p:nvSpPr>
        <p:spPr/>
        <p:txBody>
          <a:bodyPr/>
          <a:lstStyle/>
          <a:p>
            <a:r>
              <a:rPr lang="en-US" altLang="en-US">
                <a:latin typeface="Open Sans" pitchFamily="34" charset="0"/>
              </a:rPr>
              <a:t>Curse of Dimensionality</a:t>
            </a:r>
          </a:p>
        </p:txBody>
      </p:sp>
      <p:sp>
        <p:nvSpPr>
          <p:cNvPr id="55299" name="Content Placeholder 2">
            <a:extLst>
              <a:ext uri="{FF2B5EF4-FFF2-40B4-BE49-F238E27FC236}">
                <a16:creationId xmlns:a16="http://schemas.microsoft.com/office/drawing/2014/main" id="{01B39226-A96B-110F-8349-CA25490359AB}"/>
              </a:ext>
            </a:extLst>
          </p:cNvPr>
          <p:cNvSpPr>
            <a:spLocks noGrp="1"/>
          </p:cNvSpPr>
          <p:nvPr>
            <p:ph idx="1"/>
          </p:nvPr>
        </p:nvSpPr>
        <p:spPr>
          <a:xfrm>
            <a:off x="685800" y="1828800"/>
            <a:ext cx="8229600" cy="4800600"/>
          </a:xfrm>
        </p:spPr>
        <p:txBody>
          <a:bodyPr/>
          <a:lstStyle/>
          <a:p>
            <a:r>
              <a:rPr lang="en-US" altLang="en-US">
                <a:latin typeface="Open Sans" pitchFamily="34" charset="0"/>
              </a:rPr>
              <a:t>The collection of issues that arise when dealing with high dimensional data.</a:t>
            </a:r>
          </a:p>
          <a:p>
            <a:r>
              <a:rPr lang="en-US" altLang="en-US">
                <a:latin typeface="Open Sans" pitchFamily="34" charset="0"/>
              </a:rPr>
              <a:t>More data is good.</a:t>
            </a:r>
          </a:p>
          <a:p>
            <a:r>
              <a:rPr lang="en-US" altLang="en-US">
                <a:latin typeface="Open Sans" pitchFamily="34" charset="0"/>
              </a:rPr>
              <a:t>More </a:t>
            </a:r>
            <a:r>
              <a:rPr lang="en-US" altLang="en-US" b="1">
                <a:latin typeface="Open Sans" pitchFamily="34" charset="0"/>
              </a:rPr>
              <a:t>detailed </a:t>
            </a:r>
            <a:r>
              <a:rPr lang="en-US" altLang="en-US">
                <a:latin typeface="Open Sans" pitchFamily="34" charset="0"/>
              </a:rPr>
              <a:t>data (dimensions) might not be.</a:t>
            </a:r>
          </a:p>
        </p:txBody>
      </p:sp>
      <p:sp>
        <p:nvSpPr>
          <p:cNvPr id="4" name="Date Placeholder 3">
            <a:extLst>
              <a:ext uri="{FF2B5EF4-FFF2-40B4-BE49-F238E27FC236}">
                <a16:creationId xmlns:a16="http://schemas.microsoft.com/office/drawing/2014/main" id="{78858582-CBD8-23DE-9F47-3FC80D13544E}"/>
              </a:ext>
            </a:extLst>
          </p:cNvPr>
          <p:cNvSpPr>
            <a:spLocks noGrp="1"/>
          </p:cNvSpPr>
          <p:nvPr>
            <p:ph type="dt" sz="quarter" idx="10"/>
          </p:nvPr>
        </p:nvSpPr>
        <p:spPr/>
        <p:txBody>
          <a:bodyPr/>
          <a:lstStyle/>
          <a:p>
            <a:pPr>
              <a:defRPr/>
            </a:pPr>
            <a:fld id="{31F839CD-C32E-4271-A0A1-B7FFE7D36635}" type="datetime1">
              <a:rPr lang="en-US"/>
              <a:pPr>
                <a:defRPr/>
              </a:pPr>
              <a:t>6/12/2023</a:t>
            </a:fld>
            <a:endParaRPr lang="en-US"/>
          </a:p>
        </p:txBody>
      </p:sp>
      <p:sp>
        <p:nvSpPr>
          <p:cNvPr id="5" name="Footer Placeholder 4">
            <a:extLst>
              <a:ext uri="{FF2B5EF4-FFF2-40B4-BE49-F238E27FC236}">
                <a16:creationId xmlns:a16="http://schemas.microsoft.com/office/drawing/2014/main" id="{567824F2-3911-46C9-4D37-D9B51E6A36A8}"/>
              </a:ext>
            </a:extLst>
          </p:cNvPr>
          <p:cNvSpPr>
            <a:spLocks noGrp="1"/>
          </p:cNvSpPr>
          <p:nvPr>
            <p:ph type="ftr" sz="quarter" idx="11"/>
          </p:nvPr>
        </p:nvSpPr>
        <p:spPr/>
        <p:txBody>
          <a:bodyPr/>
          <a:lstStyle/>
          <a:p>
            <a:pPr>
              <a:defRPr/>
            </a:pPr>
            <a:r>
              <a:rPr lang="en-US"/>
              <a:t>Data Exploration and Pre-processing</a:t>
            </a:r>
          </a:p>
        </p:txBody>
      </p:sp>
      <p:sp>
        <p:nvSpPr>
          <p:cNvPr id="55302" name="Slide Number Placeholder 5">
            <a:extLst>
              <a:ext uri="{FF2B5EF4-FFF2-40B4-BE49-F238E27FC236}">
                <a16:creationId xmlns:a16="http://schemas.microsoft.com/office/drawing/2014/main" id="{C9F91ADD-ED63-8351-D113-CBDA419EDE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12CC907-61F2-4330-8562-D895CDAAFE4F}" type="slidenum">
              <a:rPr lang="en-US" altLang="en-US" sz="1200" smtClean="0">
                <a:solidFill>
                  <a:srgbClr val="898989"/>
                </a:solidFill>
              </a:rPr>
              <a:pPr>
                <a:spcBef>
                  <a:spcPct val="0"/>
                </a:spcBef>
                <a:buFontTx/>
                <a:buNone/>
              </a:pPr>
              <a:t>35</a:t>
            </a:fld>
            <a:endParaRPr lang="en-US" altLang="en-US" sz="1200">
              <a:solidFill>
                <a:srgbClr val="898989"/>
              </a:solidFill>
            </a:endParaRPr>
          </a:p>
        </p:txBody>
      </p:sp>
    </p:spTree>
  </p:cSld>
  <p:clrMapOvr>
    <a:masterClrMapping/>
  </p:clrMapOvr>
  <p:transition spd="slow">
    <p:split orient="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5F160050-7BCD-92F4-7ABB-805E06C5623B}"/>
              </a:ext>
            </a:extLst>
          </p:cNvPr>
          <p:cNvSpPr>
            <a:spLocks noGrp="1"/>
          </p:cNvSpPr>
          <p:nvPr>
            <p:ph type="title"/>
          </p:nvPr>
        </p:nvSpPr>
        <p:spPr/>
        <p:txBody>
          <a:bodyPr/>
          <a:lstStyle/>
          <a:p>
            <a:r>
              <a:rPr lang="en-US" altLang="en-US">
                <a:latin typeface="Open Sans" pitchFamily="34" charset="0"/>
              </a:rPr>
              <a:t>Why Reduce Dimensions?</a:t>
            </a:r>
          </a:p>
        </p:txBody>
      </p:sp>
      <p:sp>
        <p:nvSpPr>
          <p:cNvPr id="56323" name="Content Placeholder 2">
            <a:extLst>
              <a:ext uri="{FF2B5EF4-FFF2-40B4-BE49-F238E27FC236}">
                <a16:creationId xmlns:a16="http://schemas.microsoft.com/office/drawing/2014/main" id="{BB977712-A7D2-98FF-3A24-17F992D10A6D}"/>
              </a:ext>
            </a:extLst>
          </p:cNvPr>
          <p:cNvSpPr>
            <a:spLocks noGrp="1"/>
          </p:cNvSpPr>
          <p:nvPr>
            <p:ph idx="1"/>
          </p:nvPr>
        </p:nvSpPr>
        <p:spPr/>
        <p:txBody>
          <a:bodyPr/>
          <a:lstStyle/>
          <a:p>
            <a:pPr>
              <a:lnSpc>
                <a:spcPct val="150000"/>
              </a:lnSpc>
            </a:pPr>
            <a:r>
              <a:rPr lang="en-US" altLang="en-US" b="1">
                <a:solidFill>
                  <a:srgbClr val="0070C0"/>
                </a:solidFill>
                <a:latin typeface="Open Sans" pitchFamily="34" charset="0"/>
              </a:rPr>
              <a:t>Computation</a:t>
            </a:r>
          </a:p>
          <a:p>
            <a:pPr lvl="1">
              <a:lnSpc>
                <a:spcPct val="150000"/>
              </a:lnSpc>
            </a:pPr>
            <a:r>
              <a:rPr lang="en-US" altLang="en-US" sz="2400">
                <a:latin typeface="Open Sans" pitchFamily="34" charset="0"/>
              </a:rPr>
              <a:t>Less dimensions allow us to compute models more efficiently.</a:t>
            </a:r>
          </a:p>
          <a:p>
            <a:pPr>
              <a:lnSpc>
                <a:spcPct val="150000"/>
              </a:lnSpc>
            </a:pPr>
            <a:r>
              <a:rPr lang="en-US" altLang="en-US" b="1">
                <a:solidFill>
                  <a:srgbClr val="0070C0"/>
                </a:solidFill>
                <a:latin typeface="Open Sans" pitchFamily="34" charset="0"/>
              </a:rPr>
              <a:t>Visualization</a:t>
            </a:r>
          </a:p>
          <a:p>
            <a:pPr lvl="1">
              <a:lnSpc>
                <a:spcPct val="150000"/>
              </a:lnSpc>
            </a:pPr>
            <a:r>
              <a:rPr lang="en-US" altLang="en-US" sz="2400">
                <a:latin typeface="Open Sans" pitchFamily="34" charset="0"/>
              </a:rPr>
              <a:t>Difficult to visualize more than 3 dimensions</a:t>
            </a:r>
          </a:p>
          <a:p>
            <a:pPr>
              <a:lnSpc>
                <a:spcPct val="150000"/>
              </a:lnSpc>
            </a:pPr>
            <a:r>
              <a:rPr lang="en-US" altLang="en-US" b="1">
                <a:solidFill>
                  <a:srgbClr val="0070C0"/>
                </a:solidFill>
                <a:latin typeface="Open Sans" pitchFamily="34" charset="0"/>
              </a:rPr>
              <a:t>Remove useless information</a:t>
            </a:r>
          </a:p>
        </p:txBody>
      </p:sp>
      <p:sp>
        <p:nvSpPr>
          <p:cNvPr id="4" name="Date Placeholder 3">
            <a:extLst>
              <a:ext uri="{FF2B5EF4-FFF2-40B4-BE49-F238E27FC236}">
                <a16:creationId xmlns:a16="http://schemas.microsoft.com/office/drawing/2014/main" id="{5DBB6442-7481-3502-E5C1-51D2A61474BB}"/>
              </a:ext>
            </a:extLst>
          </p:cNvPr>
          <p:cNvSpPr>
            <a:spLocks noGrp="1"/>
          </p:cNvSpPr>
          <p:nvPr>
            <p:ph type="dt" sz="quarter" idx="10"/>
          </p:nvPr>
        </p:nvSpPr>
        <p:spPr/>
        <p:txBody>
          <a:bodyPr/>
          <a:lstStyle/>
          <a:p>
            <a:pPr>
              <a:defRPr/>
            </a:pPr>
            <a:fld id="{C69E6612-A2DF-4B58-8185-1778CF4BF837}" type="datetime1">
              <a:rPr lang="en-US"/>
              <a:pPr>
                <a:defRPr/>
              </a:pPr>
              <a:t>6/12/2023</a:t>
            </a:fld>
            <a:endParaRPr lang="en-US"/>
          </a:p>
        </p:txBody>
      </p:sp>
      <p:sp>
        <p:nvSpPr>
          <p:cNvPr id="5" name="Footer Placeholder 4">
            <a:extLst>
              <a:ext uri="{FF2B5EF4-FFF2-40B4-BE49-F238E27FC236}">
                <a16:creationId xmlns:a16="http://schemas.microsoft.com/office/drawing/2014/main" id="{F02D970C-9AD5-4845-EF3A-016599B68657}"/>
              </a:ext>
            </a:extLst>
          </p:cNvPr>
          <p:cNvSpPr>
            <a:spLocks noGrp="1"/>
          </p:cNvSpPr>
          <p:nvPr>
            <p:ph type="ftr" sz="quarter" idx="11"/>
          </p:nvPr>
        </p:nvSpPr>
        <p:spPr/>
        <p:txBody>
          <a:bodyPr/>
          <a:lstStyle/>
          <a:p>
            <a:pPr>
              <a:defRPr/>
            </a:pPr>
            <a:r>
              <a:rPr lang="en-US"/>
              <a:t>Data Exploration and Pre-processing</a:t>
            </a:r>
          </a:p>
        </p:txBody>
      </p:sp>
      <p:sp>
        <p:nvSpPr>
          <p:cNvPr id="56326" name="Slide Number Placeholder 5">
            <a:extLst>
              <a:ext uri="{FF2B5EF4-FFF2-40B4-BE49-F238E27FC236}">
                <a16:creationId xmlns:a16="http://schemas.microsoft.com/office/drawing/2014/main" id="{5351B076-1569-82DE-CD1F-D02BE40ADDD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9166858-AF18-42F9-AC91-2A74228D546D}" type="slidenum">
              <a:rPr lang="en-US" altLang="en-US" sz="1200" smtClean="0">
                <a:solidFill>
                  <a:srgbClr val="898989"/>
                </a:solidFill>
              </a:rPr>
              <a:pPr>
                <a:spcBef>
                  <a:spcPct val="0"/>
                </a:spcBef>
                <a:buFontTx/>
                <a:buNone/>
              </a:pPr>
              <a:t>36</a:t>
            </a:fld>
            <a:endParaRPr lang="en-US" altLang="en-US" sz="1200">
              <a:solidFill>
                <a:srgbClr val="898989"/>
              </a:solidFill>
            </a:endParaRPr>
          </a:p>
        </p:txBody>
      </p:sp>
    </p:spTree>
  </p:cSld>
  <p:clrMapOvr>
    <a:masterClrMapping/>
  </p:clrMapOvr>
  <p:transition spd="slow">
    <p:split orient="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EE8F68F8-9093-88EF-3D34-61DF4EA6702B}"/>
              </a:ext>
            </a:extLst>
          </p:cNvPr>
          <p:cNvSpPr>
            <a:spLocks noGrp="1"/>
          </p:cNvSpPr>
          <p:nvPr>
            <p:ph type="title"/>
          </p:nvPr>
        </p:nvSpPr>
        <p:spPr/>
        <p:txBody>
          <a:bodyPr/>
          <a:lstStyle/>
          <a:p>
            <a:r>
              <a:rPr lang="en-US" altLang="en-US">
                <a:latin typeface="Open Sans" pitchFamily="34" charset="0"/>
              </a:rPr>
              <a:t>Dimensionality Reduction</a:t>
            </a:r>
          </a:p>
        </p:txBody>
      </p:sp>
      <p:sp>
        <p:nvSpPr>
          <p:cNvPr id="57347" name="Content Placeholder 2">
            <a:extLst>
              <a:ext uri="{FF2B5EF4-FFF2-40B4-BE49-F238E27FC236}">
                <a16:creationId xmlns:a16="http://schemas.microsoft.com/office/drawing/2014/main" id="{B0962E77-7A12-3F67-5202-BCE712B3FAC6}"/>
              </a:ext>
            </a:extLst>
          </p:cNvPr>
          <p:cNvSpPr>
            <a:spLocks noGrp="1"/>
          </p:cNvSpPr>
          <p:nvPr>
            <p:ph idx="1"/>
          </p:nvPr>
        </p:nvSpPr>
        <p:spPr>
          <a:xfrm>
            <a:off x="914400" y="2209800"/>
            <a:ext cx="8001000" cy="4419600"/>
          </a:xfrm>
        </p:spPr>
        <p:txBody>
          <a:bodyPr/>
          <a:lstStyle/>
          <a:p>
            <a:pPr marL="0" indent="0">
              <a:buFont typeface="Arial" panose="020B0604020202020204" pitchFamily="34" charset="0"/>
              <a:buNone/>
            </a:pPr>
            <a:r>
              <a:rPr lang="en-US" altLang="en-US" b="1">
                <a:solidFill>
                  <a:srgbClr val="0070C0"/>
                </a:solidFill>
                <a:latin typeface="Open Sans" pitchFamily="34" charset="0"/>
              </a:rPr>
              <a:t>Dimensionality Reduction </a:t>
            </a:r>
            <a:r>
              <a:rPr lang="en-US" altLang="en-US">
                <a:latin typeface="Open Sans" pitchFamily="34" charset="0"/>
              </a:rPr>
              <a:t>aims to </a:t>
            </a:r>
            <a:r>
              <a:rPr lang="en-US" altLang="en-US" b="1">
                <a:latin typeface="Open Sans" pitchFamily="34" charset="0"/>
              </a:rPr>
              <a:t>map the data </a:t>
            </a:r>
            <a:r>
              <a:rPr lang="en-US" altLang="en-US">
                <a:latin typeface="Open Sans" pitchFamily="34" charset="0"/>
              </a:rPr>
              <a:t>from the original dimension space to a </a:t>
            </a:r>
            <a:r>
              <a:rPr lang="en-US" altLang="en-US" b="1">
                <a:latin typeface="Open Sans" pitchFamily="34" charset="0"/>
              </a:rPr>
              <a:t>lower dimension space </a:t>
            </a:r>
            <a:r>
              <a:rPr lang="en-US" altLang="en-US">
                <a:latin typeface="Open Sans" pitchFamily="34" charset="0"/>
              </a:rPr>
              <a:t>while minimizing (relevant) information loss.</a:t>
            </a:r>
          </a:p>
        </p:txBody>
      </p:sp>
      <p:sp>
        <p:nvSpPr>
          <p:cNvPr id="4" name="Date Placeholder 3">
            <a:extLst>
              <a:ext uri="{FF2B5EF4-FFF2-40B4-BE49-F238E27FC236}">
                <a16:creationId xmlns:a16="http://schemas.microsoft.com/office/drawing/2014/main" id="{D8F91469-CC32-26D4-1633-68C2B9014558}"/>
              </a:ext>
            </a:extLst>
          </p:cNvPr>
          <p:cNvSpPr>
            <a:spLocks noGrp="1"/>
          </p:cNvSpPr>
          <p:nvPr>
            <p:ph type="dt" sz="quarter" idx="10"/>
          </p:nvPr>
        </p:nvSpPr>
        <p:spPr/>
        <p:txBody>
          <a:bodyPr/>
          <a:lstStyle/>
          <a:p>
            <a:pPr>
              <a:defRPr/>
            </a:pPr>
            <a:fld id="{9E6A9785-8880-4608-89D4-E477A66A5C47}" type="datetime1">
              <a:rPr lang="en-US"/>
              <a:pPr>
                <a:defRPr/>
              </a:pPr>
              <a:t>6/12/2023</a:t>
            </a:fld>
            <a:endParaRPr lang="en-US"/>
          </a:p>
        </p:txBody>
      </p:sp>
      <p:sp>
        <p:nvSpPr>
          <p:cNvPr id="5" name="Footer Placeholder 4">
            <a:extLst>
              <a:ext uri="{FF2B5EF4-FFF2-40B4-BE49-F238E27FC236}">
                <a16:creationId xmlns:a16="http://schemas.microsoft.com/office/drawing/2014/main" id="{76CF5BD6-9BDD-1058-A66B-DDC15CF9DCA1}"/>
              </a:ext>
            </a:extLst>
          </p:cNvPr>
          <p:cNvSpPr>
            <a:spLocks noGrp="1"/>
          </p:cNvSpPr>
          <p:nvPr>
            <p:ph type="ftr" sz="quarter" idx="11"/>
          </p:nvPr>
        </p:nvSpPr>
        <p:spPr/>
        <p:txBody>
          <a:bodyPr/>
          <a:lstStyle/>
          <a:p>
            <a:pPr>
              <a:defRPr/>
            </a:pPr>
            <a:r>
              <a:rPr lang="en-US"/>
              <a:t>Data Exploration and Pre-processing</a:t>
            </a:r>
          </a:p>
        </p:txBody>
      </p:sp>
      <p:sp>
        <p:nvSpPr>
          <p:cNvPr id="57350" name="Slide Number Placeholder 5">
            <a:extLst>
              <a:ext uri="{FF2B5EF4-FFF2-40B4-BE49-F238E27FC236}">
                <a16:creationId xmlns:a16="http://schemas.microsoft.com/office/drawing/2014/main" id="{0A7ECCB4-74F5-736F-F71A-240127317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862727D-3F06-4437-A334-FC2C9C1AAD51}" type="slidenum">
              <a:rPr lang="en-US" altLang="en-US" sz="1200" smtClean="0">
                <a:solidFill>
                  <a:srgbClr val="898989"/>
                </a:solidFill>
              </a:rPr>
              <a:pPr>
                <a:spcBef>
                  <a:spcPct val="0"/>
                </a:spcBef>
                <a:buFontTx/>
                <a:buNone/>
              </a:pPr>
              <a:t>37</a:t>
            </a:fld>
            <a:endParaRPr lang="en-US" altLang="en-US" sz="1200">
              <a:solidFill>
                <a:srgbClr val="898989"/>
              </a:solidFill>
            </a:endParaRPr>
          </a:p>
        </p:txBody>
      </p:sp>
    </p:spTree>
  </p:cSld>
  <p:clrMapOvr>
    <a:masterClrMapping/>
  </p:clrMapOvr>
  <p:transition spd="slow">
    <p:split orient="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5F404-D028-CE0A-A4CD-659632F5263E}"/>
              </a:ext>
            </a:extLst>
          </p:cNvPr>
          <p:cNvSpPr>
            <a:spLocks noGrp="1"/>
          </p:cNvSpPr>
          <p:nvPr>
            <p:ph type="title"/>
          </p:nvPr>
        </p:nvSpPr>
        <p:spPr/>
        <p:txBody>
          <a:bodyPr>
            <a:normAutofit fontScale="90000"/>
          </a:bodyPr>
          <a:lstStyle/>
          <a:p>
            <a:pPr>
              <a:defRPr/>
            </a:pPr>
            <a:r>
              <a:rPr lang="en-US" dirty="0"/>
              <a:t>Types of Dimensionality Reduction</a:t>
            </a:r>
          </a:p>
        </p:txBody>
      </p:sp>
      <p:sp>
        <p:nvSpPr>
          <p:cNvPr id="58371" name="Content Placeholder 2">
            <a:extLst>
              <a:ext uri="{FF2B5EF4-FFF2-40B4-BE49-F238E27FC236}">
                <a16:creationId xmlns:a16="http://schemas.microsoft.com/office/drawing/2014/main" id="{E4D97854-0FFC-4797-5AC4-57CFD62523D5}"/>
              </a:ext>
            </a:extLst>
          </p:cNvPr>
          <p:cNvSpPr>
            <a:spLocks noGrp="1"/>
          </p:cNvSpPr>
          <p:nvPr>
            <p:ph idx="1"/>
          </p:nvPr>
        </p:nvSpPr>
        <p:spPr/>
        <p:txBody>
          <a:bodyPr/>
          <a:lstStyle/>
          <a:p>
            <a:r>
              <a:rPr lang="en-US" altLang="en-US" b="1" dirty="0">
                <a:latin typeface="Open Sans" pitchFamily="34" charset="0"/>
              </a:rPr>
              <a:t>Feature Selection</a:t>
            </a:r>
          </a:p>
          <a:p>
            <a:pPr lvl="1"/>
            <a:r>
              <a:rPr lang="en-US" altLang="en-US" dirty="0">
                <a:latin typeface="Open Sans" pitchFamily="34" charset="0"/>
              </a:rPr>
              <a:t>Select features from the available features.</a:t>
            </a:r>
          </a:p>
          <a:p>
            <a:pPr lvl="1"/>
            <a:r>
              <a:rPr lang="en-US" altLang="en-US" dirty="0">
                <a:latin typeface="Open Sans" pitchFamily="34" charset="0"/>
              </a:rPr>
              <a:t>Ex: filter, wrapper, embedded</a:t>
            </a:r>
          </a:p>
          <a:p>
            <a:r>
              <a:rPr lang="en-US" altLang="en-US" b="1" dirty="0">
                <a:latin typeface="Open Sans" pitchFamily="34" charset="0"/>
              </a:rPr>
              <a:t>Feature Extraction</a:t>
            </a:r>
          </a:p>
          <a:p>
            <a:pPr lvl="1"/>
            <a:r>
              <a:rPr lang="en-US" altLang="en-US" dirty="0">
                <a:latin typeface="Open Sans" pitchFamily="34" charset="0"/>
              </a:rPr>
              <a:t>Generate synthetic (made up) features that represent the available features.</a:t>
            </a:r>
          </a:p>
          <a:p>
            <a:pPr lvl="1"/>
            <a:r>
              <a:rPr lang="en-US" altLang="en-US" dirty="0">
                <a:latin typeface="Open Sans" pitchFamily="34" charset="0"/>
              </a:rPr>
              <a:t>Ex: Principal Component Analysis (PCA), Linear Discriminant Analysis (LDA)</a:t>
            </a:r>
          </a:p>
        </p:txBody>
      </p:sp>
      <p:sp>
        <p:nvSpPr>
          <p:cNvPr id="4" name="Date Placeholder 3">
            <a:extLst>
              <a:ext uri="{FF2B5EF4-FFF2-40B4-BE49-F238E27FC236}">
                <a16:creationId xmlns:a16="http://schemas.microsoft.com/office/drawing/2014/main" id="{0149DD30-796A-A436-C92D-2592C9311345}"/>
              </a:ext>
            </a:extLst>
          </p:cNvPr>
          <p:cNvSpPr>
            <a:spLocks noGrp="1"/>
          </p:cNvSpPr>
          <p:nvPr>
            <p:ph type="dt" sz="quarter" idx="10"/>
          </p:nvPr>
        </p:nvSpPr>
        <p:spPr/>
        <p:txBody>
          <a:bodyPr/>
          <a:lstStyle/>
          <a:p>
            <a:pPr>
              <a:defRPr/>
            </a:pPr>
            <a:fld id="{EDCF3A00-235E-49F1-ACF1-D2A8EB1B3AF1}" type="datetime1">
              <a:rPr lang="en-US"/>
              <a:pPr>
                <a:defRPr/>
              </a:pPr>
              <a:t>6/12/2023</a:t>
            </a:fld>
            <a:endParaRPr lang="en-US"/>
          </a:p>
        </p:txBody>
      </p:sp>
      <p:sp>
        <p:nvSpPr>
          <p:cNvPr id="5" name="Footer Placeholder 4">
            <a:extLst>
              <a:ext uri="{FF2B5EF4-FFF2-40B4-BE49-F238E27FC236}">
                <a16:creationId xmlns:a16="http://schemas.microsoft.com/office/drawing/2014/main" id="{44B83B95-1A45-2E3B-7FF8-93E02751BEEF}"/>
              </a:ext>
            </a:extLst>
          </p:cNvPr>
          <p:cNvSpPr>
            <a:spLocks noGrp="1"/>
          </p:cNvSpPr>
          <p:nvPr>
            <p:ph type="ftr" sz="quarter" idx="11"/>
          </p:nvPr>
        </p:nvSpPr>
        <p:spPr/>
        <p:txBody>
          <a:bodyPr/>
          <a:lstStyle/>
          <a:p>
            <a:pPr>
              <a:defRPr/>
            </a:pPr>
            <a:r>
              <a:rPr lang="en-US"/>
              <a:t>Data Exploration and Pre-processing</a:t>
            </a:r>
          </a:p>
        </p:txBody>
      </p:sp>
      <p:sp>
        <p:nvSpPr>
          <p:cNvPr id="58374" name="Slide Number Placeholder 5">
            <a:extLst>
              <a:ext uri="{FF2B5EF4-FFF2-40B4-BE49-F238E27FC236}">
                <a16:creationId xmlns:a16="http://schemas.microsoft.com/office/drawing/2014/main" id="{AB44A7CE-B3D4-D94B-C097-D326190C10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08E0AA2-C435-4002-9D57-9F5AB58D7756}" type="slidenum">
              <a:rPr lang="en-US" altLang="en-US" sz="1200" smtClean="0">
                <a:solidFill>
                  <a:srgbClr val="898989"/>
                </a:solidFill>
              </a:rPr>
              <a:pPr>
                <a:spcBef>
                  <a:spcPct val="0"/>
                </a:spcBef>
                <a:buFontTx/>
                <a:buNone/>
              </a:pPr>
              <a:t>38</a:t>
            </a:fld>
            <a:endParaRPr lang="en-US" altLang="en-US" sz="1200">
              <a:solidFill>
                <a:srgbClr val="898989"/>
              </a:solidFill>
            </a:endParaRPr>
          </a:p>
        </p:txBody>
      </p:sp>
    </p:spTree>
  </p:cSld>
  <p:clrMapOvr>
    <a:masterClrMapping/>
  </p:clrMapOvr>
  <p:transition spd="slow">
    <p:split orient="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B63A29C-293E-782C-7008-E18F6FBED248}"/>
              </a:ext>
            </a:extLst>
          </p:cNvPr>
          <p:cNvSpPr>
            <a:spLocks noGrp="1"/>
          </p:cNvSpPr>
          <p:nvPr>
            <p:ph type="title"/>
          </p:nvPr>
        </p:nvSpPr>
        <p:spPr>
          <a:xfrm>
            <a:off x="1066800" y="2590800"/>
            <a:ext cx="7772400" cy="1362075"/>
          </a:xfrm>
        </p:spPr>
        <p:txBody>
          <a:bodyPr/>
          <a:lstStyle/>
          <a:p>
            <a:pPr algn="ctr">
              <a:defRPr/>
            </a:pPr>
            <a:r>
              <a:rPr lang="en-US" dirty="0"/>
              <a:t>Principal Component Analysis (PCA)</a:t>
            </a:r>
          </a:p>
        </p:txBody>
      </p:sp>
      <p:sp>
        <p:nvSpPr>
          <p:cNvPr id="4" name="Date Placeholder 3">
            <a:extLst>
              <a:ext uri="{FF2B5EF4-FFF2-40B4-BE49-F238E27FC236}">
                <a16:creationId xmlns:a16="http://schemas.microsoft.com/office/drawing/2014/main" id="{62A4C4D9-93E0-3F12-7B01-3254E6F358C6}"/>
              </a:ext>
            </a:extLst>
          </p:cNvPr>
          <p:cNvSpPr>
            <a:spLocks noGrp="1"/>
          </p:cNvSpPr>
          <p:nvPr>
            <p:ph type="dt" sz="quarter" idx="10"/>
          </p:nvPr>
        </p:nvSpPr>
        <p:spPr/>
        <p:txBody>
          <a:bodyPr/>
          <a:lstStyle/>
          <a:p>
            <a:pPr>
              <a:defRPr/>
            </a:pPr>
            <a:fld id="{32C7E8F6-CCDE-42D4-9F7A-982FD0A92478}" type="datetime1">
              <a:rPr lang="en-US"/>
              <a:pPr>
                <a:defRPr/>
              </a:pPr>
              <a:t>6/12/2023</a:t>
            </a:fld>
            <a:endParaRPr lang="en-US"/>
          </a:p>
        </p:txBody>
      </p:sp>
      <p:sp>
        <p:nvSpPr>
          <p:cNvPr id="5" name="Footer Placeholder 4">
            <a:extLst>
              <a:ext uri="{FF2B5EF4-FFF2-40B4-BE49-F238E27FC236}">
                <a16:creationId xmlns:a16="http://schemas.microsoft.com/office/drawing/2014/main" id="{01CC8FB5-1EED-1E78-5DCE-0F138DAAC0CE}"/>
              </a:ext>
            </a:extLst>
          </p:cNvPr>
          <p:cNvSpPr>
            <a:spLocks noGrp="1"/>
          </p:cNvSpPr>
          <p:nvPr>
            <p:ph type="ftr" sz="quarter" idx="11"/>
          </p:nvPr>
        </p:nvSpPr>
        <p:spPr/>
        <p:txBody>
          <a:bodyPr/>
          <a:lstStyle/>
          <a:p>
            <a:pPr>
              <a:defRPr/>
            </a:pPr>
            <a:r>
              <a:rPr lang="en-US"/>
              <a:t>Data Exploration and Pre-processing</a:t>
            </a:r>
          </a:p>
        </p:txBody>
      </p:sp>
      <p:sp>
        <p:nvSpPr>
          <p:cNvPr id="59397" name="Slide Number Placeholder 5">
            <a:extLst>
              <a:ext uri="{FF2B5EF4-FFF2-40B4-BE49-F238E27FC236}">
                <a16:creationId xmlns:a16="http://schemas.microsoft.com/office/drawing/2014/main" id="{DCC5B70C-E0EE-7418-15AA-408D3B5547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3273AA0-6386-409B-BD53-AF7E45396881}" type="slidenum">
              <a:rPr lang="en-US" altLang="en-US" sz="1200" smtClean="0">
                <a:solidFill>
                  <a:srgbClr val="898989"/>
                </a:solidFill>
              </a:rPr>
              <a:pPr>
                <a:spcBef>
                  <a:spcPct val="0"/>
                </a:spcBef>
                <a:buFontTx/>
                <a:buNone/>
              </a:pPr>
              <a:t>39</a:t>
            </a:fld>
            <a:endParaRPr lang="en-US" altLang="en-US" sz="1200">
              <a:solidFill>
                <a:srgbClr val="898989"/>
              </a:solidFill>
            </a:endParaRPr>
          </a:p>
        </p:txBody>
      </p:sp>
    </p:spTree>
  </p:cSld>
  <p:clrMapOvr>
    <a:masterClrMapping/>
  </p:clrMapOvr>
  <p:transition spd="slow">
    <p:split orient="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0CF95-F1B8-4163-7CC0-BD328175A2FD}"/>
              </a:ext>
            </a:extLst>
          </p:cNvPr>
          <p:cNvSpPr>
            <a:spLocks noGrp="1"/>
          </p:cNvSpPr>
          <p:nvPr>
            <p:ph type="title"/>
          </p:nvPr>
        </p:nvSpPr>
        <p:spPr/>
        <p:txBody>
          <a:bodyPr>
            <a:normAutofit fontScale="90000"/>
          </a:bodyPr>
          <a:lstStyle/>
          <a:p>
            <a:pPr>
              <a:defRPr/>
            </a:pPr>
            <a:r>
              <a:rPr lang="en-US" dirty="0"/>
              <a:t>Principal Component Analysis (PCA)</a:t>
            </a:r>
          </a:p>
        </p:txBody>
      </p:sp>
      <p:sp>
        <p:nvSpPr>
          <p:cNvPr id="60419" name="Content Placeholder 2">
            <a:extLst>
              <a:ext uri="{FF2B5EF4-FFF2-40B4-BE49-F238E27FC236}">
                <a16:creationId xmlns:a16="http://schemas.microsoft.com/office/drawing/2014/main" id="{C7975CF8-C469-0057-CD24-AD33DE3A1126}"/>
              </a:ext>
            </a:extLst>
          </p:cNvPr>
          <p:cNvSpPr>
            <a:spLocks noGrp="1"/>
          </p:cNvSpPr>
          <p:nvPr>
            <p:ph idx="1"/>
          </p:nvPr>
        </p:nvSpPr>
        <p:spPr/>
        <p:txBody>
          <a:bodyPr/>
          <a:lstStyle/>
          <a:p>
            <a:r>
              <a:rPr lang="en-US" altLang="en-US" b="1">
                <a:solidFill>
                  <a:srgbClr val="0070C0"/>
                </a:solidFill>
                <a:latin typeface="Lato"/>
              </a:rPr>
              <a:t>PCA</a:t>
            </a:r>
            <a:r>
              <a:rPr lang="en-US" altLang="en-US">
                <a:solidFill>
                  <a:srgbClr val="222222"/>
                </a:solidFill>
                <a:latin typeface="Lato"/>
              </a:rPr>
              <a:t> is a technique used to emphasize variation and bring out strong patterns in a dataset.</a:t>
            </a:r>
          </a:p>
          <a:p>
            <a:r>
              <a:rPr lang="en-US" altLang="en-US">
                <a:solidFill>
                  <a:srgbClr val="222222"/>
                </a:solidFill>
                <a:latin typeface="Lato"/>
              </a:rPr>
              <a:t>It's often used to make data easy to explore and visualize.</a:t>
            </a:r>
          </a:p>
          <a:p>
            <a:endParaRPr lang="en-US" altLang="en-US">
              <a:solidFill>
                <a:srgbClr val="222222"/>
              </a:solidFill>
              <a:latin typeface="Lato"/>
            </a:endParaRPr>
          </a:p>
          <a:p>
            <a:r>
              <a:rPr lang="en-US" altLang="en-US">
                <a:solidFill>
                  <a:srgbClr val="222222"/>
                </a:solidFill>
                <a:latin typeface="Lato"/>
              </a:rPr>
              <a:t>Decomposes a dataset into a set of successive </a:t>
            </a:r>
            <a:r>
              <a:rPr lang="en-US" altLang="en-US" b="1">
                <a:solidFill>
                  <a:srgbClr val="222222"/>
                </a:solidFill>
                <a:latin typeface="Lato"/>
              </a:rPr>
              <a:t>orthogonal components </a:t>
            </a:r>
            <a:r>
              <a:rPr lang="en-US" altLang="en-US">
                <a:solidFill>
                  <a:srgbClr val="222222"/>
                </a:solidFill>
                <a:latin typeface="Lato"/>
              </a:rPr>
              <a:t>that explain a maximum amount of </a:t>
            </a:r>
            <a:r>
              <a:rPr lang="en-US" altLang="en-US" b="1">
                <a:solidFill>
                  <a:srgbClr val="222222"/>
                </a:solidFill>
                <a:latin typeface="Lato"/>
              </a:rPr>
              <a:t>variance</a:t>
            </a:r>
            <a:r>
              <a:rPr lang="en-US" altLang="en-US">
                <a:solidFill>
                  <a:srgbClr val="222222"/>
                </a:solidFill>
                <a:latin typeface="Lato"/>
              </a:rPr>
              <a:t>.</a:t>
            </a:r>
            <a:endParaRPr lang="en-US" altLang="en-US">
              <a:latin typeface="Open Sans" pitchFamily="34" charset="0"/>
            </a:endParaRPr>
          </a:p>
        </p:txBody>
      </p:sp>
      <p:sp>
        <p:nvSpPr>
          <p:cNvPr id="4" name="Date Placeholder 3">
            <a:extLst>
              <a:ext uri="{FF2B5EF4-FFF2-40B4-BE49-F238E27FC236}">
                <a16:creationId xmlns:a16="http://schemas.microsoft.com/office/drawing/2014/main" id="{81798C0B-D476-DB3E-236C-C6E629FF1FA2}"/>
              </a:ext>
            </a:extLst>
          </p:cNvPr>
          <p:cNvSpPr>
            <a:spLocks noGrp="1"/>
          </p:cNvSpPr>
          <p:nvPr>
            <p:ph type="dt" sz="quarter" idx="10"/>
          </p:nvPr>
        </p:nvSpPr>
        <p:spPr/>
        <p:txBody>
          <a:bodyPr/>
          <a:lstStyle/>
          <a:p>
            <a:pPr>
              <a:defRPr/>
            </a:pPr>
            <a:fld id="{BC2C3469-218F-4939-B1E0-8E410BE3D849}" type="datetime1">
              <a:rPr lang="en-US"/>
              <a:pPr>
                <a:defRPr/>
              </a:pPr>
              <a:t>6/12/2023</a:t>
            </a:fld>
            <a:endParaRPr lang="en-US"/>
          </a:p>
        </p:txBody>
      </p:sp>
      <p:sp>
        <p:nvSpPr>
          <p:cNvPr id="5" name="Footer Placeholder 4">
            <a:extLst>
              <a:ext uri="{FF2B5EF4-FFF2-40B4-BE49-F238E27FC236}">
                <a16:creationId xmlns:a16="http://schemas.microsoft.com/office/drawing/2014/main" id="{AAD7A19F-0E3F-3A42-D5A8-6636CEBCEF37}"/>
              </a:ext>
            </a:extLst>
          </p:cNvPr>
          <p:cNvSpPr>
            <a:spLocks noGrp="1"/>
          </p:cNvSpPr>
          <p:nvPr>
            <p:ph type="ftr" sz="quarter" idx="11"/>
          </p:nvPr>
        </p:nvSpPr>
        <p:spPr/>
        <p:txBody>
          <a:bodyPr/>
          <a:lstStyle/>
          <a:p>
            <a:pPr>
              <a:defRPr/>
            </a:pPr>
            <a:r>
              <a:rPr lang="en-US"/>
              <a:t>Data Exploration and Pre-processing</a:t>
            </a:r>
          </a:p>
        </p:txBody>
      </p:sp>
      <p:sp>
        <p:nvSpPr>
          <p:cNvPr id="60422" name="Slide Number Placeholder 5">
            <a:extLst>
              <a:ext uri="{FF2B5EF4-FFF2-40B4-BE49-F238E27FC236}">
                <a16:creationId xmlns:a16="http://schemas.microsoft.com/office/drawing/2014/main" id="{E7C57CFC-57A5-5A17-263E-0BA60881D3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868BFA8-BF1E-40B8-AFE9-8E5A13230769}" type="slidenum">
              <a:rPr lang="en-US" altLang="en-US" sz="1200" smtClean="0">
                <a:solidFill>
                  <a:srgbClr val="898989"/>
                </a:solidFill>
              </a:rPr>
              <a:pPr>
                <a:spcBef>
                  <a:spcPct val="0"/>
                </a:spcBef>
                <a:buFontTx/>
                <a:buNone/>
              </a:pPr>
              <a:t>40</a:t>
            </a:fld>
            <a:endParaRPr lang="en-US" altLang="en-US" sz="1200">
              <a:solidFill>
                <a:srgbClr val="898989"/>
              </a:solidFill>
            </a:endParaRPr>
          </a:p>
        </p:txBody>
      </p:sp>
      <p:sp>
        <p:nvSpPr>
          <p:cNvPr id="60423" name="TextBox 6">
            <a:extLst>
              <a:ext uri="{FF2B5EF4-FFF2-40B4-BE49-F238E27FC236}">
                <a16:creationId xmlns:a16="http://schemas.microsoft.com/office/drawing/2014/main" id="{F0B0DB73-111A-B8D7-8A4A-064996AD7CDB}"/>
              </a:ext>
            </a:extLst>
          </p:cNvPr>
          <p:cNvSpPr txBox="1">
            <a:spLocks noChangeArrowheads="1"/>
          </p:cNvSpPr>
          <p:nvPr/>
        </p:nvSpPr>
        <p:spPr bwMode="auto">
          <a:xfrm>
            <a:off x="609600" y="5894388"/>
            <a:ext cx="6032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Demo: </a:t>
            </a:r>
            <a:r>
              <a:rPr lang="en-US" altLang="en-US" sz="1800">
                <a:latin typeface="Arial" panose="020B0604020202020204" pitchFamily="34" charset="0"/>
                <a:hlinkClick r:id="rId3"/>
              </a:rPr>
              <a:t>https://setosa.io/ev/principal-component-analysis/</a:t>
            </a:r>
            <a:r>
              <a:rPr lang="en-US" altLang="en-US" sz="1800">
                <a:latin typeface="Arial" panose="020B0604020202020204" pitchFamily="34" charset="0"/>
              </a:rPr>
              <a:t> </a:t>
            </a:r>
          </a:p>
        </p:txBody>
      </p:sp>
    </p:spTree>
  </p:cSld>
  <p:clrMapOvr>
    <a:masterClrMapping/>
  </p:clrMapOvr>
  <p:transition spd="slow">
    <p:split orient="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59AC180E-9933-41D3-71ED-4F3B76949586}"/>
              </a:ext>
            </a:extLst>
          </p:cNvPr>
          <p:cNvSpPr>
            <a:spLocks noGrp="1"/>
          </p:cNvSpPr>
          <p:nvPr>
            <p:ph type="title"/>
          </p:nvPr>
        </p:nvSpPr>
        <p:spPr>
          <a:xfrm>
            <a:off x="2057400" y="228600"/>
            <a:ext cx="6324600" cy="1143000"/>
          </a:xfrm>
        </p:spPr>
        <p:txBody>
          <a:bodyPr/>
          <a:lstStyle/>
          <a:p>
            <a:r>
              <a:rPr lang="en-US" altLang="en-US">
                <a:latin typeface="Open Sans" pitchFamily="34" charset="0"/>
              </a:rPr>
              <a:t>PCA </a:t>
            </a:r>
            <a:r>
              <a:rPr lang="en-US" altLang="en-US" sz="3200">
                <a:latin typeface="Open Sans" pitchFamily="34" charset="0"/>
              </a:rPr>
              <a:t>(cont.)</a:t>
            </a:r>
            <a:endParaRPr lang="en-US" altLang="en-US">
              <a:latin typeface="Open Sans" pitchFamily="34" charset="0"/>
            </a:endParaRPr>
          </a:p>
        </p:txBody>
      </p:sp>
      <p:sp>
        <p:nvSpPr>
          <p:cNvPr id="3" name="Content Placeholder 2">
            <a:extLst>
              <a:ext uri="{FF2B5EF4-FFF2-40B4-BE49-F238E27FC236}">
                <a16:creationId xmlns:a16="http://schemas.microsoft.com/office/drawing/2014/main" id="{477162F3-C716-812B-D4D0-3B3A7D608840}"/>
              </a:ext>
            </a:extLst>
          </p:cNvPr>
          <p:cNvSpPr>
            <a:spLocks noGrp="1"/>
          </p:cNvSpPr>
          <p:nvPr>
            <p:ph idx="1"/>
          </p:nvPr>
        </p:nvSpPr>
        <p:spPr>
          <a:xfrm>
            <a:off x="685800" y="1447800"/>
            <a:ext cx="8229600" cy="4953000"/>
          </a:xfrm>
        </p:spPr>
        <p:txBody>
          <a:bodyPr>
            <a:normAutofit fontScale="92500" lnSpcReduction="10000"/>
          </a:bodyPr>
          <a:lstStyle/>
          <a:p>
            <a:pPr eaLnBrk="1" hangingPunct="1">
              <a:defRPr/>
            </a:pPr>
            <a:r>
              <a:rPr lang="en-US" sz="2000" dirty="0"/>
              <a:t>Given </a:t>
            </a:r>
            <a:r>
              <a:rPr lang="en-US" sz="2000" i="1" dirty="0"/>
              <a:t>N</a:t>
            </a:r>
            <a:r>
              <a:rPr lang="en-US" sz="2000" dirty="0"/>
              <a:t> data vectors from </a:t>
            </a:r>
            <a:r>
              <a:rPr lang="en-US" sz="2000" i="1" dirty="0"/>
              <a:t>n</a:t>
            </a:r>
            <a:r>
              <a:rPr lang="en-US" sz="2000" dirty="0"/>
              <a:t>-dimensions, find </a:t>
            </a:r>
            <a:r>
              <a:rPr lang="en-US" sz="2000" i="1" dirty="0"/>
              <a:t>k</a:t>
            </a:r>
            <a:r>
              <a:rPr lang="en-US" sz="2000" dirty="0"/>
              <a:t> ≤ </a:t>
            </a:r>
            <a:r>
              <a:rPr lang="en-US" sz="2000" i="1" dirty="0"/>
              <a:t>n </a:t>
            </a:r>
            <a:r>
              <a:rPr lang="en-US" sz="2000" dirty="0"/>
              <a:t> orthogonal vectors (</a:t>
            </a:r>
            <a:r>
              <a:rPr lang="en-US" sz="2000" i="1" dirty="0"/>
              <a:t>principal components</a:t>
            </a:r>
            <a:r>
              <a:rPr lang="en-US" sz="2000" dirty="0"/>
              <a:t>) that can be best used to represent data </a:t>
            </a:r>
          </a:p>
          <a:p>
            <a:pPr eaLnBrk="1" hangingPunct="1">
              <a:defRPr/>
            </a:pPr>
            <a:r>
              <a:rPr lang="en-US" sz="2000" dirty="0"/>
              <a:t>Steps</a:t>
            </a:r>
          </a:p>
          <a:p>
            <a:pPr lvl="1" eaLnBrk="1" hangingPunct="1">
              <a:defRPr/>
            </a:pPr>
            <a:r>
              <a:rPr lang="en-US" sz="2000" dirty="0"/>
              <a:t>Normalize input data: Each attribute falls within the same range</a:t>
            </a:r>
          </a:p>
          <a:p>
            <a:pPr lvl="1" eaLnBrk="1" hangingPunct="1">
              <a:defRPr/>
            </a:pPr>
            <a:r>
              <a:rPr lang="en-US" sz="2000" dirty="0"/>
              <a:t>Compute </a:t>
            </a:r>
            <a:r>
              <a:rPr lang="en-US" sz="2000" i="1" dirty="0"/>
              <a:t>k</a:t>
            </a:r>
            <a:r>
              <a:rPr lang="en-US" sz="2000" dirty="0"/>
              <a:t> orthonormal (unit) vectors, i.e., </a:t>
            </a:r>
            <a:r>
              <a:rPr lang="en-US" sz="2000" i="1" dirty="0"/>
              <a:t>principal components</a:t>
            </a:r>
            <a:endParaRPr lang="en-US" sz="2000" dirty="0"/>
          </a:p>
          <a:p>
            <a:pPr lvl="1" eaLnBrk="1" hangingPunct="1">
              <a:defRPr/>
            </a:pPr>
            <a:r>
              <a:rPr lang="en-US" sz="2000" dirty="0"/>
              <a:t>Each input data (vector) is a linear combination of the </a:t>
            </a:r>
            <a:r>
              <a:rPr lang="en-US" sz="2000" i="1" dirty="0"/>
              <a:t>k</a:t>
            </a:r>
            <a:r>
              <a:rPr lang="en-US" sz="2000" dirty="0"/>
              <a:t> principal component vectors</a:t>
            </a:r>
          </a:p>
          <a:p>
            <a:pPr lvl="1" eaLnBrk="1" hangingPunct="1">
              <a:defRPr/>
            </a:pPr>
            <a:r>
              <a:rPr lang="en-US" sz="2000" dirty="0">
                <a:sym typeface="Symbol" pitchFamily="18" charset="2"/>
              </a:rPr>
              <a:t>The principal components are sorted in order of decreasing “significance” or strength</a:t>
            </a:r>
          </a:p>
          <a:p>
            <a:pPr lvl="1" eaLnBrk="1" hangingPunct="1">
              <a:defRPr/>
            </a:pPr>
            <a:r>
              <a:rPr lang="en-US" sz="2000" dirty="0">
                <a:sym typeface="Symbol" pitchFamily="18" charset="2"/>
              </a:rPr>
              <a:t>Since the components are sorted, the size of the data can be reduced by eliminating the weak components, i.e., those with low variance.  (i.e., using the strongest principal components, it is possible to reconstruct a good approximation of the original data</a:t>
            </a:r>
          </a:p>
          <a:p>
            <a:pPr eaLnBrk="1" hangingPunct="1">
              <a:defRPr/>
            </a:pPr>
            <a:r>
              <a:rPr lang="en-US" sz="2000" dirty="0"/>
              <a:t>Works for numeric data only</a:t>
            </a:r>
          </a:p>
          <a:p>
            <a:pPr eaLnBrk="1" hangingPunct="1">
              <a:defRPr/>
            </a:pPr>
            <a:r>
              <a:rPr lang="en-US" sz="2000" dirty="0"/>
              <a:t>Used when the number of dimensions is large</a:t>
            </a:r>
            <a:endParaRPr lang="en-US" sz="3600" dirty="0"/>
          </a:p>
        </p:txBody>
      </p:sp>
      <p:sp>
        <p:nvSpPr>
          <p:cNvPr id="4" name="Date Placeholder 3">
            <a:extLst>
              <a:ext uri="{FF2B5EF4-FFF2-40B4-BE49-F238E27FC236}">
                <a16:creationId xmlns:a16="http://schemas.microsoft.com/office/drawing/2014/main" id="{621DAB15-5B8D-23CC-0C92-DE55E9C8DCB5}"/>
              </a:ext>
            </a:extLst>
          </p:cNvPr>
          <p:cNvSpPr>
            <a:spLocks noGrp="1"/>
          </p:cNvSpPr>
          <p:nvPr>
            <p:ph type="dt" sz="quarter" idx="10"/>
          </p:nvPr>
        </p:nvSpPr>
        <p:spPr/>
        <p:txBody>
          <a:bodyPr/>
          <a:lstStyle/>
          <a:p>
            <a:pPr>
              <a:defRPr/>
            </a:pPr>
            <a:fld id="{B60FBC04-3BC1-4C23-970B-E94023903417}" type="datetime1">
              <a:rPr lang="en-US"/>
              <a:pPr>
                <a:defRPr/>
              </a:pPr>
              <a:t>6/12/2023</a:t>
            </a:fld>
            <a:endParaRPr lang="en-US"/>
          </a:p>
        </p:txBody>
      </p:sp>
      <p:sp>
        <p:nvSpPr>
          <p:cNvPr id="5" name="Footer Placeholder 4">
            <a:extLst>
              <a:ext uri="{FF2B5EF4-FFF2-40B4-BE49-F238E27FC236}">
                <a16:creationId xmlns:a16="http://schemas.microsoft.com/office/drawing/2014/main" id="{163E3CA3-54EE-10BE-591E-35617F7BC735}"/>
              </a:ext>
            </a:extLst>
          </p:cNvPr>
          <p:cNvSpPr>
            <a:spLocks noGrp="1"/>
          </p:cNvSpPr>
          <p:nvPr>
            <p:ph type="ftr" sz="quarter" idx="11"/>
          </p:nvPr>
        </p:nvSpPr>
        <p:spPr/>
        <p:txBody>
          <a:bodyPr/>
          <a:lstStyle/>
          <a:p>
            <a:pPr>
              <a:defRPr/>
            </a:pPr>
            <a:r>
              <a:rPr lang="en-US"/>
              <a:t>Data Exploration and Pre-processing</a:t>
            </a:r>
          </a:p>
        </p:txBody>
      </p:sp>
      <p:sp>
        <p:nvSpPr>
          <p:cNvPr id="62470" name="Slide Number Placeholder 5">
            <a:extLst>
              <a:ext uri="{FF2B5EF4-FFF2-40B4-BE49-F238E27FC236}">
                <a16:creationId xmlns:a16="http://schemas.microsoft.com/office/drawing/2014/main" id="{F278F545-F6AC-44AE-54C7-71EA829A7FC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94EEFEF-2CFC-4C89-8351-99EF968BE08D}" type="slidenum">
              <a:rPr lang="en-US" altLang="en-US" sz="1200" smtClean="0">
                <a:solidFill>
                  <a:srgbClr val="898989"/>
                </a:solidFill>
              </a:rPr>
              <a:pPr>
                <a:spcBef>
                  <a:spcPct val="0"/>
                </a:spcBef>
                <a:buFontTx/>
                <a:buNone/>
              </a:pPr>
              <a:t>41</a:t>
            </a:fld>
            <a:endParaRPr lang="en-US" altLang="en-US" sz="1200">
              <a:solidFill>
                <a:srgbClr val="898989"/>
              </a:solidFill>
            </a:endParaRPr>
          </a:p>
        </p:txBody>
      </p:sp>
    </p:spTree>
  </p:cSld>
  <p:clrMapOvr>
    <a:masterClrMapping/>
  </p:clrMapOvr>
  <p:transition spd="slow">
    <p:split orient="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3E434399-F0E9-34FB-162F-8AA75FD58F92}"/>
              </a:ext>
            </a:extLst>
          </p:cNvPr>
          <p:cNvSpPr>
            <a:spLocks noGrp="1"/>
          </p:cNvSpPr>
          <p:nvPr>
            <p:ph type="title"/>
          </p:nvPr>
        </p:nvSpPr>
        <p:spPr/>
        <p:txBody>
          <a:bodyPr/>
          <a:lstStyle/>
          <a:p>
            <a:r>
              <a:rPr lang="en-US" altLang="en-US">
                <a:latin typeface="Open Sans" pitchFamily="34" charset="0"/>
              </a:rPr>
              <a:t>PCA (Example)</a:t>
            </a:r>
          </a:p>
        </p:txBody>
      </p:sp>
      <p:sp>
        <p:nvSpPr>
          <p:cNvPr id="4" name="Date Placeholder 3">
            <a:extLst>
              <a:ext uri="{FF2B5EF4-FFF2-40B4-BE49-F238E27FC236}">
                <a16:creationId xmlns:a16="http://schemas.microsoft.com/office/drawing/2014/main" id="{6FDE19DF-FDFC-55B9-6A5B-EF136418C51B}"/>
              </a:ext>
            </a:extLst>
          </p:cNvPr>
          <p:cNvSpPr>
            <a:spLocks noGrp="1"/>
          </p:cNvSpPr>
          <p:nvPr>
            <p:ph type="dt" sz="quarter" idx="10"/>
          </p:nvPr>
        </p:nvSpPr>
        <p:spPr/>
        <p:txBody>
          <a:bodyPr/>
          <a:lstStyle/>
          <a:p>
            <a:pPr>
              <a:defRPr/>
            </a:pPr>
            <a:fld id="{B60C7178-7DE3-46C4-8832-C78993860034}" type="datetime1">
              <a:rPr lang="en-US"/>
              <a:pPr>
                <a:defRPr/>
              </a:pPr>
              <a:t>6/12/2023</a:t>
            </a:fld>
            <a:endParaRPr lang="en-US"/>
          </a:p>
        </p:txBody>
      </p:sp>
      <p:sp>
        <p:nvSpPr>
          <p:cNvPr id="5" name="Footer Placeholder 4">
            <a:extLst>
              <a:ext uri="{FF2B5EF4-FFF2-40B4-BE49-F238E27FC236}">
                <a16:creationId xmlns:a16="http://schemas.microsoft.com/office/drawing/2014/main" id="{3846F8FC-7C60-BA52-C599-3A68550FA05C}"/>
              </a:ext>
            </a:extLst>
          </p:cNvPr>
          <p:cNvSpPr>
            <a:spLocks noGrp="1"/>
          </p:cNvSpPr>
          <p:nvPr>
            <p:ph type="ftr" sz="quarter" idx="11"/>
          </p:nvPr>
        </p:nvSpPr>
        <p:spPr/>
        <p:txBody>
          <a:bodyPr/>
          <a:lstStyle/>
          <a:p>
            <a:pPr>
              <a:defRPr/>
            </a:pPr>
            <a:r>
              <a:rPr lang="en-US"/>
              <a:t>Data Exploration and Pre-processing</a:t>
            </a:r>
          </a:p>
        </p:txBody>
      </p:sp>
      <p:sp>
        <p:nvSpPr>
          <p:cNvPr id="63493" name="Slide Number Placeholder 5">
            <a:extLst>
              <a:ext uri="{FF2B5EF4-FFF2-40B4-BE49-F238E27FC236}">
                <a16:creationId xmlns:a16="http://schemas.microsoft.com/office/drawing/2014/main" id="{E97C8460-BF0E-81B0-42F7-BBDF89A7A73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A91D96-F95F-4774-80CE-65A8CA825B51}" type="slidenum">
              <a:rPr lang="en-US" altLang="en-US" sz="1200" smtClean="0">
                <a:solidFill>
                  <a:srgbClr val="898989"/>
                </a:solidFill>
              </a:rPr>
              <a:pPr>
                <a:spcBef>
                  <a:spcPct val="0"/>
                </a:spcBef>
                <a:buFontTx/>
                <a:buNone/>
              </a:pPr>
              <a:t>42</a:t>
            </a:fld>
            <a:endParaRPr lang="en-US" altLang="en-US" sz="1200">
              <a:solidFill>
                <a:srgbClr val="898989"/>
              </a:solidFill>
            </a:endParaRPr>
          </a:p>
        </p:txBody>
      </p:sp>
      <p:pic>
        <p:nvPicPr>
          <p:cNvPr id="63494" name="Picture 6">
            <a:extLst>
              <a:ext uri="{FF2B5EF4-FFF2-40B4-BE49-F238E27FC236}">
                <a16:creationId xmlns:a16="http://schemas.microsoft.com/office/drawing/2014/main" id="{A8FC0584-2970-9A5C-4EBB-78D927F86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1600200"/>
            <a:ext cx="2667000" cy="196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5" name="Picture 7">
            <a:extLst>
              <a:ext uri="{FF2B5EF4-FFF2-40B4-BE49-F238E27FC236}">
                <a16:creationId xmlns:a16="http://schemas.microsoft.com/office/drawing/2014/main" id="{4981783F-DEE8-972D-C843-55E3CC18A1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8863" y="2513013"/>
            <a:ext cx="358933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6" name="Picture 8">
            <a:extLst>
              <a:ext uri="{FF2B5EF4-FFF2-40B4-BE49-F238E27FC236}">
                <a16:creationId xmlns:a16="http://schemas.microsoft.com/office/drawing/2014/main" id="{6866072A-CB18-F62D-0602-0D6C840EE9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0825" y="4041775"/>
            <a:ext cx="2786063"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Arrow: Curved Down 9">
            <a:extLst>
              <a:ext uri="{FF2B5EF4-FFF2-40B4-BE49-F238E27FC236}">
                <a16:creationId xmlns:a16="http://schemas.microsoft.com/office/drawing/2014/main" id="{B215ACE7-4424-6805-20E7-84191F17B0A6}"/>
              </a:ext>
            </a:extLst>
          </p:cNvPr>
          <p:cNvSpPr/>
          <p:nvPr/>
        </p:nvSpPr>
        <p:spPr>
          <a:xfrm>
            <a:off x="4114800" y="1600200"/>
            <a:ext cx="1600200" cy="6096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12" name="Arrow: Curved Down 11">
            <a:extLst>
              <a:ext uri="{FF2B5EF4-FFF2-40B4-BE49-F238E27FC236}">
                <a16:creationId xmlns:a16="http://schemas.microsoft.com/office/drawing/2014/main" id="{9C3712FD-9B12-31F5-E5FC-D572B96B0D44}"/>
              </a:ext>
            </a:extLst>
          </p:cNvPr>
          <p:cNvSpPr/>
          <p:nvPr/>
        </p:nvSpPr>
        <p:spPr>
          <a:xfrm rot="8933574">
            <a:off x="4519613" y="5475288"/>
            <a:ext cx="1600200" cy="6096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63499" name="TextBox 12">
            <a:extLst>
              <a:ext uri="{FF2B5EF4-FFF2-40B4-BE49-F238E27FC236}">
                <a16:creationId xmlns:a16="http://schemas.microsoft.com/office/drawing/2014/main" id="{439C2A9E-A03B-DE22-4766-5147346A7D0A}"/>
              </a:ext>
            </a:extLst>
          </p:cNvPr>
          <p:cNvSpPr txBox="1">
            <a:spLocks noChangeArrowheads="1"/>
          </p:cNvSpPr>
          <p:nvPr/>
        </p:nvSpPr>
        <p:spPr bwMode="auto">
          <a:xfrm>
            <a:off x="4737100" y="1563688"/>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0070C0"/>
                </a:solidFill>
                <a:latin typeface="Arial" panose="020B0604020202020204" pitchFamily="34" charset="0"/>
              </a:rPr>
              <a:t>1</a:t>
            </a:r>
          </a:p>
        </p:txBody>
      </p:sp>
      <p:sp>
        <p:nvSpPr>
          <p:cNvPr id="63500" name="TextBox 14">
            <a:extLst>
              <a:ext uri="{FF2B5EF4-FFF2-40B4-BE49-F238E27FC236}">
                <a16:creationId xmlns:a16="http://schemas.microsoft.com/office/drawing/2014/main" id="{FD73011A-73C6-75D7-C200-9ACD37B233B5}"/>
              </a:ext>
            </a:extLst>
          </p:cNvPr>
          <p:cNvSpPr txBox="1">
            <a:spLocks noChangeArrowheads="1"/>
          </p:cNvSpPr>
          <p:nvPr/>
        </p:nvSpPr>
        <p:spPr bwMode="auto">
          <a:xfrm>
            <a:off x="5232400" y="5549900"/>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0070C0"/>
                </a:solidFill>
                <a:latin typeface="Arial" panose="020B0604020202020204" pitchFamily="34" charset="0"/>
              </a:rPr>
              <a:t>2</a:t>
            </a:r>
          </a:p>
        </p:txBody>
      </p:sp>
    </p:spTree>
  </p:cSld>
  <p:clrMapOvr>
    <a:masterClrMapping/>
  </p:clrMapOvr>
  <p:transition spd="slow">
    <p:split orient="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13">
            <a:extLst>
              <a:ext uri="{FF2B5EF4-FFF2-40B4-BE49-F238E27FC236}">
                <a16:creationId xmlns:a16="http://schemas.microsoft.com/office/drawing/2014/main" id="{03EB9626-F7BA-5387-C3D7-D9F9D45B6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3663" y="2209800"/>
            <a:ext cx="3340100" cy="265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Title 1">
            <a:extLst>
              <a:ext uri="{FF2B5EF4-FFF2-40B4-BE49-F238E27FC236}">
                <a16:creationId xmlns:a16="http://schemas.microsoft.com/office/drawing/2014/main" id="{552D2205-E702-FC75-D0FA-54241D74E485}"/>
              </a:ext>
            </a:extLst>
          </p:cNvPr>
          <p:cNvSpPr>
            <a:spLocks noGrp="1"/>
          </p:cNvSpPr>
          <p:nvPr>
            <p:ph type="title"/>
          </p:nvPr>
        </p:nvSpPr>
        <p:spPr>
          <a:xfrm>
            <a:off x="2062163" y="258763"/>
            <a:ext cx="6324600" cy="1143000"/>
          </a:xfrm>
        </p:spPr>
        <p:txBody>
          <a:bodyPr/>
          <a:lstStyle/>
          <a:p>
            <a:r>
              <a:rPr lang="en-US" altLang="en-US">
                <a:latin typeface="Open Sans" pitchFamily="34" charset="0"/>
              </a:rPr>
              <a:t>PCA (Example) – cont.</a:t>
            </a:r>
          </a:p>
        </p:txBody>
      </p:sp>
      <p:sp>
        <p:nvSpPr>
          <p:cNvPr id="4" name="Date Placeholder 3">
            <a:extLst>
              <a:ext uri="{FF2B5EF4-FFF2-40B4-BE49-F238E27FC236}">
                <a16:creationId xmlns:a16="http://schemas.microsoft.com/office/drawing/2014/main" id="{7A061319-1843-005C-8990-5636FCC378C9}"/>
              </a:ext>
            </a:extLst>
          </p:cNvPr>
          <p:cNvSpPr>
            <a:spLocks noGrp="1"/>
          </p:cNvSpPr>
          <p:nvPr>
            <p:ph type="dt" sz="quarter" idx="10"/>
          </p:nvPr>
        </p:nvSpPr>
        <p:spPr/>
        <p:txBody>
          <a:bodyPr/>
          <a:lstStyle/>
          <a:p>
            <a:pPr>
              <a:defRPr/>
            </a:pPr>
            <a:fld id="{C4139677-D7B6-41FE-9972-387C9EC163D2}" type="datetime1">
              <a:rPr lang="en-US"/>
              <a:pPr>
                <a:defRPr/>
              </a:pPr>
              <a:t>6/12/2023</a:t>
            </a:fld>
            <a:endParaRPr lang="en-US"/>
          </a:p>
        </p:txBody>
      </p:sp>
      <p:sp>
        <p:nvSpPr>
          <p:cNvPr id="5" name="Footer Placeholder 4">
            <a:extLst>
              <a:ext uri="{FF2B5EF4-FFF2-40B4-BE49-F238E27FC236}">
                <a16:creationId xmlns:a16="http://schemas.microsoft.com/office/drawing/2014/main" id="{8754A3C7-3FCB-E282-C129-9E4B24C05FC6}"/>
              </a:ext>
            </a:extLst>
          </p:cNvPr>
          <p:cNvSpPr>
            <a:spLocks noGrp="1"/>
          </p:cNvSpPr>
          <p:nvPr>
            <p:ph type="ftr" sz="quarter" idx="11"/>
          </p:nvPr>
        </p:nvSpPr>
        <p:spPr/>
        <p:txBody>
          <a:bodyPr/>
          <a:lstStyle/>
          <a:p>
            <a:pPr>
              <a:defRPr/>
            </a:pPr>
            <a:r>
              <a:rPr lang="en-US"/>
              <a:t>Data Exploration and Pre-processing</a:t>
            </a:r>
          </a:p>
        </p:txBody>
      </p:sp>
      <p:sp>
        <p:nvSpPr>
          <p:cNvPr id="65542" name="Slide Number Placeholder 5">
            <a:extLst>
              <a:ext uri="{FF2B5EF4-FFF2-40B4-BE49-F238E27FC236}">
                <a16:creationId xmlns:a16="http://schemas.microsoft.com/office/drawing/2014/main" id="{CDC039E2-8022-8F41-4DDC-B186DFB9F11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DF216A8-D9A7-406F-B0C4-49635295A9B8}" type="slidenum">
              <a:rPr lang="en-US" altLang="en-US" sz="1200" smtClean="0">
                <a:solidFill>
                  <a:srgbClr val="898989"/>
                </a:solidFill>
              </a:rPr>
              <a:pPr>
                <a:spcBef>
                  <a:spcPct val="0"/>
                </a:spcBef>
                <a:buFontTx/>
                <a:buNone/>
              </a:pPr>
              <a:t>43</a:t>
            </a:fld>
            <a:endParaRPr lang="en-US" altLang="en-US" sz="1200">
              <a:solidFill>
                <a:srgbClr val="898989"/>
              </a:solidFill>
            </a:endParaRPr>
          </a:p>
        </p:txBody>
      </p:sp>
      <p:sp>
        <p:nvSpPr>
          <p:cNvPr id="10" name="Arrow: Curved Down 9">
            <a:extLst>
              <a:ext uri="{FF2B5EF4-FFF2-40B4-BE49-F238E27FC236}">
                <a16:creationId xmlns:a16="http://schemas.microsoft.com/office/drawing/2014/main" id="{DFD4B92D-FEAD-3280-3D95-54367CE68C7F}"/>
              </a:ext>
            </a:extLst>
          </p:cNvPr>
          <p:cNvSpPr/>
          <p:nvPr/>
        </p:nvSpPr>
        <p:spPr>
          <a:xfrm>
            <a:off x="4114800" y="1600200"/>
            <a:ext cx="1600200" cy="6096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65544" name="TextBox 12">
            <a:extLst>
              <a:ext uri="{FF2B5EF4-FFF2-40B4-BE49-F238E27FC236}">
                <a16:creationId xmlns:a16="http://schemas.microsoft.com/office/drawing/2014/main" id="{765B4548-BB8B-18F2-14AD-D07D7CD5DD33}"/>
              </a:ext>
            </a:extLst>
          </p:cNvPr>
          <p:cNvSpPr txBox="1">
            <a:spLocks noChangeArrowheads="1"/>
          </p:cNvSpPr>
          <p:nvPr/>
        </p:nvSpPr>
        <p:spPr bwMode="auto">
          <a:xfrm>
            <a:off x="4737100" y="1563688"/>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0070C0"/>
                </a:solidFill>
                <a:latin typeface="Arial" panose="020B0604020202020204" pitchFamily="34" charset="0"/>
              </a:rPr>
              <a:t>3</a:t>
            </a:r>
          </a:p>
        </p:txBody>
      </p:sp>
      <p:pic>
        <p:nvPicPr>
          <p:cNvPr id="65545" name="Picture 2">
            <a:extLst>
              <a:ext uri="{FF2B5EF4-FFF2-40B4-BE49-F238E27FC236}">
                <a16:creationId xmlns:a16="http://schemas.microsoft.com/office/drawing/2014/main" id="{D37C5983-41F8-225B-F8D8-78DDB3C34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400" y="1389063"/>
            <a:ext cx="280828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6" name="TextBox 15">
            <a:extLst>
              <a:ext uri="{FF2B5EF4-FFF2-40B4-BE49-F238E27FC236}">
                <a16:creationId xmlns:a16="http://schemas.microsoft.com/office/drawing/2014/main" id="{8D7A383C-BC7F-3F08-59BC-F79B41F925DD}"/>
              </a:ext>
            </a:extLst>
          </p:cNvPr>
          <p:cNvSpPr txBox="1">
            <a:spLocks noChangeArrowheads="1"/>
          </p:cNvSpPr>
          <p:nvPr/>
        </p:nvSpPr>
        <p:spPr bwMode="auto">
          <a:xfrm>
            <a:off x="4976813" y="2776538"/>
            <a:ext cx="16843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latin typeface="Arial" panose="020B0604020202020204" pitchFamily="34" charset="0"/>
              </a:rPr>
              <a:t>(orthogonally) projected point </a:t>
            </a:r>
          </a:p>
        </p:txBody>
      </p:sp>
      <p:sp>
        <p:nvSpPr>
          <p:cNvPr id="65547" name="TextBox 17">
            <a:extLst>
              <a:ext uri="{FF2B5EF4-FFF2-40B4-BE49-F238E27FC236}">
                <a16:creationId xmlns:a16="http://schemas.microsoft.com/office/drawing/2014/main" id="{27A9BEE4-BD36-3C5B-2D57-C5E2CDB07787}"/>
              </a:ext>
            </a:extLst>
          </p:cNvPr>
          <p:cNvSpPr txBox="1">
            <a:spLocks noChangeArrowheads="1"/>
          </p:cNvSpPr>
          <p:nvPr/>
        </p:nvSpPr>
        <p:spPr bwMode="auto">
          <a:xfrm>
            <a:off x="6629400" y="2057400"/>
            <a:ext cx="168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b="1">
                <a:solidFill>
                  <a:srgbClr val="00B050"/>
                </a:solidFill>
                <a:latin typeface="Arial" panose="020B0604020202020204" pitchFamily="34" charset="0"/>
              </a:rPr>
              <a:t>PC 1</a:t>
            </a:r>
          </a:p>
          <a:p>
            <a:pPr algn="ctr">
              <a:spcBef>
                <a:spcPct val="0"/>
              </a:spcBef>
              <a:buFontTx/>
              <a:buNone/>
            </a:pPr>
            <a:r>
              <a:rPr lang="en-US" altLang="en-US" sz="1400" b="1">
                <a:solidFill>
                  <a:srgbClr val="00B050"/>
                </a:solidFill>
                <a:latin typeface="Arial" panose="020B0604020202020204" pitchFamily="34" charset="0"/>
              </a:rPr>
              <a:t>candidate</a:t>
            </a:r>
          </a:p>
        </p:txBody>
      </p:sp>
      <p:sp>
        <p:nvSpPr>
          <p:cNvPr id="19" name="TextBox 18">
            <a:extLst>
              <a:ext uri="{FF2B5EF4-FFF2-40B4-BE49-F238E27FC236}">
                <a16:creationId xmlns:a16="http://schemas.microsoft.com/office/drawing/2014/main" id="{AB7C515E-C6D2-7863-27C5-CA40C4E04FF6}"/>
              </a:ext>
            </a:extLst>
          </p:cNvPr>
          <p:cNvSpPr txBox="1"/>
          <p:nvPr/>
        </p:nvSpPr>
        <p:spPr>
          <a:xfrm>
            <a:off x="5092700" y="4862513"/>
            <a:ext cx="4060825" cy="1570037"/>
          </a:xfrm>
          <a:prstGeom prst="rect">
            <a:avLst/>
          </a:prstGeom>
          <a:noFill/>
        </p:spPr>
        <p:txBody>
          <a:bodyPr>
            <a:spAutoFit/>
          </a:bodyPr>
          <a:lstStyle/>
          <a:p>
            <a:pPr>
              <a:defRPr/>
            </a:pPr>
            <a:r>
              <a:rPr lang="en-US" sz="1600" b="1" u="sng" dirty="0"/>
              <a:t>Goal:</a:t>
            </a:r>
          </a:p>
          <a:p>
            <a:pPr marL="285750" indent="-285750">
              <a:buFont typeface="Arial" panose="020B0604020202020204" pitchFamily="34" charset="0"/>
              <a:buChar char="•"/>
              <a:defRPr/>
            </a:pPr>
            <a:r>
              <a:rPr lang="en-US" sz="1600" dirty="0"/>
              <a:t>Minimum orthogonal distance from each point to Principal Component (PC)</a:t>
            </a:r>
          </a:p>
          <a:p>
            <a:pPr marL="285750" indent="-285750">
              <a:buFont typeface="Arial" panose="020B0604020202020204" pitchFamily="34" charset="0"/>
              <a:buChar char="•"/>
              <a:defRPr/>
            </a:pPr>
            <a:r>
              <a:rPr lang="en-US" sz="1600" dirty="0"/>
              <a:t>Maximum variance (maximum Sum of Squares)</a:t>
            </a:r>
          </a:p>
          <a:p>
            <a:pPr marL="285750" indent="-285750">
              <a:buFont typeface="Arial" panose="020B0604020202020204" pitchFamily="34" charset="0"/>
              <a:buChar char="•"/>
              <a:defRPr/>
            </a:pPr>
            <a:endParaRPr lang="en-US" sz="1600" dirty="0"/>
          </a:p>
        </p:txBody>
      </p:sp>
      <p:pic>
        <p:nvPicPr>
          <p:cNvPr id="65549" name="Picture 19">
            <a:extLst>
              <a:ext uri="{FF2B5EF4-FFF2-40B4-BE49-F238E27FC236}">
                <a16:creationId xmlns:a16="http://schemas.microsoft.com/office/drawing/2014/main" id="{B67B25FC-994B-CD0F-B523-2B10A38A39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5188" y="3559175"/>
            <a:ext cx="3082925"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Arrow: Curved Down 21">
            <a:extLst>
              <a:ext uri="{FF2B5EF4-FFF2-40B4-BE49-F238E27FC236}">
                <a16:creationId xmlns:a16="http://schemas.microsoft.com/office/drawing/2014/main" id="{F21908BE-478D-EEEE-730D-D4DDDBF35EB8}"/>
              </a:ext>
            </a:extLst>
          </p:cNvPr>
          <p:cNvSpPr/>
          <p:nvPr/>
        </p:nvSpPr>
        <p:spPr>
          <a:xfrm rot="8768994">
            <a:off x="3995738" y="4343400"/>
            <a:ext cx="1600200" cy="609600"/>
          </a:xfrm>
          <a:prstGeom prst="curvedDownArrow">
            <a:avLst>
              <a:gd name="adj1" fmla="val 25000"/>
              <a:gd name="adj2" fmla="val 50000"/>
              <a:gd name="adj3" fmla="val 43744"/>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65551" name="TextBox 23">
            <a:extLst>
              <a:ext uri="{FF2B5EF4-FFF2-40B4-BE49-F238E27FC236}">
                <a16:creationId xmlns:a16="http://schemas.microsoft.com/office/drawing/2014/main" id="{9E384110-F1D0-A182-E8DA-86F224784CA7}"/>
              </a:ext>
            </a:extLst>
          </p:cNvPr>
          <p:cNvSpPr txBox="1">
            <a:spLocks noChangeArrowheads="1"/>
          </p:cNvSpPr>
          <p:nvPr/>
        </p:nvSpPr>
        <p:spPr bwMode="auto">
          <a:xfrm>
            <a:off x="4708525" y="4418013"/>
            <a:ext cx="357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0070C0"/>
                </a:solidFill>
                <a:latin typeface="Arial" panose="020B0604020202020204" pitchFamily="34" charset="0"/>
              </a:rPr>
              <a:t>4</a:t>
            </a:r>
          </a:p>
        </p:txBody>
      </p:sp>
      <p:sp>
        <p:nvSpPr>
          <p:cNvPr id="65552" name="TextBox 25">
            <a:extLst>
              <a:ext uri="{FF2B5EF4-FFF2-40B4-BE49-F238E27FC236}">
                <a16:creationId xmlns:a16="http://schemas.microsoft.com/office/drawing/2014/main" id="{B682D4A1-7FE4-FD6F-1455-CCAA891893C3}"/>
              </a:ext>
            </a:extLst>
          </p:cNvPr>
          <p:cNvSpPr txBox="1">
            <a:spLocks noChangeArrowheads="1"/>
          </p:cNvSpPr>
          <p:nvPr/>
        </p:nvSpPr>
        <p:spPr bwMode="auto">
          <a:xfrm>
            <a:off x="-9525" y="5487988"/>
            <a:ext cx="22764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pPr>
            <a:r>
              <a:rPr lang="en-US" altLang="en-US" sz="1600">
                <a:latin typeface="Arial" panose="020B0604020202020204" pitchFamily="34" charset="0"/>
              </a:rPr>
              <a:t>Compute Variance from PC1</a:t>
            </a:r>
          </a:p>
          <a:p>
            <a:pPr>
              <a:spcBef>
                <a:spcPct val="0"/>
              </a:spcBef>
            </a:pPr>
            <a:r>
              <a:rPr lang="en-US" altLang="en-US" sz="1600">
                <a:latin typeface="Arial" panose="020B0604020202020204" pitchFamily="34" charset="0"/>
              </a:rPr>
              <a:t>Compute Variance from PC2</a:t>
            </a:r>
          </a:p>
        </p:txBody>
      </p:sp>
      <p:sp>
        <p:nvSpPr>
          <p:cNvPr id="27" name="Right Brace 26">
            <a:extLst>
              <a:ext uri="{FF2B5EF4-FFF2-40B4-BE49-F238E27FC236}">
                <a16:creationId xmlns:a16="http://schemas.microsoft.com/office/drawing/2014/main" id="{017E3443-D8E8-B0F3-B65B-6C6EC98C1098}"/>
              </a:ext>
            </a:extLst>
          </p:cNvPr>
          <p:cNvSpPr/>
          <p:nvPr/>
        </p:nvSpPr>
        <p:spPr>
          <a:xfrm>
            <a:off x="2266950" y="5648325"/>
            <a:ext cx="314325" cy="950913"/>
          </a:xfrm>
          <a:prstGeom prst="righ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5554" name="TextBox 27">
            <a:extLst>
              <a:ext uri="{FF2B5EF4-FFF2-40B4-BE49-F238E27FC236}">
                <a16:creationId xmlns:a16="http://schemas.microsoft.com/office/drawing/2014/main" id="{A9C2C454-1194-E098-DFFC-C47852B648D5}"/>
              </a:ext>
            </a:extLst>
          </p:cNvPr>
          <p:cNvSpPr txBox="1">
            <a:spLocks noChangeArrowheads="1"/>
          </p:cNvSpPr>
          <p:nvPr/>
        </p:nvSpPr>
        <p:spPr bwMode="auto">
          <a:xfrm>
            <a:off x="2706688" y="5729288"/>
            <a:ext cx="17891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solidFill>
                  <a:srgbClr val="0070C0"/>
                </a:solidFill>
                <a:latin typeface="Arial" panose="020B0604020202020204" pitchFamily="34" charset="0"/>
              </a:rPr>
              <a:t>to determine which features are important</a:t>
            </a:r>
          </a:p>
        </p:txBody>
      </p:sp>
    </p:spTree>
  </p:cSld>
  <p:clrMapOvr>
    <a:masterClrMapping/>
  </p:clrMapOvr>
  <p:transition spd="slow">
    <p:split orient="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C17D9E-B6FE-6FFB-BB68-12C831F7B02D}"/>
              </a:ext>
            </a:extLst>
          </p:cNvPr>
          <p:cNvSpPr>
            <a:spLocks noGrp="1"/>
          </p:cNvSpPr>
          <p:nvPr>
            <p:ph type="title"/>
          </p:nvPr>
        </p:nvSpPr>
        <p:spPr>
          <a:xfrm>
            <a:off x="914400" y="2514600"/>
            <a:ext cx="7772400" cy="1362075"/>
          </a:xfrm>
        </p:spPr>
        <p:txBody>
          <a:bodyPr/>
          <a:lstStyle/>
          <a:p>
            <a:pPr algn="ctr">
              <a:defRPr/>
            </a:pPr>
            <a:r>
              <a:rPr lang="en-US" dirty="0"/>
              <a:t>Linear Discriminant Analysis (LDA)</a:t>
            </a:r>
          </a:p>
        </p:txBody>
      </p:sp>
      <p:sp>
        <p:nvSpPr>
          <p:cNvPr id="4" name="Date Placeholder 3">
            <a:extLst>
              <a:ext uri="{FF2B5EF4-FFF2-40B4-BE49-F238E27FC236}">
                <a16:creationId xmlns:a16="http://schemas.microsoft.com/office/drawing/2014/main" id="{04FC462C-D80B-11C1-BABF-289F2181A8A4}"/>
              </a:ext>
            </a:extLst>
          </p:cNvPr>
          <p:cNvSpPr>
            <a:spLocks noGrp="1"/>
          </p:cNvSpPr>
          <p:nvPr>
            <p:ph type="dt" sz="quarter" idx="10"/>
          </p:nvPr>
        </p:nvSpPr>
        <p:spPr/>
        <p:txBody>
          <a:bodyPr/>
          <a:lstStyle/>
          <a:p>
            <a:pPr>
              <a:defRPr/>
            </a:pPr>
            <a:fld id="{F00F4F5C-63A5-41B2-AD2D-C55ECC91E340}" type="datetime1">
              <a:rPr lang="en-US"/>
              <a:pPr>
                <a:defRPr/>
              </a:pPr>
              <a:t>6/12/2023</a:t>
            </a:fld>
            <a:endParaRPr lang="en-US"/>
          </a:p>
        </p:txBody>
      </p:sp>
      <p:sp>
        <p:nvSpPr>
          <p:cNvPr id="5" name="Footer Placeholder 4">
            <a:extLst>
              <a:ext uri="{FF2B5EF4-FFF2-40B4-BE49-F238E27FC236}">
                <a16:creationId xmlns:a16="http://schemas.microsoft.com/office/drawing/2014/main" id="{5CE63DF4-DC31-8437-ED94-ABE94F02DBDA}"/>
              </a:ext>
            </a:extLst>
          </p:cNvPr>
          <p:cNvSpPr>
            <a:spLocks noGrp="1"/>
          </p:cNvSpPr>
          <p:nvPr>
            <p:ph type="ftr" sz="quarter" idx="11"/>
          </p:nvPr>
        </p:nvSpPr>
        <p:spPr/>
        <p:txBody>
          <a:bodyPr/>
          <a:lstStyle/>
          <a:p>
            <a:pPr>
              <a:defRPr/>
            </a:pPr>
            <a:r>
              <a:rPr lang="en-US"/>
              <a:t>Data Exploration and Pre-processing</a:t>
            </a:r>
          </a:p>
        </p:txBody>
      </p:sp>
      <p:sp>
        <p:nvSpPr>
          <p:cNvPr id="67589" name="Slide Number Placeholder 5">
            <a:extLst>
              <a:ext uri="{FF2B5EF4-FFF2-40B4-BE49-F238E27FC236}">
                <a16:creationId xmlns:a16="http://schemas.microsoft.com/office/drawing/2014/main" id="{B88E6061-1F9D-4176-D6EF-B71EE55D7DE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E8E612-7D91-4C1D-BF30-1517AC6A71EE}" type="slidenum">
              <a:rPr lang="en-US" altLang="en-US" sz="1200" smtClean="0">
                <a:solidFill>
                  <a:srgbClr val="898989"/>
                </a:solidFill>
              </a:rPr>
              <a:pPr>
                <a:spcBef>
                  <a:spcPct val="0"/>
                </a:spcBef>
                <a:buFontTx/>
                <a:buNone/>
              </a:pPr>
              <a:t>44</a:t>
            </a:fld>
            <a:endParaRPr lang="en-US" altLang="en-US" sz="1200">
              <a:solidFill>
                <a:srgbClr val="898989"/>
              </a:solidFill>
            </a:endParaRPr>
          </a:p>
        </p:txBody>
      </p:sp>
    </p:spTree>
  </p:cSld>
  <p:clrMapOvr>
    <a:masterClrMapping/>
  </p:clrMapOvr>
  <p:transition spd="slow">
    <p:split orient="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68006-C3A2-7428-3C74-E0B96D6B21DD}"/>
              </a:ext>
            </a:extLst>
          </p:cNvPr>
          <p:cNvSpPr>
            <a:spLocks noGrp="1"/>
          </p:cNvSpPr>
          <p:nvPr>
            <p:ph type="title"/>
          </p:nvPr>
        </p:nvSpPr>
        <p:spPr/>
        <p:txBody>
          <a:bodyPr>
            <a:normAutofit fontScale="90000"/>
          </a:bodyPr>
          <a:lstStyle/>
          <a:p>
            <a:pPr>
              <a:defRPr/>
            </a:pPr>
            <a:r>
              <a:rPr lang="en-US" dirty="0"/>
              <a:t>Linear Discriminant Analysis (LDA)</a:t>
            </a:r>
          </a:p>
        </p:txBody>
      </p:sp>
      <p:sp>
        <p:nvSpPr>
          <p:cNvPr id="68611" name="Content Placeholder 2">
            <a:extLst>
              <a:ext uri="{FF2B5EF4-FFF2-40B4-BE49-F238E27FC236}">
                <a16:creationId xmlns:a16="http://schemas.microsoft.com/office/drawing/2014/main" id="{C3A8A2C3-1716-1D77-0ADB-A8DA9E1AAFAB}"/>
              </a:ext>
            </a:extLst>
          </p:cNvPr>
          <p:cNvSpPr>
            <a:spLocks noGrp="1"/>
          </p:cNvSpPr>
          <p:nvPr>
            <p:ph idx="1"/>
          </p:nvPr>
        </p:nvSpPr>
        <p:spPr/>
        <p:txBody>
          <a:bodyPr/>
          <a:lstStyle/>
          <a:p>
            <a:r>
              <a:rPr lang="en-US" altLang="en-US">
                <a:latin typeface="Open Sans" pitchFamily="34" charset="0"/>
              </a:rPr>
              <a:t>A supervised dimensionality reduction technique to be used with </a:t>
            </a:r>
            <a:r>
              <a:rPr lang="en-US" altLang="en-US" u="sng">
                <a:latin typeface="Open Sans" pitchFamily="34" charset="0"/>
              </a:rPr>
              <a:t>continuous independent </a:t>
            </a:r>
            <a:r>
              <a:rPr lang="en-US" altLang="en-US">
                <a:latin typeface="Open Sans" pitchFamily="34" charset="0"/>
              </a:rPr>
              <a:t>variables and a </a:t>
            </a:r>
            <a:r>
              <a:rPr lang="en-US" altLang="en-US" u="sng">
                <a:latin typeface="Open Sans" pitchFamily="34" charset="0"/>
              </a:rPr>
              <a:t>categorical dependent </a:t>
            </a:r>
            <a:r>
              <a:rPr lang="en-US" altLang="en-US">
                <a:latin typeface="Open Sans" pitchFamily="34" charset="0"/>
              </a:rPr>
              <a:t>variable.</a:t>
            </a:r>
          </a:p>
          <a:p>
            <a:endParaRPr lang="en-US" altLang="en-US">
              <a:latin typeface="Open Sans" pitchFamily="34" charset="0"/>
            </a:endParaRPr>
          </a:p>
          <a:p>
            <a:r>
              <a:rPr lang="en-US" altLang="en-US">
                <a:latin typeface="Open Sans" pitchFamily="34" charset="0"/>
              </a:rPr>
              <a:t>How much can we reduce the number of features? </a:t>
            </a:r>
            <a:r>
              <a:rPr lang="en-US" altLang="en-US">
                <a:solidFill>
                  <a:srgbClr val="0070C0"/>
                </a:solidFill>
                <a:latin typeface="Open Sans" pitchFamily="34" charset="0"/>
              </a:rPr>
              <a:t>Number of classes – 1</a:t>
            </a:r>
          </a:p>
        </p:txBody>
      </p:sp>
      <p:sp>
        <p:nvSpPr>
          <p:cNvPr id="4" name="Date Placeholder 3">
            <a:extLst>
              <a:ext uri="{FF2B5EF4-FFF2-40B4-BE49-F238E27FC236}">
                <a16:creationId xmlns:a16="http://schemas.microsoft.com/office/drawing/2014/main" id="{91038BB1-E1F2-71C9-1D0D-8D497B9E0AC4}"/>
              </a:ext>
            </a:extLst>
          </p:cNvPr>
          <p:cNvSpPr>
            <a:spLocks noGrp="1"/>
          </p:cNvSpPr>
          <p:nvPr>
            <p:ph type="dt" sz="quarter" idx="10"/>
          </p:nvPr>
        </p:nvSpPr>
        <p:spPr/>
        <p:txBody>
          <a:bodyPr/>
          <a:lstStyle/>
          <a:p>
            <a:pPr>
              <a:defRPr/>
            </a:pPr>
            <a:fld id="{2666C434-F2B6-4BF2-A81B-C0F67A9F18C0}" type="datetime1">
              <a:rPr lang="en-US"/>
              <a:pPr>
                <a:defRPr/>
              </a:pPr>
              <a:t>6/12/2023</a:t>
            </a:fld>
            <a:endParaRPr lang="en-US"/>
          </a:p>
        </p:txBody>
      </p:sp>
      <p:sp>
        <p:nvSpPr>
          <p:cNvPr id="5" name="Footer Placeholder 4">
            <a:extLst>
              <a:ext uri="{FF2B5EF4-FFF2-40B4-BE49-F238E27FC236}">
                <a16:creationId xmlns:a16="http://schemas.microsoft.com/office/drawing/2014/main" id="{D852924C-B574-37A1-BA01-24A77E08B1EE}"/>
              </a:ext>
            </a:extLst>
          </p:cNvPr>
          <p:cNvSpPr>
            <a:spLocks noGrp="1"/>
          </p:cNvSpPr>
          <p:nvPr>
            <p:ph type="ftr" sz="quarter" idx="11"/>
          </p:nvPr>
        </p:nvSpPr>
        <p:spPr/>
        <p:txBody>
          <a:bodyPr/>
          <a:lstStyle/>
          <a:p>
            <a:pPr>
              <a:defRPr/>
            </a:pPr>
            <a:r>
              <a:rPr lang="en-US"/>
              <a:t>Data Exploration and Pre-processing</a:t>
            </a:r>
          </a:p>
        </p:txBody>
      </p:sp>
      <p:sp>
        <p:nvSpPr>
          <p:cNvPr id="68614" name="Slide Number Placeholder 5">
            <a:extLst>
              <a:ext uri="{FF2B5EF4-FFF2-40B4-BE49-F238E27FC236}">
                <a16:creationId xmlns:a16="http://schemas.microsoft.com/office/drawing/2014/main" id="{299FB519-C5A1-890E-102F-6D98537F93D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1E3A4E2-EED9-4E41-BE4C-C1AAD677A87F}" type="slidenum">
              <a:rPr lang="en-US" altLang="en-US" sz="1200" smtClean="0">
                <a:solidFill>
                  <a:srgbClr val="898989"/>
                </a:solidFill>
              </a:rPr>
              <a:pPr>
                <a:spcBef>
                  <a:spcPct val="0"/>
                </a:spcBef>
                <a:buFontTx/>
                <a:buNone/>
              </a:pPr>
              <a:t>45</a:t>
            </a:fld>
            <a:endParaRPr lang="en-US" altLang="en-US" sz="1200">
              <a:solidFill>
                <a:srgbClr val="898989"/>
              </a:solidFill>
            </a:endParaRPr>
          </a:p>
        </p:txBody>
      </p:sp>
    </p:spTree>
  </p:cSld>
  <p:clrMapOvr>
    <a:masterClrMapping/>
  </p:clrMapOvr>
  <p:transition spd="slow">
    <p:split orient="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C62937A3-B6A3-9844-C625-86BD1C826FF7}"/>
              </a:ext>
            </a:extLst>
          </p:cNvPr>
          <p:cNvSpPr>
            <a:spLocks noGrp="1"/>
          </p:cNvSpPr>
          <p:nvPr>
            <p:ph type="title"/>
          </p:nvPr>
        </p:nvSpPr>
        <p:spPr/>
        <p:txBody>
          <a:bodyPr/>
          <a:lstStyle/>
          <a:p>
            <a:r>
              <a:rPr lang="en-US" altLang="en-US">
                <a:latin typeface="Open Sans" pitchFamily="34" charset="0"/>
              </a:rPr>
              <a:t>General Steps of LDA</a:t>
            </a:r>
          </a:p>
        </p:txBody>
      </p:sp>
      <p:sp>
        <p:nvSpPr>
          <p:cNvPr id="69635" name="Content Placeholder 2">
            <a:extLst>
              <a:ext uri="{FF2B5EF4-FFF2-40B4-BE49-F238E27FC236}">
                <a16:creationId xmlns:a16="http://schemas.microsoft.com/office/drawing/2014/main" id="{33D1E86C-0738-5153-49F2-44326B6707D7}"/>
              </a:ext>
            </a:extLst>
          </p:cNvPr>
          <p:cNvSpPr>
            <a:spLocks noGrp="1"/>
          </p:cNvSpPr>
          <p:nvPr>
            <p:ph idx="1"/>
          </p:nvPr>
        </p:nvSpPr>
        <p:spPr/>
        <p:txBody>
          <a:bodyPr/>
          <a:lstStyle/>
          <a:p>
            <a:pPr marL="514350" indent="-514350">
              <a:buFont typeface="Calibri" panose="020F0502020204030204" pitchFamily="34" charset="0"/>
              <a:buAutoNum type="arabicPeriod"/>
            </a:pPr>
            <a:r>
              <a:rPr lang="en-US" altLang="en-US">
                <a:latin typeface="Open Sans" pitchFamily="34" charset="0"/>
              </a:rPr>
              <a:t>Calculate the separability between different classes (i.e. distance between the means of different classes)</a:t>
            </a:r>
          </a:p>
          <a:p>
            <a:pPr marL="914400" lvl="1" indent="-514350"/>
            <a:r>
              <a:rPr lang="en-US" altLang="en-US" sz="2400">
                <a:latin typeface="Open Sans" pitchFamily="34" charset="0"/>
              </a:rPr>
              <a:t>between-class variance or between-class matrix</a:t>
            </a:r>
          </a:p>
          <a:p>
            <a:pPr marL="514350" indent="-514350">
              <a:buFont typeface="Calibri" panose="020F0502020204030204" pitchFamily="34" charset="0"/>
              <a:buAutoNum type="arabicPeriod"/>
            </a:pPr>
            <a:r>
              <a:rPr lang="en-US" altLang="en-US">
                <a:latin typeface="Open Sans" pitchFamily="34" charset="0"/>
              </a:rPr>
              <a:t>Calculate the distance between the mean and the samples of each class</a:t>
            </a:r>
          </a:p>
          <a:p>
            <a:pPr marL="914400" lvl="1" indent="-514350"/>
            <a:r>
              <a:rPr lang="en-US" altLang="en-US" sz="2400">
                <a:latin typeface="Open Sans" pitchFamily="34" charset="0"/>
              </a:rPr>
              <a:t>within-class variance or within-class matrix</a:t>
            </a:r>
          </a:p>
          <a:p>
            <a:pPr marL="514350" indent="-514350">
              <a:buFont typeface="Calibri" panose="020F0502020204030204" pitchFamily="34" charset="0"/>
              <a:buAutoNum type="arabicPeriod"/>
            </a:pPr>
            <a:r>
              <a:rPr lang="en-US" altLang="en-US">
                <a:latin typeface="Open Sans" pitchFamily="34" charset="0"/>
              </a:rPr>
              <a:t>Construct the lower dimensional space which maximizes the between-class variance and minimizes the within-class variance</a:t>
            </a:r>
          </a:p>
        </p:txBody>
      </p:sp>
      <p:sp>
        <p:nvSpPr>
          <p:cNvPr id="4" name="Date Placeholder 3">
            <a:extLst>
              <a:ext uri="{FF2B5EF4-FFF2-40B4-BE49-F238E27FC236}">
                <a16:creationId xmlns:a16="http://schemas.microsoft.com/office/drawing/2014/main" id="{6347A575-CC44-DE7C-E3A0-52F693AE617C}"/>
              </a:ext>
            </a:extLst>
          </p:cNvPr>
          <p:cNvSpPr>
            <a:spLocks noGrp="1"/>
          </p:cNvSpPr>
          <p:nvPr>
            <p:ph type="dt" sz="quarter" idx="10"/>
          </p:nvPr>
        </p:nvSpPr>
        <p:spPr/>
        <p:txBody>
          <a:bodyPr/>
          <a:lstStyle/>
          <a:p>
            <a:pPr>
              <a:defRPr/>
            </a:pPr>
            <a:fld id="{D0004BF4-4E22-4106-AD45-B98814A9066C}" type="datetime1">
              <a:rPr lang="en-US"/>
              <a:pPr>
                <a:defRPr/>
              </a:pPr>
              <a:t>6/12/2023</a:t>
            </a:fld>
            <a:endParaRPr lang="en-US"/>
          </a:p>
        </p:txBody>
      </p:sp>
      <p:sp>
        <p:nvSpPr>
          <p:cNvPr id="5" name="Footer Placeholder 4">
            <a:extLst>
              <a:ext uri="{FF2B5EF4-FFF2-40B4-BE49-F238E27FC236}">
                <a16:creationId xmlns:a16="http://schemas.microsoft.com/office/drawing/2014/main" id="{F166F7CA-7479-21F0-6BCE-DF1D8D46BD81}"/>
              </a:ext>
            </a:extLst>
          </p:cNvPr>
          <p:cNvSpPr>
            <a:spLocks noGrp="1"/>
          </p:cNvSpPr>
          <p:nvPr>
            <p:ph type="ftr" sz="quarter" idx="11"/>
          </p:nvPr>
        </p:nvSpPr>
        <p:spPr/>
        <p:txBody>
          <a:bodyPr/>
          <a:lstStyle/>
          <a:p>
            <a:pPr>
              <a:defRPr/>
            </a:pPr>
            <a:r>
              <a:rPr lang="en-US"/>
              <a:t>Data Exploration and Pre-processing</a:t>
            </a:r>
          </a:p>
        </p:txBody>
      </p:sp>
      <p:sp>
        <p:nvSpPr>
          <p:cNvPr id="69638" name="Slide Number Placeholder 5">
            <a:extLst>
              <a:ext uri="{FF2B5EF4-FFF2-40B4-BE49-F238E27FC236}">
                <a16:creationId xmlns:a16="http://schemas.microsoft.com/office/drawing/2014/main" id="{D42A8888-097A-9BEC-2471-B5DFB2739AA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4728915-84A2-4D33-A07A-730D09912369}" type="slidenum">
              <a:rPr lang="en-US" altLang="en-US" sz="1200" smtClean="0">
                <a:solidFill>
                  <a:srgbClr val="898989"/>
                </a:solidFill>
              </a:rPr>
              <a:pPr>
                <a:spcBef>
                  <a:spcPct val="0"/>
                </a:spcBef>
                <a:buFontTx/>
                <a:buNone/>
              </a:pPr>
              <a:t>46</a:t>
            </a:fld>
            <a:endParaRPr lang="en-US" altLang="en-US" sz="1200">
              <a:solidFill>
                <a:srgbClr val="898989"/>
              </a:solidFill>
            </a:endParaRPr>
          </a:p>
        </p:txBody>
      </p:sp>
    </p:spTree>
  </p:cSld>
  <p:clrMapOvr>
    <a:masterClrMapping/>
  </p:clrMapOvr>
  <p:transition spd="slow">
    <p:split orient="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019C820E-CA5E-C866-EC81-056C6FFC5BC7}"/>
              </a:ext>
            </a:extLst>
          </p:cNvPr>
          <p:cNvSpPr>
            <a:spLocks noGrp="1"/>
          </p:cNvSpPr>
          <p:nvPr>
            <p:ph type="title"/>
          </p:nvPr>
        </p:nvSpPr>
        <p:spPr/>
        <p:txBody>
          <a:bodyPr/>
          <a:lstStyle/>
          <a:p>
            <a:r>
              <a:rPr lang="en-US" altLang="en-US">
                <a:latin typeface="Open Sans" pitchFamily="34" charset="0"/>
              </a:rPr>
              <a:t>Detailed Steps of LDA</a:t>
            </a:r>
          </a:p>
        </p:txBody>
      </p:sp>
      <p:sp>
        <p:nvSpPr>
          <p:cNvPr id="70659" name="Content Placeholder 2">
            <a:extLst>
              <a:ext uri="{FF2B5EF4-FFF2-40B4-BE49-F238E27FC236}">
                <a16:creationId xmlns:a16="http://schemas.microsoft.com/office/drawing/2014/main" id="{508F52E6-1CEF-7B4F-CA11-00733CE9055D}"/>
              </a:ext>
            </a:extLst>
          </p:cNvPr>
          <p:cNvSpPr>
            <a:spLocks noGrp="1"/>
          </p:cNvSpPr>
          <p:nvPr>
            <p:ph idx="1"/>
          </p:nvPr>
        </p:nvSpPr>
        <p:spPr/>
        <p:txBody>
          <a:bodyPr/>
          <a:lstStyle/>
          <a:p>
            <a:pPr marL="514350" indent="-514350">
              <a:buFont typeface="Calibri" panose="020F0502020204030204" pitchFamily="34" charset="0"/>
              <a:buAutoNum type="arabicPeriod"/>
            </a:pPr>
            <a:r>
              <a:rPr lang="en-US" altLang="en-US">
                <a:latin typeface="Open Sans" pitchFamily="34" charset="0"/>
              </a:rPr>
              <a:t>Means</a:t>
            </a:r>
          </a:p>
          <a:p>
            <a:pPr marL="514350" indent="-514350">
              <a:buFont typeface="Calibri" panose="020F0502020204030204" pitchFamily="34" charset="0"/>
              <a:buAutoNum type="arabicPeriod"/>
            </a:pPr>
            <a:r>
              <a:rPr lang="en-US" altLang="en-US">
                <a:latin typeface="Open Sans" pitchFamily="34" charset="0"/>
              </a:rPr>
              <a:t>Scatter Matrices</a:t>
            </a:r>
          </a:p>
          <a:p>
            <a:pPr marL="514350" indent="-514350">
              <a:buFont typeface="Calibri" panose="020F0502020204030204" pitchFamily="34" charset="0"/>
              <a:buAutoNum type="arabicPeriod"/>
            </a:pPr>
            <a:r>
              <a:rPr lang="en-US" altLang="en-US">
                <a:latin typeface="Open Sans" pitchFamily="34" charset="0"/>
              </a:rPr>
              <a:t>Finding Linear Discriminants</a:t>
            </a:r>
          </a:p>
          <a:p>
            <a:pPr marL="514350" indent="-514350">
              <a:buFont typeface="Calibri" panose="020F0502020204030204" pitchFamily="34" charset="0"/>
              <a:buAutoNum type="arabicPeriod"/>
            </a:pPr>
            <a:r>
              <a:rPr lang="en-US" altLang="en-US">
                <a:latin typeface="Open Sans" pitchFamily="34" charset="0"/>
              </a:rPr>
              <a:t>Subspace</a:t>
            </a:r>
          </a:p>
          <a:p>
            <a:pPr marL="514350" indent="-514350">
              <a:buFont typeface="Calibri" panose="020F0502020204030204" pitchFamily="34" charset="0"/>
              <a:buAutoNum type="arabicPeriod"/>
            </a:pPr>
            <a:r>
              <a:rPr lang="en-US" altLang="en-US">
                <a:latin typeface="Open Sans" pitchFamily="34" charset="0"/>
              </a:rPr>
              <a:t>Project the data</a:t>
            </a:r>
          </a:p>
        </p:txBody>
      </p:sp>
      <p:sp>
        <p:nvSpPr>
          <p:cNvPr id="4" name="Date Placeholder 3">
            <a:extLst>
              <a:ext uri="{FF2B5EF4-FFF2-40B4-BE49-F238E27FC236}">
                <a16:creationId xmlns:a16="http://schemas.microsoft.com/office/drawing/2014/main" id="{F0DB0CEF-4BF3-9F25-718D-4298019E704A}"/>
              </a:ext>
            </a:extLst>
          </p:cNvPr>
          <p:cNvSpPr>
            <a:spLocks noGrp="1"/>
          </p:cNvSpPr>
          <p:nvPr>
            <p:ph type="dt" sz="quarter" idx="10"/>
          </p:nvPr>
        </p:nvSpPr>
        <p:spPr/>
        <p:txBody>
          <a:bodyPr/>
          <a:lstStyle/>
          <a:p>
            <a:pPr>
              <a:defRPr/>
            </a:pPr>
            <a:fld id="{1ADBA6AA-02B9-4F54-83EF-E9BC0216BA83}" type="datetime1">
              <a:rPr lang="en-US"/>
              <a:pPr>
                <a:defRPr/>
              </a:pPr>
              <a:t>6/12/2023</a:t>
            </a:fld>
            <a:endParaRPr lang="en-US"/>
          </a:p>
        </p:txBody>
      </p:sp>
      <p:sp>
        <p:nvSpPr>
          <p:cNvPr id="5" name="Footer Placeholder 4">
            <a:extLst>
              <a:ext uri="{FF2B5EF4-FFF2-40B4-BE49-F238E27FC236}">
                <a16:creationId xmlns:a16="http://schemas.microsoft.com/office/drawing/2014/main" id="{A5E26386-D1C8-C131-638D-42ED2E30CAB2}"/>
              </a:ext>
            </a:extLst>
          </p:cNvPr>
          <p:cNvSpPr>
            <a:spLocks noGrp="1"/>
          </p:cNvSpPr>
          <p:nvPr>
            <p:ph type="ftr" sz="quarter" idx="11"/>
          </p:nvPr>
        </p:nvSpPr>
        <p:spPr/>
        <p:txBody>
          <a:bodyPr/>
          <a:lstStyle/>
          <a:p>
            <a:pPr>
              <a:defRPr/>
            </a:pPr>
            <a:r>
              <a:rPr lang="en-US"/>
              <a:t>Data Exploration and Pre-processing</a:t>
            </a:r>
          </a:p>
        </p:txBody>
      </p:sp>
      <p:sp>
        <p:nvSpPr>
          <p:cNvPr id="70662" name="Slide Number Placeholder 5">
            <a:extLst>
              <a:ext uri="{FF2B5EF4-FFF2-40B4-BE49-F238E27FC236}">
                <a16:creationId xmlns:a16="http://schemas.microsoft.com/office/drawing/2014/main" id="{ECCC34F3-4E6F-ECDA-A061-F1922A12499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AF8B96E-C6B2-4786-8BA8-5429A4EAAE60}" type="slidenum">
              <a:rPr lang="en-US" altLang="en-US" sz="1200" smtClean="0">
                <a:solidFill>
                  <a:srgbClr val="898989"/>
                </a:solidFill>
              </a:rPr>
              <a:pPr>
                <a:spcBef>
                  <a:spcPct val="0"/>
                </a:spcBef>
                <a:buFontTx/>
                <a:buNone/>
              </a:pPr>
              <a:t>47</a:t>
            </a:fld>
            <a:endParaRPr lang="en-US" altLang="en-US" sz="1200">
              <a:solidFill>
                <a:srgbClr val="898989"/>
              </a:solidFill>
            </a:endParaRPr>
          </a:p>
        </p:txBody>
      </p:sp>
      <p:pic>
        <p:nvPicPr>
          <p:cNvPr id="70663" name="Picture 6">
            <a:extLst>
              <a:ext uri="{FF2B5EF4-FFF2-40B4-BE49-F238E27FC236}">
                <a16:creationId xmlns:a16="http://schemas.microsoft.com/office/drawing/2014/main" id="{1D72F478-7F61-B767-E4FB-D6ADFCFE1B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4648200"/>
            <a:ext cx="2286000"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BE856-EF14-1CEC-FFE1-55F4CCD2B336}"/>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05DED5FC-8F1E-F763-BB89-2CF9227621C9}"/>
              </a:ext>
            </a:extLst>
          </p:cNvPr>
          <p:cNvSpPr>
            <a:spLocks noGrp="1"/>
          </p:cNvSpPr>
          <p:nvPr>
            <p:ph idx="1"/>
          </p:nvPr>
        </p:nvSpPr>
        <p:spPr>
          <a:xfrm>
            <a:off x="685800" y="2133600"/>
            <a:ext cx="8229600" cy="4495800"/>
          </a:xfrm>
        </p:spPr>
        <p:txBody>
          <a:bodyPr/>
          <a:lstStyle/>
          <a:p>
            <a:pPr marL="0" indent="0">
              <a:buNone/>
            </a:pPr>
            <a:r>
              <a:rPr lang="en-US" dirty="0"/>
              <a:t>Find a paper highlighting the use of PCA or LDA in their research and investigate the model performance after applying PCA or LDA!</a:t>
            </a:r>
          </a:p>
        </p:txBody>
      </p:sp>
      <p:sp>
        <p:nvSpPr>
          <p:cNvPr id="4" name="Date Placeholder 3">
            <a:extLst>
              <a:ext uri="{FF2B5EF4-FFF2-40B4-BE49-F238E27FC236}">
                <a16:creationId xmlns:a16="http://schemas.microsoft.com/office/drawing/2014/main" id="{E851B50B-F2A3-B3C2-3D90-36C68B6B5895}"/>
              </a:ext>
            </a:extLst>
          </p:cNvPr>
          <p:cNvSpPr>
            <a:spLocks noGrp="1"/>
          </p:cNvSpPr>
          <p:nvPr>
            <p:ph type="dt" sz="half" idx="10"/>
          </p:nvPr>
        </p:nvSpPr>
        <p:spPr/>
        <p:txBody>
          <a:bodyPr/>
          <a:lstStyle/>
          <a:p>
            <a:pPr>
              <a:defRPr/>
            </a:pPr>
            <a:fld id="{1DD9CD23-7877-441F-9B64-7AA93F2561FC}" type="datetime1">
              <a:rPr lang="en-US" smtClean="0"/>
              <a:pPr>
                <a:defRPr/>
              </a:pPr>
              <a:t>6/12/2023</a:t>
            </a:fld>
            <a:endParaRPr lang="en-US"/>
          </a:p>
        </p:txBody>
      </p:sp>
      <p:sp>
        <p:nvSpPr>
          <p:cNvPr id="5" name="Footer Placeholder 4">
            <a:extLst>
              <a:ext uri="{FF2B5EF4-FFF2-40B4-BE49-F238E27FC236}">
                <a16:creationId xmlns:a16="http://schemas.microsoft.com/office/drawing/2014/main" id="{95F042DF-29F3-7CCF-87E5-5B89A93CE544}"/>
              </a:ext>
            </a:extLst>
          </p:cNvPr>
          <p:cNvSpPr>
            <a:spLocks noGrp="1"/>
          </p:cNvSpPr>
          <p:nvPr>
            <p:ph type="ftr" sz="quarter" idx="11"/>
          </p:nvPr>
        </p:nvSpPr>
        <p:spPr/>
        <p:txBody>
          <a:bodyPr/>
          <a:lstStyle/>
          <a:p>
            <a:pPr>
              <a:defRPr/>
            </a:pPr>
            <a:r>
              <a:rPr lang="en-US"/>
              <a:t>Data Exploration and Pre-processing</a:t>
            </a:r>
          </a:p>
        </p:txBody>
      </p:sp>
      <p:sp>
        <p:nvSpPr>
          <p:cNvPr id="6" name="Slide Number Placeholder 5">
            <a:extLst>
              <a:ext uri="{FF2B5EF4-FFF2-40B4-BE49-F238E27FC236}">
                <a16:creationId xmlns:a16="http://schemas.microsoft.com/office/drawing/2014/main" id="{D1D4E29C-860C-BED3-D9A8-DA13D0C24A63}"/>
              </a:ext>
            </a:extLst>
          </p:cNvPr>
          <p:cNvSpPr>
            <a:spLocks noGrp="1"/>
          </p:cNvSpPr>
          <p:nvPr>
            <p:ph type="sldNum" sz="quarter" idx="12"/>
          </p:nvPr>
        </p:nvSpPr>
        <p:spPr/>
        <p:txBody>
          <a:bodyPr/>
          <a:lstStyle/>
          <a:p>
            <a:pPr>
              <a:defRPr/>
            </a:pPr>
            <a:fld id="{0E35D239-A77B-4EEC-8F95-70EE8DB22A37}" type="slidenum">
              <a:rPr lang="en-US" altLang="en-US" smtClean="0"/>
              <a:pPr>
                <a:defRPr/>
              </a:pPr>
              <a:t>48</a:t>
            </a:fld>
            <a:endParaRPr lang="en-US" altLang="en-US"/>
          </a:p>
        </p:txBody>
      </p:sp>
    </p:spTree>
    <p:extLst>
      <p:ext uri="{BB962C8B-B14F-4D97-AF65-F5344CB8AC3E}">
        <p14:creationId xmlns:p14="http://schemas.microsoft.com/office/powerpoint/2010/main" val="64212959"/>
      </p:ext>
    </p:extLst>
  </p:cSld>
  <p:clrMapOvr>
    <a:masterClrMapping/>
  </p:clrMapOvr>
  <p:transition spd="slow">
    <p:split orient="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FE80017-9BA1-B118-FF38-DBE5B0B8F926}"/>
              </a:ext>
            </a:extLst>
          </p:cNvPr>
          <p:cNvSpPr>
            <a:spLocks noGrp="1"/>
          </p:cNvSpPr>
          <p:nvPr>
            <p:ph type="title"/>
          </p:nvPr>
        </p:nvSpPr>
        <p:spPr>
          <a:xfrm>
            <a:off x="914400" y="2667000"/>
            <a:ext cx="7772400" cy="1362075"/>
          </a:xfrm>
        </p:spPr>
        <p:txBody>
          <a:bodyPr/>
          <a:lstStyle/>
          <a:p>
            <a:pPr algn="ctr">
              <a:defRPr/>
            </a:pPr>
            <a:r>
              <a:rPr lang="en-US" dirty="0"/>
              <a:t>Data Visualization</a:t>
            </a:r>
          </a:p>
        </p:txBody>
      </p:sp>
      <p:sp>
        <p:nvSpPr>
          <p:cNvPr id="4" name="Date Placeholder 3">
            <a:extLst>
              <a:ext uri="{FF2B5EF4-FFF2-40B4-BE49-F238E27FC236}">
                <a16:creationId xmlns:a16="http://schemas.microsoft.com/office/drawing/2014/main" id="{4A704695-00B6-6659-3737-77ED40446A41}"/>
              </a:ext>
            </a:extLst>
          </p:cNvPr>
          <p:cNvSpPr>
            <a:spLocks noGrp="1"/>
          </p:cNvSpPr>
          <p:nvPr>
            <p:ph type="dt" sz="quarter" idx="10"/>
          </p:nvPr>
        </p:nvSpPr>
        <p:spPr/>
        <p:txBody>
          <a:bodyPr/>
          <a:lstStyle/>
          <a:p>
            <a:pPr>
              <a:defRPr/>
            </a:pPr>
            <a:fld id="{915DB880-04BD-4A6E-B5DD-F2B6F9087B2F}" type="datetime1">
              <a:rPr lang="en-US"/>
              <a:pPr>
                <a:defRPr/>
              </a:pPr>
              <a:t>6/12/2023</a:t>
            </a:fld>
            <a:endParaRPr lang="en-US"/>
          </a:p>
        </p:txBody>
      </p:sp>
      <p:sp>
        <p:nvSpPr>
          <p:cNvPr id="5" name="Footer Placeholder 4">
            <a:extLst>
              <a:ext uri="{FF2B5EF4-FFF2-40B4-BE49-F238E27FC236}">
                <a16:creationId xmlns:a16="http://schemas.microsoft.com/office/drawing/2014/main" id="{6F699678-A129-7590-6C9B-B36D3619E7E0}"/>
              </a:ext>
            </a:extLst>
          </p:cNvPr>
          <p:cNvSpPr>
            <a:spLocks noGrp="1"/>
          </p:cNvSpPr>
          <p:nvPr>
            <p:ph type="ftr" sz="quarter" idx="11"/>
          </p:nvPr>
        </p:nvSpPr>
        <p:spPr/>
        <p:txBody>
          <a:bodyPr/>
          <a:lstStyle/>
          <a:p>
            <a:pPr>
              <a:defRPr/>
            </a:pPr>
            <a:r>
              <a:rPr lang="en-US"/>
              <a:t>Data Exploration and Pre-processing</a:t>
            </a:r>
          </a:p>
        </p:txBody>
      </p:sp>
      <p:sp>
        <p:nvSpPr>
          <p:cNvPr id="71685" name="Slide Number Placeholder 5">
            <a:extLst>
              <a:ext uri="{FF2B5EF4-FFF2-40B4-BE49-F238E27FC236}">
                <a16:creationId xmlns:a16="http://schemas.microsoft.com/office/drawing/2014/main" id="{FB01CAA5-A0F3-E548-2BCF-CE80DA92EEC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D68CC3-A1A9-42E4-A60B-903344DA6CE7}" type="slidenum">
              <a:rPr lang="en-US" altLang="en-US" sz="1200" smtClean="0">
                <a:solidFill>
                  <a:srgbClr val="898989"/>
                </a:solidFill>
              </a:rPr>
              <a:pPr>
                <a:spcBef>
                  <a:spcPct val="0"/>
                </a:spcBef>
                <a:buFontTx/>
                <a:buNone/>
              </a:pPr>
              <a:t>49</a:t>
            </a:fld>
            <a:endParaRPr lang="en-US" altLang="en-US" sz="1200">
              <a:solidFill>
                <a:srgbClr val="898989"/>
              </a:solidFill>
            </a:endParaRPr>
          </a:p>
        </p:txBody>
      </p:sp>
    </p:spTree>
  </p:cSld>
  <p:clrMapOvr>
    <a:masterClrMapping/>
  </p:clrMapOvr>
  <p:transition spd="slow">
    <p:split orient="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4587D48F-6C98-077B-288F-8379F9141F60}"/>
              </a:ext>
            </a:extLst>
          </p:cNvPr>
          <p:cNvSpPr>
            <a:spLocks noGrp="1"/>
          </p:cNvSpPr>
          <p:nvPr>
            <p:ph type="title"/>
          </p:nvPr>
        </p:nvSpPr>
        <p:spPr/>
        <p:txBody>
          <a:bodyPr/>
          <a:lstStyle/>
          <a:p>
            <a:pPr eaLnBrk="1" hangingPunct="1"/>
            <a:r>
              <a:rPr lang="en-US" altLang="en-US" sz="3200">
                <a:latin typeface="Open Sans" pitchFamily="34" charset="0"/>
              </a:rPr>
              <a:t> </a:t>
            </a:r>
            <a:r>
              <a:rPr lang="en-US" altLang="en-US">
                <a:latin typeface="Open Sans" pitchFamily="34" charset="0"/>
              </a:rPr>
              <a:t>Boxplot Analysis</a:t>
            </a:r>
          </a:p>
        </p:txBody>
      </p:sp>
      <p:sp>
        <p:nvSpPr>
          <p:cNvPr id="72707" name="Rectangle 3">
            <a:extLst>
              <a:ext uri="{FF2B5EF4-FFF2-40B4-BE49-F238E27FC236}">
                <a16:creationId xmlns:a16="http://schemas.microsoft.com/office/drawing/2014/main" id="{3B34947A-C0A1-A30D-5E99-624339353DF2}"/>
              </a:ext>
            </a:extLst>
          </p:cNvPr>
          <p:cNvSpPr>
            <a:spLocks noGrp="1"/>
          </p:cNvSpPr>
          <p:nvPr>
            <p:ph idx="1"/>
          </p:nvPr>
        </p:nvSpPr>
        <p:spPr>
          <a:xfrm>
            <a:off x="863600" y="1916113"/>
            <a:ext cx="5508625" cy="4210050"/>
          </a:xfrm>
        </p:spPr>
        <p:txBody>
          <a:bodyPr>
            <a:normAutofit lnSpcReduction="10000"/>
          </a:bodyPr>
          <a:lstStyle/>
          <a:p>
            <a:pPr eaLnBrk="1" hangingPunct="1">
              <a:lnSpc>
                <a:spcPct val="120000"/>
              </a:lnSpc>
              <a:defRPr/>
            </a:pPr>
            <a:r>
              <a:rPr lang="en-US" altLang="en-US" sz="2000">
                <a:solidFill>
                  <a:schemeClr val="hlink"/>
                </a:solidFill>
                <a:latin typeface="Open Sans" pitchFamily="34" charset="0"/>
              </a:rPr>
              <a:t>Five-number summary</a:t>
            </a:r>
            <a:r>
              <a:rPr lang="en-US" altLang="en-US" sz="2000">
                <a:latin typeface="Open Sans" pitchFamily="34" charset="0"/>
              </a:rPr>
              <a:t> of a distribution:</a:t>
            </a:r>
          </a:p>
          <a:p>
            <a:pPr lvl="1" eaLnBrk="1" hangingPunct="1">
              <a:lnSpc>
                <a:spcPct val="120000"/>
              </a:lnSpc>
              <a:defRPr/>
            </a:pPr>
            <a:r>
              <a:rPr lang="en-US" altLang="en-US" sz="1800">
                <a:latin typeface="Open Sans" pitchFamily="34" charset="0"/>
              </a:rPr>
              <a:t>Minimum, Q1, M, Q3, Maximum</a:t>
            </a:r>
          </a:p>
          <a:p>
            <a:pPr eaLnBrk="1" hangingPunct="1">
              <a:lnSpc>
                <a:spcPct val="120000"/>
              </a:lnSpc>
              <a:defRPr/>
            </a:pPr>
            <a:endParaRPr lang="en-US" altLang="en-US" sz="2000">
              <a:solidFill>
                <a:schemeClr val="hlink"/>
              </a:solidFill>
              <a:latin typeface="Open Sans" pitchFamily="34" charset="0"/>
            </a:endParaRPr>
          </a:p>
          <a:p>
            <a:pPr eaLnBrk="1" hangingPunct="1">
              <a:lnSpc>
                <a:spcPct val="120000"/>
              </a:lnSpc>
              <a:defRPr/>
            </a:pPr>
            <a:r>
              <a:rPr lang="en-US" altLang="en-US" sz="2000">
                <a:solidFill>
                  <a:schemeClr val="hlink"/>
                </a:solidFill>
                <a:latin typeface="Open Sans" pitchFamily="34" charset="0"/>
              </a:rPr>
              <a:t>Boxplot</a:t>
            </a:r>
          </a:p>
          <a:p>
            <a:pPr lvl="1" eaLnBrk="1" hangingPunct="1">
              <a:lnSpc>
                <a:spcPct val="120000"/>
              </a:lnSpc>
              <a:defRPr/>
            </a:pPr>
            <a:r>
              <a:rPr lang="en-US" altLang="en-US" sz="1800">
                <a:latin typeface="Open Sans" pitchFamily="34" charset="0"/>
              </a:rPr>
              <a:t>Data is represented with a box</a:t>
            </a:r>
          </a:p>
          <a:p>
            <a:pPr lvl="1" eaLnBrk="1" hangingPunct="1">
              <a:lnSpc>
                <a:spcPct val="120000"/>
              </a:lnSpc>
              <a:defRPr/>
            </a:pPr>
            <a:r>
              <a:rPr lang="en-US" altLang="en-US" sz="1800">
                <a:latin typeface="Open Sans" pitchFamily="34" charset="0"/>
              </a:rPr>
              <a:t>The ends of the box are at the first and third quartiles, i.e., the height of the box is IRQ</a:t>
            </a:r>
          </a:p>
          <a:p>
            <a:pPr lvl="1" eaLnBrk="1" hangingPunct="1">
              <a:lnSpc>
                <a:spcPct val="120000"/>
              </a:lnSpc>
              <a:defRPr/>
            </a:pPr>
            <a:r>
              <a:rPr lang="en-US" altLang="en-US" sz="1800">
                <a:latin typeface="Open Sans" pitchFamily="34" charset="0"/>
              </a:rPr>
              <a:t>The median is marked by a line within the box</a:t>
            </a:r>
          </a:p>
          <a:p>
            <a:pPr lvl="1" eaLnBrk="1" hangingPunct="1">
              <a:lnSpc>
                <a:spcPct val="120000"/>
              </a:lnSpc>
              <a:defRPr/>
            </a:pPr>
            <a:r>
              <a:rPr lang="en-US" altLang="en-US" sz="1800">
                <a:latin typeface="Open Sans" pitchFamily="34" charset="0"/>
              </a:rPr>
              <a:t>Whiskers: two lines outside the box extend to Minimum and Maximum</a:t>
            </a:r>
          </a:p>
        </p:txBody>
      </p:sp>
      <p:pic>
        <p:nvPicPr>
          <p:cNvPr id="72708" name="Picture 2">
            <a:extLst>
              <a:ext uri="{FF2B5EF4-FFF2-40B4-BE49-F238E27FC236}">
                <a16:creationId xmlns:a16="http://schemas.microsoft.com/office/drawing/2014/main" id="{22DAC82C-3941-8E31-5D6D-B45742B6E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3600" y="1944688"/>
            <a:ext cx="642938" cy="465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495F795C-FBB3-F29F-7297-E5BB5EEA40D3}"/>
              </a:ext>
            </a:extLst>
          </p:cNvPr>
          <p:cNvSpPr txBox="1"/>
          <p:nvPr/>
        </p:nvSpPr>
        <p:spPr>
          <a:xfrm>
            <a:off x="7856538" y="2009775"/>
            <a:ext cx="892175" cy="339725"/>
          </a:xfrm>
          <a:prstGeom prst="rect">
            <a:avLst/>
          </a:prstGeom>
          <a:noFill/>
        </p:spPr>
        <p:txBody>
          <a:bodyPr wrap="none">
            <a:spAutoFit/>
          </a:bodyPr>
          <a:lstStyle/>
          <a:p>
            <a:pPr>
              <a:defRPr/>
            </a:pPr>
            <a:r>
              <a:rPr lang="en-US" sz="1600" dirty="0">
                <a:solidFill>
                  <a:schemeClr val="accent1">
                    <a:lumMod val="50000"/>
                  </a:schemeClr>
                </a:solidFill>
              </a:rPr>
              <a:t>Outliers</a:t>
            </a:r>
          </a:p>
        </p:txBody>
      </p:sp>
      <p:sp>
        <p:nvSpPr>
          <p:cNvPr id="11" name="TextBox 10">
            <a:extLst>
              <a:ext uri="{FF2B5EF4-FFF2-40B4-BE49-F238E27FC236}">
                <a16:creationId xmlns:a16="http://schemas.microsoft.com/office/drawing/2014/main" id="{F5705667-8712-0A21-2ACB-299633119CBA}"/>
              </a:ext>
            </a:extLst>
          </p:cNvPr>
          <p:cNvSpPr txBox="1"/>
          <p:nvPr/>
        </p:nvSpPr>
        <p:spPr>
          <a:xfrm>
            <a:off x="6875463" y="2492375"/>
            <a:ext cx="571500" cy="339725"/>
          </a:xfrm>
          <a:prstGeom prst="rect">
            <a:avLst/>
          </a:prstGeom>
          <a:noFill/>
        </p:spPr>
        <p:txBody>
          <a:bodyPr wrap="none">
            <a:spAutoFit/>
          </a:bodyPr>
          <a:lstStyle/>
          <a:p>
            <a:pPr>
              <a:defRPr/>
            </a:pPr>
            <a:r>
              <a:rPr lang="en-US" sz="1600" dirty="0">
                <a:solidFill>
                  <a:schemeClr val="accent1">
                    <a:lumMod val="50000"/>
                  </a:schemeClr>
                </a:solidFill>
              </a:rPr>
              <a:t>Max</a:t>
            </a:r>
          </a:p>
        </p:txBody>
      </p:sp>
      <p:sp>
        <p:nvSpPr>
          <p:cNvPr id="12" name="TextBox 11">
            <a:extLst>
              <a:ext uri="{FF2B5EF4-FFF2-40B4-BE49-F238E27FC236}">
                <a16:creationId xmlns:a16="http://schemas.microsoft.com/office/drawing/2014/main" id="{60A90F9D-397E-ED4D-CF49-40524C75B668}"/>
              </a:ext>
            </a:extLst>
          </p:cNvPr>
          <p:cNvSpPr txBox="1"/>
          <p:nvPr/>
        </p:nvSpPr>
        <p:spPr>
          <a:xfrm>
            <a:off x="7856538" y="3213100"/>
            <a:ext cx="458787" cy="338138"/>
          </a:xfrm>
          <a:prstGeom prst="rect">
            <a:avLst/>
          </a:prstGeom>
          <a:noFill/>
        </p:spPr>
        <p:txBody>
          <a:bodyPr wrap="none">
            <a:spAutoFit/>
          </a:bodyPr>
          <a:lstStyle/>
          <a:p>
            <a:pPr>
              <a:defRPr/>
            </a:pPr>
            <a:r>
              <a:rPr lang="en-US" sz="1600" dirty="0">
                <a:solidFill>
                  <a:schemeClr val="accent1">
                    <a:lumMod val="50000"/>
                  </a:schemeClr>
                </a:solidFill>
              </a:rPr>
              <a:t>Q3</a:t>
            </a:r>
          </a:p>
        </p:txBody>
      </p:sp>
      <p:sp>
        <p:nvSpPr>
          <p:cNvPr id="13" name="TextBox 12">
            <a:extLst>
              <a:ext uri="{FF2B5EF4-FFF2-40B4-BE49-F238E27FC236}">
                <a16:creationId xmlns:a16="http://schemas.microsoft.com/office/drawing/2014/main" id="{FC356D77-876D-8AB6-0E88-187788FAD5CF}"/>
              </a:ext>
            </a:extLst>
          </p:cNvPr>
          <p:cNvSpPr txBox="1"/>
          <p:nvPr/>
        </p:nvSpPr>
        <p:spPr>
          <a:xfrm>
            <a:off x="7856538" y="3738563"/>
            <a:ext cx="355600" cy="338137"/>
          </a:xfrm>
          <a:prstGeom prst="rect">
            <a:avLst/>
          </a:prstGeom>
          <a:noFill/>
        </p:spPr>
        <p:txBody>
          <a:bodyPr wrap="none">
            <a:spAutoFit/>
          </a:bodyPr>
          <a:lstStyle/>
          <a:p>
            <a:pPr>
              <a:defRPr/>
            </a:pPr>
            <a:r>
              <a:rPr lang="en-US" sz="1600" dirty="0">
                <a:solidFill>
                  <a:schemeClr val="accent1">
                    <a:lumMod val="50000"/>
                  </a:schemeClr>
                </a:solidFill>
              </a:rPr>
              <a:t>M</a:t>
            </a:r>
          </a:p>
        </p:txBody>
      </p:sp>
      <p:sp>
        <p:nvSpPr>
          <p:cNvPr id="14" name="TextBox 13">
            <a:extLst>
              <a:ext uri="{FF2B5EF4-FFF2-40B4-BE49-F238E27FC236}">
                <a16:creationId xmlns:a16="http://schemas.microsoft.com/office/drawing/2014/main" id="{6331D730-64F8-2F06-E26F-6EC931293A78}"/>
              </a:ext>
            </a:extLst>
          </p:cNvPr>
          <p:cNvSpPr txBox="1"/>
          <p:nvPr/>
        </p:nvSpPr>
        <p:spPr>
          <a:xfrm>
            <a:off x="7856538" y="4170363"/>
            <a:ext cx="698500" cy="338137"/>
          </a:xfrm>
          <a:prstGeom prst="rect">
            <a:avLst/>
          </a:prstGeom>
          <a:noFill/>
        </p:spPr>
        <p:txBody>
          <a:bodyPr wrap="none">
            <a:spAutoFit/>
          </a:bodyPr>
          <a:lstStyle/>
          <a:p>
            <a:pPr>
              <a:defRPr/>
            </a:pPr>
            <a:r>
              <a:rPr lang="en-US" sz="1600" dirty="0">
                <a:solidFill>
                  <a:schemeClr val="accent1">
                    <a:lumMod val="50000"/>
                  </a:schemeClr>
                </a:solidFill>
              </a:rPr>
              <a:t>Mean</a:t>
            </a:r>
          </a:p>
        </p:txBody>
      </p:sp>
      <p:sp>
        <p:nvSpPr>
          <p:cNvPr id="15" name="TextBox 14">
            <a:extLst>
              <a:ext uri="{FF2B5EF4-FFF2-40B4-BE49-F238E27FC236}">
                <a16:creationId xmlns:a16="http://schemas.microsoft.com/office/drawing/2014/main" id="{6FD98EDA-F35D-7768-2110-BDB206D6113D}"/>
              </a:ext>
            </a:extLst>
          </p:cNvPr>
          <p:cNvSpPr txBox="1"/>
          <p:nvPr/>
        </p:nvSpPr>
        <p:spPr>
          <a:xfrm>
            <a:off x="7856538" y="5661025"/>
            <a:ext cx="458787" cy="338138"/>
          </a:xfrm>
          <a:prstGeom prst="rect">
            <a:avLst/>
          </a:prstGeom>
          <a:noFill/>
        </p:spPr>
        <p:txBody>
          <a:bodyPr wrap="none">
            <a:spAutoFit/>
          </a:bodyPr>
          <a:lstStyle/>
          <a:p>
            <a:pPr>
              <a:defRPr/>
            </a:pPr>
            <a:r>
              <a:rPr lang="en-US" sz="1600" dirty="0">
                <a:solidFill>
                  <a:schemeClr val="accent1">
                    <a:lumMod val="50000"/>
                  </a:schemeClr>
                </a:solidFill>
              </a:rPr>
              <a:t>Q1</a:t>
            </a:r>
          </a:p>
        </p:txBody>
      </p:sp>
      <p:sp>
        <p:nvSpPr>
          <p:cNvPr id="16" name="TextBox 15">
            <a:extLst>
              <a:ext uri="{FF2B5EF4-FFF2-40B4-BE49-F238E27FC236}">
                <a16:creationId xmlns:a16="http://schemas.microsoft.com/office/drawing/2014/main" id="{F7DEEC68-B6D3-B594-CC2E-B18A1BA2E97C}"/>
              </a:ext>
            </a:extLst>
          </p:cNvPr>
          <p:cNvSpPr txBox="1"/>
          <p:nvPr/>
        </p:nvSpPr>
        <p:spPr>
          <a:xfrm>
            <a:off x="6777038" y="5899150"/>
            <a:ext cx="514350" cy="338138"/>
          </a:xfrm>
          <a:prstGeom prst="rect">
            <a:avLst/>
          </a:prstGeom>
          <a:noFill/>
        </p:spPr>
        <p:txBody>
          <a:bodyPr wrap="none">
            <a:spAutoFit/>
          </a:bodyPr>
          <a:lstStyle/>
          <a:p>
            <a:pPr>
              <a:defRPr/>
            </a:pPr>
            <a:r>
              <a:rPr lang="en-US" sz="1600" dirty="0">
                <a:solidFill>
                  <a:schemeClr val="accent1">
                    <a:lumMod val="50000"/>
                  </a:schemeClr>
                </a:solidFill>
              </a:rPr>
              <a:t>Min</a:t>
            </a:r>
          </a:p>
        </p:txBody>
      </p:sp>
      <p:sp>
        <p:nvSpPr>
          <p:cNvPr id="5" name="Left Brace 4">
            <a:extLst>
              <a:ext uri="{FF2B5EF4-FFF2-40B4-BE49-F238E27FC236}">
                <a16:creationId xmlns:a16="http://schemas.microsoft.com/office/drawing/2014/main" id="{F05C4E15-2377-EB04-AE4C-CF4CDF7C145E}"/>
              </a:ext>
            </a:extLst>
          </p:cNvPr>
          <p:cNvSpPr/>
          <p:nvPr/>
        </p:nvSpPr>
        <p:spPr>
          <a:xfrm>
            <a:off x="7108825" y="3068638"/>
            <a:ext cx="287338" cy="2544762"/>
          </a:xfrm>
          <a:prstGeom prst="leftBrace">
            <a:avLst>
              <a:gd name="adj1" fmla="val 8333"/>
              <a:gd name="adj2" fmla="val 49691"/>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18" name="TextBox 17">
            <a:extLst>
              <a:ext uri="{FF2B5EF4-FFF2-40B4-BE49-F238E27FC236}">
                <a16:creationId xmlns:a16="http://schemas.microsoft.com/office/drawing/2014/main" id="{6BE5FC5D-28ED-B548-DB50-7B7098F06BEF}"/>
              </a:ext>
            </a:extLst>
          </p:cNvPr>
          <p:cNvSpPr txBox="1"/>
          <p:nvPr/>
        </p:nvSpPr>
        <p:spPr>
          <a:xfrm rot="16200000">
            <a:off x="5926931" y="4148932"/>
            <a:ext cx="1895475" cy="338138"/>
          </a:xfrm>
          <a:prstGeom prst="rect">
            <a:avLst/>
          </a:prstGeom>
          <a:noFill/>
        </p:spPr>
        <p:txBody>
          <a:bodyPr wrap="none">
            <a:spAutoFit/>
          </a:bodyPr>
          <a:lstStyle/>
          <a:p>
            <a:pPr>
              <a:defRPr/>
            </a:pPr>
            <a:r>
              <a:rPr lang="en-US" sz="1600" dirty="0">
                <a:solidFill>
                  <a:schemeClr val="accent1">
                    <a:lumMod val="50000"/>
                  </a:schemeClr>
                </a:solidFill>
              </a:rPr>
              <a:t>Standard deviation</a:t>
            </a:r>
          </a:p>
        </p:txBody>
      </p:sp>
      <p:sp>
        <p:nvSpPr>
          <p:cNvPr id="17" name="Date Placeholder 3">
            <a:extLst>
              <a:ext uri="{FF2B5EF4-FFF2-40B4-BE49-F238E27FC236}">
                <a16:creationId xmlns:a16="http://schemas.microsoft.com/office/drawing/2014/main" id="{7B2A82D7-E38A-FB70-7329-E2CD826FDB3E}"/>
              </a:ext>
            </a:extLst>
          </p:cNvPr>
          <p:cNvSpPr>
            <a:spLocks noGrp="1"/>
          </p:cNvSpPr>
          <p:nvPr>
            <p:ph type="dt" sz="quarter" idx="10"/>
          </p:nvPr>
        </p:nvSpPr>
        <p:spPr>
          <a:xfrm>
            <a:off x="457200" y="6381750"/>
            <a:ext cx="2133600" cy="339725"/>
          </a:xfrm>
        </p:spPr>
        <p:txBody>
          <a:bodyPr/>
          <a:lstStyle/>
          <a:p>
            <a:pPr>
              <a:defRPr/>
            </a:pPr>
            <a:fld id="{81710017-C8AA-4EAD-8D10-204CB460A917}" type="datetime1">
              <a:rPr lang="en-US"/>
              <a:pPr>
                <a:defRPr/>
              </a:pPr>
              <a:t>6/12/2023</a:t>
            </a:fld>
            <a:endParaRPr lang="en-US"/>
          </a:p>
        </p:txBody>
      </p:sp>
      <p:sp>
        <p:nvSpPr>
          <p:cNvPr id="19" name="Footer Placeholder 4">
            <a:extLst>
              <a:ext uri="{FF2B5EF4-FFF2-40B4-BE49-F238E27FC236}">
                <a16:creationId xmlns:a16="http://schemas.microsoft.com/office/drawing/2014/main" id="{CF0EFBD4-7109-0E8A-D5C6-3EA42D2C75F2}"/>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72720" name="Slide Number Placeholder 5">
            <a:extLst>
              <a:ext uri="{FF2B5EF4-FFF2-40B4-BE49-F238E27FC236}">
                <a16:creationId xmlns:a16="http://schemas.microsoft.com/office/drawing/2014/main" id="{74542A9B-3373-8700-E66D-2BA09E8DEB2A}"/>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ADB6DEF-905A-4178-883E-C774A4441202}" type="slidenum">
              <a:rPr lang="en-US" altLang="en-US" sz="1200" smtClean="0">
                <a:solidFill>
                  <a:srgbClr val="898989"/>
                </a:solidFill>
              </a:rPr>
              <a:pPr>
                <a:spcBef>
                  <a:spcPct val="0"/>
                </a:spcBef>
                <a:buFontTx/>
                <a:buNone/>
              </a:pPr>
              <a:t>50</a:t>
            </a:fld>
            <a:endParaRPr lang="en-US" altLang="en-US" sz="1200">
              <a:solidFill>
                <a:srgbClr val="898989"/>
              </a:solidFill>
            </a:endParaRPr>
          </a:p>
        </p:txBody>
      </p:sp>
    </p:spTree>
  </p:cSld>
  <p:clrMapOvr>
    <a:masterClrMapping/>
  </p:clrMapOvr>
  <p:transition spd="slow">
    <p:split orient="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a:extLst>
              <a:ext uri="{FF2B5EF4-FFF2-40B4-BE49-F238E27FC236}">
                <a16:creationId xmlns:a16="http://schemas.microsoft.com/office/drawing/2014/main" id="{73A878D9-AC8F-9B03-B01E-C335267FF953}"/>
              </a:ext>
            </a:extLst>
          </p:cNvPr>
          <p:cNvSpPr>
            <a:spLocks noGrp="1"/>
          </p:cNvSpPr>
          <p:nvPr>
            <p:ph type="title"/>
          </p:nvPr>
        </p:nvSpPr>
        <p:spPr>
          <a:xfrm>
            <a:off x="2133600" y="303213"/>
            <a:ext cx="6324600" cy="1143000"/>
          </a:xfrm>
        </p:spPr>
        <p:txBody>
          <a:bodyPr/>
          <a:lstStyle/>
          <a:p>
            <a:pPr eaLnBrk="1" hangingPunct="1"/>
            <a:r>
              <a:rPr lang="en-US" altLang="en-US">
                <a:latin typeface="Open Sans" pitchFamily="34" charset="0"/>
              </a:rPr>
              <a:t>Histogram Analysis</a:t>
            </a:r>
          </a:p>
        </p:txBody>
      </p:sp>
      <p:sp>
        <p:nvSpPr>
          <p:cNvPr id="73731" name="Rectangle 1027">
            <a:extLst>
              <a:ext uri="{FF2B5EF4-FFF2-40B4-BE49-F238E27FC236}">
                <a16:creationId xmlns:a16="http://schemas.microsoft.com/office/drawing/2014/main" id="{28B25A32-DF74-6DF6-0035-0FA197839EF4}"/>
              </a:ext>
            </a:extLst>
          </p:cNvPr>
          <p:cNvSpPr>
            <a:spLocks noGrp="1"/>
          </p:cNvSpPr>
          <p:nvPr>
            <p:ph idx="1"/>
          </p:nvPr>
        </p:nvSpPr>
        <p:spPr>
          <a:xfrm>
            <a:off x="990600" y="1511300"/>
            <a:ext cx="8001000" cy="4267200"/>
          </a:xfrm>
        </p:spPr>
        <p:txBody>
          <a:bodyPr/>
          <a:lstStyle/>
          <a:p>
            <a:pPr eaLnBrk="1" hangingPunct="1"/>
            <a:r>
              <a:rPr lang="en-US" altLang="en-US" sz="2400">
                <a:latin typeface="Open Sans" pitchFamily="34" charset="0"/>
              </a:rPr>
              <a:t>Graph displays of basic statistical class descriptions</a:t>
            </a:r>
          </a:p>
          <a:p>
            <a:pPr lvl="1" eaLnBrk="1" hangingPunct="1"/>
            <a:r>
              <a:rPr lang="en-US" altLang="en-US" sz="3200">
                <a:latin typeface="Open Sans" pitchFamily="34" charset="0"/>
              </a:rPr>
              <a:t>Frequency histograms </a:t>
            </a:r>
          </a:p>
          <a:p>
            <a:pPr lvl="2" eaLnBrk="1" hangingPunct="1"/>
            <a:r>
              <a:rPr lang="en-US" altLang="en-US" sz="2000">
                <a:latin typeface="Open Sans" pitchFamily="34" charset="0"/>
              </a:rPr>
              <a:t>A univariate graphical method</a:t>
            </a:r>
          </a:p>
          <a:p>
            <a:pPr lvl="2" eaLnBrk="1" hangingPunct="1"/>
            <a:r>
              <a:rPr lang="en-US" altLang="en-US" sz="2000">
                <a:latin typeface="Open Sans" pitchFamily="34" charset="0"/>
              </a:rPr>
              <a:t>Consists of a set of rectangles that reflect the counts or frequencies of the classes present in the given data</a:t>
            </a:r>
          </a:p>
        </p:txBody>
      </p:sp>
      <p:pic>
        <p:nvPicPr>
          <p:cNvPr id="73732" name="Picture 2">
            <a:extLst>
              <a:ext uri="{FF2B5EF4-FFF2-40B4-BE49-F238E27FC236}">
                <a16:creationId xmlns:a16="http://schemas.microsoft.com/office/drawing/2014/main" id="{18F09F3E-A8FB-067F-84CA-13BFCE96B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644900"/>
            <a:ext cx="5287963"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3">
            <a:extLst>
              <a:ext uri="{FF2B5EF4-FFF2-40B4-BE49-F238E27FC236}">
                <a16:creationId xmlns:a16="http://schemas.microsoft.com/office/drawing/2014/main" id="{B3C00BEA-30C8-8289-1FDA-8A96EC3237FB}"/>
              </a:ext>
            </a:extLst>
          </p:cNvPr>
          <p:cNvSpPr>
            <a:spLocks noGrp="1"/>
          </p:cNvSpPr>
          <p:nvPr>
            <p:ph type="dt" sz="quarter" idx="10"/>
          </p:nvPr>
        </p:nvSpPr>
        <p:spPr>
          <a:xfrm>
            <a:off x="457200" y="6381750"/>
            <a:ext cx="2133600" cy="339725"/>
          </a:xfrm>
        </p:spPr>
        <p:txBody>
          <a:bodyPr/>
          <a:lstStyle/>
          <a:p>
            <a:pPr>
              <a:defRPr/>
            </a:pPr>
            <a:fld id="{827B2EF3-5CD3-4F83-8594-1C7BF7D55282}" type="datetime1">
              <a:rPr lang="en-US"/>
              <a:pPr>
                <a:defRPr/>
              </a:pPr>
              <a:t>6/12/2023</a:t>
            </a:fld>
            <a:endParaRPr lang="en-US"/>
          </a:p>
        </p:txBody>
      </p:sp>
      <p:sp>
        <p:nvSpPr>
          <p:cNvPr id="9" name="Footer Placeholder 4">
            <a:extLst>
              <a:ext uri="{FF2B5EF4-FFF2-40B4-BE49-F238E27FC236}">
                <a16:creationId xmlns:a16="http://schemas.microsoft.com/office/drawing/2014/main" id="{B7D30B24-2FEC-2BED-A2E1-B477BED64784}"/>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73735" name="Slide Number Placeholder 5">
            <a:extLst>
              <a:ext uri="{FF2B5EF4-FFF2-40B4-BE49-F238E27FC236}">
                <a16:creationId xmlns:a16="http://schemas.microsoft.com/office/drawing/2014/main" id="{B6ED284D-C0BE-7B41-D87C-B3B92436E25F}"/>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45C6001-3F90-47A9-844B-3F33EE002BDB}" type="slidenum">
              <a:rPr lang="en-US" altLang="en-US" sz="1200" smtClean="0">
                <a:solidFill>
                  <a:srgbClr val="898989"/>
                </a:solidFill>
              </a:rPr>
              <a:pPr>
                <a:spcBef>
                  <a:spcPct val="0"/>
                </a:spcBef>
                <a:buFontTx/>
                <a:buNone/>
              </a:pPr>
              <a:t>51</a:t>
            </a:fld>
            <a:endParaRPr lang="en-US" altLang="en-US" sz="1200">
              <a:solidFill>
                <a:srgbClr val="898989"/>
              </a:solidFill>
            </a:endParaRPr>
          </a:p>
        </p:txBody>
      </p:sp>
    </p:spTree>
  </p:cSld>
  <p:clrMapOvr>
    <a:masterClrMapping/>
  </p:clrMapOvr>
  <p:transition spd="slow">
    <p:split orient="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26">
            <a:extLst>
              <a:ext uri="{FF2B5EF4-FFF2-40B4-BE49-F238E27FC236}">
                <a16:creationId xmlns:a16="http://schemas.microsoft.com/office/drawing/2014/main" id="{D8BAE5BF-0EA3-04A0-F1CC-63624C04A22C}"/>
              </a:ext>
            </a:extLst>
          </p:cNvPr>
          <p:cNvSpPr>
            <a:spLocks noGrp="1"/>
          </p:cNvSpPr>
          <p:nvPr>
            <p:ph type="title"/>
          </p:nvPr>
        </p:nvSpPr>
        <p:spPr>
          <a:xfrm>
            <a:off x="2057400" y="249238"/>
            <a:ext cx="6324600" cy="1143000"/>
          </a:xfrm>
        </p:spPr>
        <p:txBody>
          <a:bodyPr/>
          <a:lstStyle/>
          <a:p>
            <a:pPr eaLnBrk="1" hangingPunct="1"/>
            <a:r>
              <a:rPr lang="en-US" altLang="en-US">
                <a:latin typeface="Open Sans" pitchFamily="34" charset="0"/>
              </a:rPr>
              <a:t>Quantile Plot</a:t>
            </a:r>
          </a:p>
        </p:txBody>
      </p:sp>
      <p:sp>
        <p:nvSpPr>
          <p:cNvPr id="74755" name="Rectangle 1027">
            <a:extLst>
              <a:ext uri="{FF2B5EF4-FFF2-40B4-BE49-F238E27FC236}">
                <a16:creationId xmlns:a16="http://schemas.microsoft.com/office/drawing/2014/main" id="{9BC84B82-2312-E7B6-62CC-A77DB5C39F79}"/>
              </a:ext>
            </a:extLst>
          </p:cNvPr>
          <p:cNvSpPr>
            <a:spLocks noGrp="1"/>
          </p:cNvSpPr>
          <p:nvPr>
            <p:ph idx="1"/>
          </p:nvPr>
        </p:nvSpPr>
        <p:spPr>
          <a:xfrm>
            <a:off x="801688" y="1447800"/>
            <a:ext cx="7862887" cy="4095750"/>
          </a:xfrm>
        </p:spPr>
        <p:txBody>
          <a:bodyPr/>
          <a:lstStyle/>
          <a:p>
            <a:pPr eaLnBrk="1" hangingPunct="1">
              <a:lnSpc>
                <a:spcPct val="90000"/>
              </a:lnSpc>
            </a:pPr>
            <a:r>
              <a:rPr lang="en-US" altLang="en-US" sz="2400">
                <a:latin typeface="Open Sans" pitchFamily="34" charset="0"/>
              </a:rPr>
              <a:t>Displays all of the data (allowing the user to assess both the overall behavior and unusual occurrences)</a:t>
            </a:r>
          </a:p>
          <a:p>
            <a:pPr eaLnBrk="1" hangingPunct="1">
              <a:lnSpc>
                <a:spcPct val="90000"/>
              </a:lnSpc>
            </a:pPr>
            <a:r>
              <a:rPr lang="en-US" altLang="en-US" sz="2400">
                <a:latin typeface="Open Sans" pitchFamily="34" charset="0"/>
              </a:rPr>
              <a:t>Plots </a:t>
            </a:r>
            <a:r>
              <a:rPr lang="en-US" altLang="en-US" sz="2400">
                <a:solidFill>
                  <a:schemeClr val="hlink"/>
                </a:solidFill>
                <a:latin typeface="Open Sans" pitchFamily="34" charset="0"/>
              </a:rPr>
              <a:t>quantile</a:t>
            </a:r>
            <a:r>
              <a:rPr lang="en-US" altLang="en-US" sz="2400">
                <a:latin typeface="Open Sans" pitchFamily="34" charset="0"/>
              </a:rPr>
              <a:t> information</a:t>
            </a:r>
          </a:p>
          <a:p>
            <a:pPr lvl="1" eaLnBrk="1" hangingPunct="1">
              <a:lnSpc>
                <a:spcPct val="90000"/>
              </a:lnSpc>
            </a:pPr>
            <a:r>
              <a:rPr lang="en-US" altLang="en-US" sz="2000">
                <a:latin typeface="Open Sans" pitchFamily="34" charset="0"/>
              </a:rPr>
              <a:t>For a data </a:t>
            </a:r>
            <a:r>
              <a:rPr lang="en-US" altLang="en-US" sz="2000" i="1">
                <a:latin typeface="Open Sans" pitchFamily="34" charset="0"/>
              </a:rPr>
              <a:t>x</a:t>
            </a:r>
            <a:r>
              <a:rPr lang="en-US" altLang="en-US" sz="2000" i="1" baseline="-25000">
                <a:latin typeface="Open Sans" pitchFamily="34" charset="0"/>
              </a:rPr>
              <a:t>i</a:t>
            </a:r>
            <a:r>
              <a:rPr lang="en-US" altLang="en-US" sz="2000" i="1">
                <a:latin typeface="Open Sans" pitchFamily="34" charset="0"/>
              </a:rPr>
              <a:t> </a:t>
            </a:r>
            <a:r>
              <a:rPr lang="en-US" altLang="en-US" sz="2000">
                <a:latin typeface="Open Sans" pitchFamily="34" charset="0"/>
              </a:rPr>
              <a:t>data sorted in increasing order, </a:t>
            </a:r>
            <a:r>
              <a:rPr lang="en-US" altLang="en-US" sz="2000" i="1">
                <a:latin typeface="Open Sans" pitchFamily="34" charset="0"/>
              </a:rPr>
              <a:t>f</a:t>
            </a:r>
            <a:r>
              <a:rPr lang="en-US" altLang="en-US" sz="2000" i="1" baseline="-25000">
                <a:latin typeface="Open Sans" pitchFamily="34" charset="0"/>
              </a:rPr>
              <a:t>i</a:t>
            </a:r>
            <a:r>
              <a:rPr lang="en-US" altLang="en-US" sz="2000" i="1">
                <a:latin typeface="Open Sans" pitchFamily="34" charset="0"/>
              </a:rPr>
              <a:t> </a:t>
            </a:r>
            <a:r>
              <a:rPr lang="en-US" altLang="en-US" sz="2000">
                <a:latin typeface="Open Sans" pitchFamily="34" charset="0"/>
              </a:rPr>
              <a:t>indicates that approximately 100 </a:t>
            </a:r>
            <a:r>
              <a:rPr lang="en-US" altLang="en-US" sz="2000" i="1">
                <a:latin typeface="Open Sans" pitchFamily="34" charset="0"/>
              </a:rPr>
              <a:t>f</a:t>
            </a:r>
            <a:r>
              <a:rPr lang="en-US" altLang="en-US" sz="2000" i="1" baseline="-25000">
                <a:latin typeface="Open Sans" pitchFamily="34" charset="0"/>
              </a:rPr>
              <a:t>i</a:t>
            </a:r>
            <a:r>
              <a:rPr lang="en-US" altLang="en-US" sz="2000">
                <a:latin typeface="Open Sans" pitchFamily="34" charset="0"/>
              </a:rPr>
              <a:t>% of the data are below or equal to the value </a:t>
            </a:r>
            <a:r>
              <a:rPr lang="en-US" altLang="en-US" sz="2000" i="1">
                <a:latin typeface="Open Sans" pitchFamily="34" charset="0"/>
              </a:rPr>
              <a:t>x</a:t>
            </a:r>
            <a:r>
              <a:rPr lang="en-US" altLang="en-US" sz="2000" i="1" baseline="-25000">
                <a:latin typeface="Open Sans" pitchFamily="34" charset="0"/>
              </a:rPr>
              <a:t>i</a:t>
            </a:r>
          </a:p>
        </p:txBody>
      </p:sp>
      <p:pic>
        <p:nvPicPr>
          <p:cNvPr id="74756" name="Picture 1">
            <a:extLst>
              <a:ext uri="{FF2B5EF4-FFF2-40B4-BE49-F238E27FC236}">
                <a16:creationId xmlns:a16="http://schemas.microsoft.com/office/drawing/2014/main" id="{1C27DE40-31F4-BB11-8F10-813E2F7A3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3716338"/>
            <a:ext cx="5494337"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3">
            <a:extLst>
              <a:ext uri="{FF2B5EF4-FFF2-40B4-BE49-F238E27FC236}">
                <a16:creationId xmlns:a16="http://schemas.microsoft.com/office/drawing/2014/main" id="{1905E31E-BC67-B2D1-E267-C76235781D0E}"/>
              </a:ext>
            </a:extLst>
          </p:cNvPr>
          <p:cNvSpPr>
            <a:spLocks noGrp="1"/>
          </p:cNvSpPr>
          <p:nvPr>
            <p:ph type="dt" sz="quarter" idx="10"/>
          </p:nvPr>
        </p:nvSpPr>
        <p:spPr>
          <a:xfrm>
            <a:off x="457200" y="6381750"/>
            <a:ext cx="2133600" cy="339725"/>
          </a:xfrm>
        </p:spPr>
        <p:txBody>
          <a:bodyPr/>
          <a:lstStyle/>
          <a:p>
            <a:pPr>
              <a:defRPr/>
            </a:pPr>
            <a:fld id="{F79462B4-1B6C-4C97-A9E8-30B5533E52E1}" type="datetime1">
              <a:rPr lang="en-US"/>
              <a:pPr>
                <a:defRPr/>
              </a:pPr>
              <a:t>6/12/2023</a:t>
            </a:fld>
            <a:endParaRPr lang="en-US"/>
          </a:p>
        </p:txBody>
      </p:sp>
      <p:sp>
        <p:nvSpPr>
          <p:cNvPr id="9" name="Footer Placeholder 4">
            <a:extLst>
              <a:ext uri="{FF2B5EF4-FFF2-40B4-BE49-F238E27FC236}">
                <a16:creationId xmlns:a16="http://schemas.microsoft.com/office/drawing/2014/main" id="{24A8BF8E-70D8-35B4-C974-974F20A1F5D4}"/>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74759" name="Slide Number Placeholder 5">
            <a:extLst>
              <a:ext uri="{FF2B5EF4-FFF2-40B4-BE49-F238E27FC236}">
                <a16:creationId xmlns:a16="http://schemas.microsoft.com/office/drawing/2014/main" id="{20C65DCC-24C2-CB83-718F-3BDE1014A0A8}"/>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116DE01-52E0-4CD9-8470-9457B0811311}" type="slidenum">
              <a:rPr lang="en-US" altLang="en-US" sz="1200" smtClean="0">
                <a:solidFill>
                  <a:srgbClr val="898989"/>
                </a:solidFill>
              </a:rPr>
              <a:pPr>
                <a:spcBef>
                  <a:spcPct val="0"/>
                </a:spcBef>
                <a:buFontTx/>
                <a:buNone/>
              </a:pPr>
              <a:t>52</a:t>
            </a:fld>
            <a:endParaRPr lang="en-US" altLang="en-US" sz="1200">
              <a:solidFill>
                <a:srgbClr val="898989"/>
              </a:solidFill>
            </a:endParaRPr>
          </a:p>
        </p:txBody>
      </p:sp>
    </p:spTree>
  </p:cSld>
  <p:clrMapOvr>
    <a:masterClrMapping/>
  </p:clrMapOvr>
  <p:transition spd="slow">
    <p:split orient="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a:extLst>
              <a:ext uri="{FF2B5EF4-FFF2-40B4-BE49-F238E27FC236}">
                <a16:creationId xmlns:a16="http://schemas.microsoft.com/office/drawing/2014/main" id="{3F7AB6A9-EED9-D0C4-6DF2-ED4098D1CEB2}"/>
              </a:ext>
            </a:extLst>
          </p:cNvPr>
          <p:cNvSpPr>
            <a:spLocks noGrp="1"/>
          </p:cNvSpPr>
          <p:nvPr>
            <p:ph type="title"/>
          </p:nvPr>
        </p:nvSpPr>
        <p:spPr>
          <a:xfrm>
            <a:off x="2057400" y="136525"/>
            <a:ext cx="6324600" cy="1143000"/>
          </a:xfrm>
        </p:spPr>
        <p:txBody>
          <a:bodyPr/>
          <a:lstStyle/>
          <a:p>
            <a:pPr eaLnBrk="1" hangingPunct="1"/>
            <a:r>
              <a:rPr lang="en-US" altLang="en-US">
                <a:latin typeface="Open Sans" pitchFamily="34" charset="0"/>
              </a:rPr>
              <a:t>Scatter plot</a:t>
            </a:r>
          </a:p>
        </p:txBody>
      </p:sp>
      <p:sp>
        <p:nvSpPr>
          <p:cNvPr id="76803" name="Rectangle 1027">
            <a:extLst>
              <a:ext uri="{FF2B5EF4-FFF2-40B4-BE49-F238E27FC236}">
                <a16:creationId xmlns:a16="http://schemas.microsoft.com/office/drawing/2014/main" id="{0C5ADA28-2C41-DE50-9F74-A706CB086F9C}"/>
              </a:ext>
            </a:extLst>
          </p:cNvPr>
          <p:cNvSpPr>
            <a:spLocks noGrp="1"/>
          </p:cNvSpPr>
          <p:nvPr>
            <p:ph idx="1"/>
          </p:nvPr>
        </p:nvSpPr>
        <p:spPr>
          <a:xfrm>
            <a:off x="685800" y="1576388"/>
            <a:ext cx="8229600" cy="4953000"/>
          </a:xfrm>
        </p:spPr>
        <p:txBody>
          <a:bodyPr/>
          <a:lstStyle/>
          <a:p>
            <a:pPr eaLnBrk="1" hangingPunct="1"/>
            <a:r>
              <a:rPr lang="en-US" altLang="en-US" sz="2000">
                <a:latin typeface="Open Sans" pitchFamily="34" charset="0"/>
              </a:rPr>
              <a:t>Provides a first look at bivariate data to see clusters of points, outliers, etc.</a:t>
            </a:r>
          </a:p>
          <a:p>
            <a:pPr eaLnBrk="1" hangingPunct="1"/>
            <a:r>
              <a:rPr lang="en-US" altLang="en-US" sz="2000">
                <a:latin typeface="Open Sans" pitchFamily="34" charset="0"/>
              </a:rPr>
              <a:t>Each pair of values is treated as a pair of coordinates and plotted as points in the plane.</a:t>
            </a:r>
          </a:p>
        </p:txBody>
      </p:sp>
      <p:pic>
        <p:nvPicPr>
          <p:cNvPr id="76804" name="Picture 1">
            <a:extLst>
              <a:ext uri="{FF2B5EF4-FFF2-40B4-BE49-F238E27FC236}">
                <a16:creationId xmlns:a16="http://schemas.microsoft.com/office/drawing/2014/main" id="{6F963C07-4BDB-9161-BF85-3A936DBD1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3284538"/>
            <a:ext cx="6562725" cy="311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3">
            <a:extLst>
              <a:ext uri="{FF2B5EF4-FFF2-40B4-BE49-F238E27FC236}">
                <a16:creationId xmlns:a16="http://schemas.microsoft.com/office/drawing/2014/main" id="{D5B33690-C341-9F4C-DCB7-78156BF39EEF}"/>
              </a:ext>
            </a:extLst>
          </p:cNvPr>
          <p:cNvSpPr>
            <a:spLocks noGrp="1"/>
          </p:cNvSpPr>
          <p:nvPr>
            <p:ph type="dt" sz="quarter" idx="10"/>
          </p:nvPr>
        </p:nvSpPr>
        <p:spPr>
          <a:xfrm>
            <a:off x="457200" y="6381750"/>
            <a:ext cx="2133600" cy="339725"/>
          </a:xfrm>
        </p:spPr>
        <p:txBody>
          <a:bodyPr/>
          <a:lstStyle/>
          <a:p>
            <a:pPr>
              <a:defRPr/>
            </a:pPr>
            <a:fld id="{35AD4462-6B63-4375-B2FB-ABABB516349C}" type="datetime1">
              <a:rPr lang="en-US"/>
              <a:pPr>
                <a:defRPr/>
              </a:pPr>
              <a:t>6/12/2023</a:t>
            </a:fld>
            <a:endParaRPr lang="en-US"/>
          </a:p>
        </p:txBody>
      </p:sp>
      <p:sp>
        <p:nvSpPr>
          <p:cNvPr id="9" name="Footer Placeholder 4">
            <a:extLst>
              <a:ext uri="{FF2B5EF4-FFF2-40B4-BE49-F238E27FC236}">
                <a16:creationId xmlns:a16="http://schemas.microsoft.com/office/drawing/2014/main" id="{514D2C4F-CF1B-FD04-3D3B-CA805DF768AB}"/>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76807" name="Slide Number Placeholder 5">
            <a:extLst>
              <a:ext uri="{FF2B5EF4-FFF2-40B4-BE49-F238E27FC236}">
                <a16:creationId xmlns:a16="http://schemas.microsoft.com/office/drawing/2014/main" id="{ADE6B77D-1280-42A5-5D59-7DBB55E7D077}"/>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17E4A11-AD37-4FA8-BF07-076A1F650381}" type="slidenum">
              <a:rPr lang="en-US" altLang="en-US" sz="1200" smtClean="0">
                <a:solidFill>
                  <a:srgbClr val="898989"/>
                </a:solidFill>
              </a:rPr>
              <a:pPr>
                <a:spcBef>
                  <a:spcPct val="0"/>
                </a:spcBef>
                <a:buFontTx/>
                <a:buNone/>
              </a:pPr>
              <a:t>53</a:t>
            </a:fld>
            <a:endParaRPr lang="en-US" altLang="en-US" sz="1200">
              <a:solidFill>
                <a:srgbClr val="898989"/>
              </a:solidFill>
            </a:endParaRPr>
          </a:p>
        </p:txBody>
      </p:sp>
    </p:spTree>
  </p:cSld>
  <p:clrMapOvr>
    <a:masterClrMapping/>
  </p:clrMapOvr>
  <p:transition spd="slow">
    <p:split orient="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72D61A81-525A-BD3B-6875-C4593D72BF54}"/>
              </a:ext>
            </a:extLst>
          </p:cNvPr>
          <p:cNvSpPr>
            <a:spLocks noGrp="1"/>
          </p:cNvSpPr>
          <p:nvPr>
            <p:ph type="title"/>
          </p:nvPr>
        </p:nvSpPr>
        <p:spPr>
          <a:xfrm>
            <a:off x="2492375" y="136525"/>
            <a:ext cx="6148388" cy="1390650"/>
          </a:xfrm>
        </p:spPr>
        <p:txBody>
          <a:bodyPr/>
          <a:lstStyle/>
          <a:p>
            <a:pPr eaLnBrk="1" hangingPunct="1"/>
            <a:r>
              <a:rPr lang="en-US" altLang="en-US" sz="3200">
                <a:latin typeface="Open Sans" pitchFamily="34" charset="0"/>
              </a:rPr>
              <a:t>Positively and Negatively Correlated Data</a:t>
            </a:r>
          </a:p>
        </p:txBody>
      </p:sp>
      <p:pic>
        <p:nvPicPr>
          <p:cNvPr id="77827" name="Picture 26" descr="ha02correl2">
            <a:extLst>
              <a:ext uri="{FF2B5EF4-FFF2-40B4-BE49-F238E27FC236}">
                <a16:creationId xmlns:a16="http://schemas.microsoft.com/office/drawing/2014/main" id="{E1B488A4-70DB-1F6C-1CA5-74FD156234F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17525" y="2349500"/>
            <a:ext cx="2668588" cy="2193925"/>
          </a:xfr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7828" name="Picture 22" descr="fig46">
            <a:extLst>
              <a:ext uri="{FF2B5EF4-FFF2-40B4-BE49-F238E27FC236}">
                <a16:creationId xmlns:a16="http://schemas.microsoft.com/office/drawing/2014/main" id="{80D5DB41-B348-CDD6-164A-9DED2F0DAB81}"/>
              </a:ext>
            </a:extLst>
          </p:cNvPr>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5991225" y="2365375"/>
            <a:ext cx="3130550" cy="2178050"/>
          </a:xfr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7829" name="Picture 24" descr="ha02correl1">
            <a:extLst>
              <a:ext uri="{FF2B5EF4-FFF2-40B4-BE49-F238E27FC236}">
                <a16:creationId xmlns:a16="http://schemas.microsoft.com/office/drawing/2014/main" id="{496CD634-6D07-5232-D3F1-693FA130F6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1675" y="2365375"/>
            <a:ext cx="2647950"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0" name="TextBox 1">
            <a:extLst>
              <a:ext uri="{FF2B5EF4-FFF2-40B4-BE49-F238E27FC236}">
                <a16:creationId xmlns:a16="http://schemas.microsoft.com/office/drawing/2014/main" id="{F8D4635F-BDA9-3B89-662B-5F6687CCA361}"/>
              </a:ext>
            </a:extLst>
          </p:cNvPr>
          <p:cNvSpPr txBox="1">
            <a:spLocks noChangeArrowheads="1"/>
          </p:cNvSpPr>
          <p:nvPr/>
        </p:nvSpPr>
        <p:spPr bwMode="auto">
          <a:xfrm>
            <a:off x="1670050" y="4581525"/>
            <a:ext cx="287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FF0000"/>
                </a:solidFill>
                <a:latin typeface="Arial" panose="020B0604020202020204" pitchFamily="34" charset="0"/>
              </a:rPr>
              <a:t>-</a:t>
            </a:r>
          </a:p>
        </p:txBody>
      </p:sp>
      <p:sp>
        <p:nvSpPr>
          <p:cNvPr id="77831" name="TextBox 9">
            <a:extLst>
              <a:ext uri="{FF2B5EF4-FFF2-40B4-BE49-F238E27FC236}">
                <a16:creationId xmlns:a16="http://schemas.microsoft.com/office/drawing/2014/main" id="{7822A1DA-52B3-A477-D923-400CE640872B}"/>
              </a:ext>
            </a:extLst>
          </p:cNvPr>
          <p:cNvSpPr txBox="1">
            <a:spLocks noChangeArrowheads="1"/>
          </p:cNvSpPr>
          <p:nvPr/>
        </p:nvSpPr>
        <p:spPr bwMode="auto">
          <a:xfrm>
            <a:off x="4406900" y="4581525"/>
            <a:ext cx="363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FF0000"/>
                </a:solidFill>
                <a:latin typeface="Arial" panose="020B0604020202020204" pitchFamily="34" charset="0"/>
              </a:rPr>
              <a:t>+</a:t>
            </a:r>
          </a:p>
        </p:txBody>
      </p:sp>
      <p:sp>
        <p:nvSpPr>
          <p:cNvPr id="77832" name="TextBox 10">
            <a:extLst>
              <a:ext uri="{FF2B5EF4-FFF2-40B4-BE49-F238E27FC236}">
                <a16:creationId xmlns:a16="http://schemas.microsoft.com/office/drawing/2014/main" id="{493D6B55-D7D7-4991-08BD-81F2A8666A88}"/>
              </a:ext>
            </a:extLst>
          </p:cNvPr>
          <p:cNvSpPr txBox="1">
            <a:spLocks noChangeArrowheads="1"/>
          </p:cNvSpPr>
          <p:nvPr/>
        </p:nvSpPr>
        <p:spPr bwMode="auto">
          <a:xfrm>
            <a:off x="7286625" y="4581525"/>
            <a:ext cx="373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FF0000"/>
                </a:solidFill>
                <a:latin typeface="Arial" panose="020B0604020202020204" pitchFamily="34" charset="0"/>
              </a:rPr>
              <a:t>?</a:t>
            </a:r>
          </a:p>
        </p:txBody>
      </p:sp>
      <p:sp>
        <p:nvSpPr>
          <p:cNvPr id="12" name="Date Placeholder 3">
            <a:extLst>
              <a:ext uri="{FF2B5EF4-FFF2-40B4-BE49-F238E27FC236}">
                <a16:creationId xmlns:a16="http://schemas.microsoft.com/office/drawing/2014/main" id="{063585C3-8E21-918E-8378-A683D29EAC5C}"/>
              </a:ext>
            </a:extLst>
          </p:cNvPr>
          <p:cNvSpPr>
            <a:spLocks noGrp="1"/>
          </p:cNvSpPr>
          <p:nvPr>
            <p:ph type="dt" sz="quarter" idx="10"/>
          </p:nvPr>
        </p:nvSpPr>
        <p:spPr>
          <a:xfrm>
            <a:off x="457200" y="6381750"/>
            <a:ext cx="2133600" cy="339725"/>
          </a:xfrm>
        </p:spPr>
        <p:txBody>
          <a:bodyPr/>
          <a:lstStyle/>
          <a:p>
            <a:pPr>
              <a:defRPr/>
            </a:pPr>
            <a:fld id="{B6BBA1B9-DCE0-4CF6-8ABB-80A8EED9EC5E}" type="datetime1">
              <a:rPr lang="en-US"/>
              <a:pPr>
                <a:defRPr/>
              </a:pPr>
              <a:t>6/12/2023</a:t>
            </a:fld>
            <a:endParaRPr lang="en-US"/>
          </a:p>
        </p:txBody>
      </p:sp>
      <p:sp>
        <p:nvSpPr>
          <p:cNvPr id="13" name="Footer Placeholder 4">
            <a:extLst>
              <a:ext uri="{FF2B5EF4-FFF2-40B4-BE49-F238E27FC236}">
                <a16:creationId xmlns:a16="http://schemas.microsoft.com/office/drawing/2014/main" id="{5509CEFC-1A0D-6621-8094-1B0402C61733}"/>
              </a:ext>
            </a:extLst>
          </p:cNvPr>
          <p:cNvSpPr>
            <a:spLocks noGrp="1"/>
          </p:cNvSpPr>
          <p:nvPr>
            <p:ph type="ftr" sz="quarter" idx="11"/>
          </p:nvPr>
        </p:nvSpPr>
        <p:spPr>
          <a:xfrm>
            <a:off x="2771775" y="6381750"/>
            <a:ext cx="3671888" cy="339725"/>
          </a:xfrm>
        </p:spPr>
        <p:txBody>
          <a:bodyPr/>
          <a:lstStyle/>
          <a:p>
            <a:pPr>
              <a:defRPr/>
            </a:pPr>
            <a:r>
              <a:rPr lang="en-US"/>
              <a:t>Data Exploration and Pre-processing</a:t>
            </a:r>
            <a:endParaRPr lang="en-US" dirty="0"/>
          </a:p>
        </p:txBody>
      </p:sp>
      <p:sp>
        <p:nvSpPr>
          <p:cNvPr id="77835" name="Slide Number Placeholder 5">
            <a:extLst>
              <a:ext uri="{FF2B5EF4-FFF2-40B4-BE49-F238E27FC236}">
                <a16:creationId xmlns:a16="http://schemas.microsoft.com/office/drawing/2014/main" id="{F6772AC5-EEB8-AE30-6217-617421BAB7C6}"/>
              </a:ext>
            </a:extLst>
          </p:cNvPr>
          <p:cNvSpPr>
            <a:spLocks noGrp="1" noChangeArrowheads="1"/>
          </p:cNvSpPr>
          <p:nvPr>
            <p:ph type="sldNum" sz="quarter" idx="12"/>
          </p:nvPr>
        </p:nvSpPr>
        <p:spPr bwMode="auto">
          <a:xfrm>
            <a:off x="6553200" y="6381750"/>
            <a:ext cx="2133600" cy="33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BBA319F-1657-425B-9C60-69019F107851}" type="slidenum">
              <a:rPr lang="en-US" altLang="en-US" sz="1200" smtClean="0">
                <a:solidFill>
                  <a:srgbClr val="898989"/>
                </a:solidFill>
              </a:rPr>
              <a:pPr>
                <a:spcBef>
                  <a:spcPct val="0"/>
                </a:spcBef>
                <a:buFontTx/>
                <a:buNone/>
              </a:pPr>
              <a:t>54</a:t>
            </a:fld>
            <a:endParaRPr lang="en-US" altLang="en-US" sz="1200">
              <a:solidFill>
                <a:srgbClr val="898989"/>
              </a:solidFill>
            </a:endParaRPr>
          </a:p>
        </p:txBody>
      </p:sp>
    </p:spTree>
  </p:cSld>
  <p:clrMapOvr>
    <a:masterClrMapping/>
  </p:clrMapOvr>
  <p:transition spd="slow">
    <p:split orient="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E429D600-93CF-F87E-23C1-3A0F96093B26}"/>
              </a:ext>
            </a:extLst>
          </p:cNvPr>
          <p:cNvSpPr>
            <a:spLocks noGrp="1"/>
          </p:cNvSpPr>
          <p:nvPr>
            <p:ph type="title"/>
          </p:nvPr>
        </p:nvSpPr>
        <p:spPr/>
        <p:txBody>
          <a:bodyPr/>
          <a:lstStyle/>
          <a:p>
            <a:r>
              <a:rPr lang="en-US" altLang="en-US">
                <a:latin typeface="Open Sans" pitchFamily="34" charset="0"/>
              </a:rPr>
              <a:t>Summary</a:t>
            </a:r>
          </a:p>
        </p:txBody>
      </p:sp>
      <p:sp>
        <p:nvSpPr>
          <p:cNvPr id="79875" name="Content Placeholder 2">
            <a:extLst>
              <a:ext uri="{FF2B5EF4-FFF2-40B4-BE49-F238E27FC236}">
                <a16:creationId xmlns:a16="http://schemas.microsoft.com/office/drawing/2014/main" id="{194201F3-4EC8-75D1-FC3A-7CC2B9ADD710}"/>
              </a:ext>
            </a:extLst>
          </p:cNvPr>
          <p:cNvSpPr>
            <a:spLocks noGrp="1"/>
          </p:cNvSpPr>
          <p:nvPr>
            <p:ph idx="1"/>
          </p:nvPr>
        </p:nvSpPr>
        <p:spPr>
          <a:xfrm>
            <a:off x="685800" y="1524000"/>
            <a:ext cx="8229600" cy="4953000"/>
          </a:xfrm>
        </p:spPr>
        <p:txBody>
          <a:bodyPr/>
          <a:lstStyle/>
          <a:p>
            <a:pPr eaLnBrk="1" hangingPunct="1">
              <a:lnSpc>
                <a:spcPct val="120000"/>
              </a:lnSpc>
            </a:pPr>
            <a:r>
              <a:rPr lang="en-US" altLang="en-US" sz="2000">
                <a:latin typeface="Open Sans" pitchFamily="34" charset="0"/>
                <a:cs typeface="Arial" panose="020B0604020202020204" pitchFamily="34" charset="0"/>
              </a:rPr>
              <a:t>Raw data are dirty usually due to incomplete, noisy and inconsistent.</a:t>
            </a:r>
          </a:p>
          <a:p>
            <a:pPr>
              <a:lnSpc>
                <a:spcPct val="120000"/>
              </a:lnSpc>
            </a:pPr>
            <a:r>
              <a:rPr lang="en-US" altLang="en-US" sz="2000">
                <a:latin typeface="Open Sans" pitchFamily="34" charset="0"/>
                <a:cs typeface="Arial" panose="020B0604020202020204" pitchFamily="34" charset="0"/>
              </a:rPr>
              <a:t>Data Preprocessing is important to ensure the quality mining results.</a:t>
            </a:r>
          </a:p>
          <a:p>
            <a:pPr>
              <a:lnSpc>
                <a:spcPct val="120000"/>
              </a:lnSpc>
            </a:pPr>
            <a:r>
              <a:rPr lang="en-US" altLang="en-US" sz="2000">
                <a:latin typeface="Open Sans" pitchFamily="34" charset="0"/>
                <a:cs typeface="Arial" panose="020B0604020202020204" pitchFamily="34" charset="0"/>
              </a:rPr>
              <a:t>Data cleaning is one of the three biggest problems in data warehousing.</a:t>
            </a:r>
          </a:p>
          <a:p>
            <a:pPr marL="342900" lvl="1" indent="-342900">
              <a:lnSpc>
                <a:spcPct val="120000"/>
              </a:lnSpc>
              <a:buFont typeface="Arial" panose="020B0604020202020204" pitchFamily="34" charset="0"/>
              <a:buChar char="•"/>
            </a:pPr>
            <a:r>
              <a:rPr lang="en-US" altLang="en-US" sz="2000">
                <a:latin typeface="Open Sans" pitchFamily="34" charset="0"/>
                <a:cs typeface="Arial" panose="020B0604020202020204" pitchFamily="34" charset="0"/>
              </a:rPr>
              <a:t>Data integration combines data from multiple sources into a coherent store.</a:t>
            </a:r>
          </a:p>
          <a:p>
            <a:pPr marL="342900" lvl="1" indent="-342900">
              <a:lnSpc>
                <a:spcPct val="120000"/>
              </a:lnSpc>
              <a:buFont typeface="Arial" panose="020B0604020202020204" pitchFamily="34" charset="0"/>
              <a:buChar char="•"/>
            </a:pPr>
            <a:r>
              <a:rPr lang="en-US" altLang="en-US" sz="2000">
                <a:latin typeface="Open Sans" pitchFamily="34" charset="0"/>
                <a:cs typeface="Arial" panose="020B0604020202020204" pitchFamily="34" charset="0"/>
              </a:rPr>
              <a:t>Data reduction reduces representation of the data set that is much smaller in volume but yet produce the same (or almost the same) analytical results.</a:t>
            </a:r>
          </a:p>
          <a:p>
            <a:pPr marL="342900" lvl="1" indent="-342900">
              <a:lnSpc>
                <a:spcPct val="120000"/>
              </a:lnSpc>
              <a:buFont typeface="Arial" panose="020B0604020202020204" pitchFamily="34" charset="0"/>
              <a:buChar char="•"/>
            </a:pPr>
            <a:r>
              <a:rPr lang="en-US" altLang="en-US" sz="2000">
                <a:latin typeface="Open Sans" pitchFamily="34" charset="0"/>
                <a:cs typeface="Arial" panose="020B0604020202020204" pitchFamily="34" charset="0"/>
              </a:rPr>
              <a:t>Data visualization to make better understanding about data.</a:t>
            </a:r>
          </a:p>
          <a:p>
            <a:pPr marL="342900" lvl="1" indent="-342900">
              <a:lnSpc>
                <a:spcPct val="120000"/>
              </a:lnSpc>
              <a:buFont typeface="Arial" panose="020B0604020202020204" pitchFamily="34" charset="0"/>
              <a:buChar char="•"/>
            </a:pPr>
            <a:endParaRPr lang="en-US" altLang="en-US" sz="2000">
              <a:latin typeface="Open Sans"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72CACACC-6E2A-E05E-92D3-516D65A58C6F}"/>
              </a:ext>
            </a:extLst>
          </p:cNvPr>
          <p:cNvSpPr>
            <a:spLocks noGrp="1"/>
          </p:cNvSpPr>
          <p:nvPr>
            <p:ph type="dt" sz="quarter" idx="10"/>
          </p:nvPr>
        </p:nvSpPr>
        <p:spPr/>
        <p:txBody>
          <a:bodyPr/>
          <a:lstStyle/>
          <a:p>
            <a:pPr>
              <a:defRPr/>
            </a:pPr>
            <a:fld id="{B45AA3AC-9F4D-4443-A041-F71BB343B4E8}" type="datetime1">
              <a:rPr lang="en-US"/>
              <a:pPr>
                <a:defRPr/>
              </a:pPr>
              <a:t>6/12/2023</a:t>
            </a:fld>
            <a:endParaRPr lang="en-US"/>
          </a:p>
        </p:txBody>
      </p:sp>
      <p:sp>
        <p:nvSpPr>
          <p:cNvPr id="5" name="Footer Placeholder 4">
            <a:extLst>
              <a:ext uri="{FF2B5EF4-FFF2-40B4-BE49-F238E27FC236}">
                <a16:creationId xmlns:a16="http://schemas.microsoft.com/office/drawing/2014/main" id="{66CE9FFB-F78A-3E57-46BE-8646B89F9BEC}"/>
              </a:ext>
            </a:extLst>
          </p:cNvPr>
          <p:cNvSpPr>
            <a:spLocks noGrp="1"/>
          </p:cNvSpPr>
          <p:nvPr>
            <p:ph type="ftr" sz="quarter" idx="11"/>
          </p:nvPr>
        </p:nvSpPr>
        <p:spPr/>
        <p:txBody>
          <a:bodyPr/>
          <a:lstStyle/>
          <a:p>
            <a:pPr>
              <a:defRPr/>
            </a:pPr>
            <a:r>
              <a:rPr lang="en-US"/>
              <a:t>Data Exploration and Pre-processing</a:t>
            </a:r>
          </a:p>
        </p:txBody>
      </p:sp>
      <p:sp>
        <p:nvSpPr>
          <p:cNvPr id="79878" name="Slide Number Placeholder 5">
            <a:extLst>
              <a:ext uri="{FF2B5EF4-FFF2-40B4-BE49-F238E27FC236}">
                <a16:creationId xmlns:a16="http://schemas.microsoft.com/office/drawing/2014/main" id="{EB62B155-9509-6E30-1E19-7A23907E1B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ADF698E-F588-4F5B-A99A-146C696E56FC}" type="slidenum">
              <a:rPr lang="en-US" altLang="en-US" sz="1200" smtClean="0">
                <a:solidFill>
                  <a:srgbClr val="898989"/>
                </a:solidFill>
              </a:rPr>
              <a:pPr>
                <a:spcBef>
                  <a:spcPct val="0"/>
                </a:spcBef>
                <a:buFontTx/>
                <a:buNone/>
              </a:pPr>
              <a:t>55</a:t>
            </a:fld>
            <a:endParaRPr lang="en-US" altLang="en-US" sz="1200">
              <a:solidFill>
                <a:srgbClr val="898989"/>
              </a:solidFill>
            </a:endParaRPr>
          </a:p>
        </p:txBody>
      </p:sp>
    </p:spTree>
  </p:cSld>
  <p:clrMapOvr>
    <a:masterClrMapping/>
  </p:clrMapOvr>
  <p:transition spd="slow">
    <p:split orient="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F0578829-0913-57DB-15C0-4EA7C11EF055}"/>
              </a:ext>
            </a:extLst>
          </p:cNvPr>
          <p:cNvSpPr>
            <a:spLocks noGrp="1"/>
          </p:cNvSpPr>
          <p:nvPr>
            <p:ph type="title"/>
          </p:nvPr>
        </p:nvSpPr>
        <p:spPr/>
        <p:txBody>
          <a:bodyPr/>
          <a:lstStyle/>
          <a:p>
            <a:r>
              <a:rPr lang="en-US" altLang="en-US">
                <a:latin typeface="Open Sans" pitchFamily="34" charset="0"/>
              </a:rPr>
              <a:t>Exercise</a:t>
            </a:r>
          </a:p>
        </p:txBody>
      </p:sp>
      <p:sp>
        <p:nvSpPr>
          <p:cNvPr id="3" name="Content Placeholder 2">
            <a:extLst>
              <a:ext uri="{FF2B5EF4-FFF2-40B4-BE49-F238E27FC236}">
                <a16:creationId xmlns:a16="http://schemas.microsoft.com/office/drawing/2014/main" id="{AD245AC9-3844-43CB-18A0-5E7E7EC8C7ED}"/>
              </a:ext>
            </a:extLst>
          </p:cNvPr>
          <p:cNvSpPr>
            <a:spLocks noGrp="1"/>
          </p:cNvSpPr>
          <p:nvPr>
            <p:ph idx="1"/>
          </p:nvPr>
        </p:nvSpPr>
        <p:spPr>
          <a:xfrm>
            <a:off x="685800" y="1905000"/>
            <a:ext cx="8229600" cy="4724400"/>
          </a:xfrm>
        </p:spPr>
        <p:txBody>
          <a:bodyPr/>
          <a:lstStyle/>
          <a:p>
            <a:pPr marL="0" indent="0">
              <a:buFont typeface="Arial" panose="020B0604020202020204" pitchFamily="34" charset="0"/>
              <a:buNone/>
              <a:defRPr/>
            </a:pPr>
            <a:r>
              <a:rPr lang="en-US" dirty="0"/>
              <a:t>Normalize the following data using:</a:t>
            </a:r>
          </a:p>
          <a:p>
            <a:pPr>
              <a:defRPr/>
            </a:pPr>
            <a:r>
              <a:rPr lang="en-US" dirty="0"/>
              <a:t>min-max normalization, to fall between 0 to 1.</a:t>
            </a:r>
          </a:p>
          <a:p>
            <a:pPr>
              <a:defRPr/>
            </a:pPr>
            <a:r>
              <a:rPr lang="en-US" dirty="0"/>
              <a:t>z-score normalization</a:t>
            </a:r>
          </a:p>
          <a:p>
            <a:pPr marL="0" indent="0">
              <a:buFont typeface="Arial" panose="020B0604020202020204" pitchFamily="34" charset="0"/>
              <a:buNone/>
              <a:defRPr/>
            </a:pPr>
            <a:endParaRPr lang="en-US" dirty="0"/>
          </a:p>
          <a:p>
            <a:pPr marL="0" indent="0">
              <a:buFont typeface="Arial" panose="020B0604020202020204" pitchFamily="34" charset="0"/>
              <a:buNone/>
              <a:defRPr/>
            </a:pPr>
            <a:endParaRPr lang="en-US" dirty="0"/>
          </a:p>
          <a:p>
            <a:pPr>
              <a:defRPr/>
            </a:pPr>
            <a:endParaRPr lang="en-US" dirty="0"/>
          </a:p>
        </p:txBody>
      </p:sp>
      <p:sp>
        <p:nvSpPr>
          <p:cNvPr id="4" name="Date Placeholder 3">
            <a:extLst>
              <a:ext uri="{FF2B5EF4-FFF2-40B4-BE49-F238E27FC236}">
                <a16:creationId xmlns:a16="http://schemas.microsoft.com/office/drawing/2014/main" id="{43795BE1-6B55-7937-5E46-3020BB2AA62D}"/>
              </a:ext>
            </a:extLst>
          </p:cNvPr>
          <p:cNvSpPr>
            <a:spLocks noGrp="1"/>
          </p:cNvSpPr>
          <p:nvPr>
            <p:ph type="dt" sz="quarter" idx="10"/>
          </p:nvPr>
        </p:nvSpPr>
        <p:spPr/>
        <p:txBody>
          <a:bodyPr/>
          <a:lstStyle/>
          <a:p>
            <a:pPr>
              <a:defRPr/>
            </a:pPr>
            <a:fld id="{055EF807-69F0-4CE2-9CB4-F5D0B6DE7634}" type="datetime1">
              <a:rPr lang="en-US" smtClean="0"/>
              <a:pPr>
                <a:defRPr/>
              </a:pPr>
              <a:t>6/12/2023</a:t>
            </a:fld>
            <a:endParaRPr lang="en-US"/>
          </a:p>
        </p:txBody>
      </p:sp>
      <p:sp>
        <p:nvSpPr>
          <p:cNvPr id="5" name="Footer Placeholder 4">
            <a:extLst>
              <a:ext uri="{FF2B5EF4-FFF2-40B4-BE49-F238E27FC236}">
                <a16:creationId xmlns:a16="http://schemas.microsoft.com/office/drawing/2014/main" id="{AC2E49D8-C3BB-DA7C-02C0-B07D9816536A}"/>
              </a:ext>
            </a:extLst>
          </p:cNvPr>
          <p:cNvSpPr>
            <a:spLocks noGrp="1"/>
          </p:cNvSpPr>
          <p:nvPr>
            <p:ph type="ftr" sz="quarter" idx="11"/>
          </p:nvPr>
        </p:nvSpPr>
        <p:spPr/>
        <p:txBody>
          <a:bodyPr/>
          <a:lstStyle/>
          <a:p>
            <a:pPr>
              <a:defRPr/>
            </a:pPr>
            <a:r>
              <a:rPr lang="en-US"/>
              <a:t>Data Exploration and Pre-processing</a:t>
            </a:r>
          </a:p>
        </p:txBody>
      </p:sp>
      <p:sp>
        <p:nvSpPr>
          <p:cNvPr id="80902" name="Slide Number Placeholder 5">
            <a:extLst>
              <a:ext uri="{FF2B5EF4-FFF2-40B4-BE49-F238E27FC236}">
                <a16:creationId xmlns:a16="http://schemas.microsoft.com/office/drawing/2014/main" id="{F17AD337-05A5-7363-7183-F63077B4846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A1C9A69-F929-436F-9830-20BFBBB12369}" type="slidenum">
              <a:rPr lang="en-US" altLang="en-US" sz="1200" smtClean="0">
                <a:solidFill>
                  <a:srgbClr val="898989"/>
                </a:solidFill>
              </a:rPr>
              <a:pPr>
                <a:spcBef>
                  <a:spcPct val="0"/>
                </a:spcBef>
                <a:buFontTx/>
                <a:buNone/>
              </a:pPr>
              <a:t>56</a:t>
            </a:fld>
            <a:endParaRPr lang="en-US" altLang="en-US" sz="1200">
              <a:solidFill>
                <a:srgbClr val="898989"/>
              </a:solidFill>
            </a:endParaRPr>
          </a:p>
        </p:txBody>
      </p:sp>
      <p:graphicFrame>
        <p:nvGraphicFramePr>
          <p:cNvPr id="8" name="Table 7">
            <a:extLst>
              <a:ext uri="{FF2B5EF4-FFF2-40B4-BE49-F238E27FC236}">
                <a16:creationId xmlns:a16="http://schemas.microsoft.com/office/drawing/2014/main" id="{5EB4806C-C503-0872-933D-5539297C0B0C}"/>
              </a:ext>
            </a:extLst>
          </p:cNvPr>
          <p:cNvGraphicFramePr>
            <a:graphicFrameLocks noGrp="1"/>
          </p:cNvGraphicFramePr>
          <p:nvPr/>
        </p:nvGraphicFramePr>
        <p:xfrm>
          <a:off x="447675" y="4011613"/>
          <a:ext cx="8485186" cy="1203325"/>
        </p:xfrm>
        <a:graphic>
          <a:graphicData uri="http://schemas.openxmlformats.org/drawingml/2006/table">
            <a:tbl>
              <a:tblPr firstRow="1" bandRow="1">
                <a:tableStyleId>{5940675A-B579-460E-94D1-54222C63F5DA}</a:tableStyleId>
              </a:tblPr>
              <a:tblGrid>
                <a:gridCol w="1936395">
                  <a:extLst>
                    <a:ext uri="{9D8B030D-6E8A-4147-A177-3AD203B41FA5}">
                      <a16:colId xmlns:a16="http://schemas.microsoft.com/office/drawing/2014/main" val="20000"/>
                    </a:ext>
                  </a:extLst>
                </a:gridCol>
                <a:gridCol w="645466">
                  <a:extLst>
                    <a:ext uri="{9D8B030D-6E8A-4147-A177-3AD203B41FA5}">
                      <a16:colId xmlns:a16="http://schemas.microsoft.com/office/drawing/2014/main" val="20001"/>
                    </a:ext>
                  </a:extLst>
                </a:gridCol>
                <a:gridCol w="658913">
                  <a:extLst>
                    <a:ext uri="{9D8B030D-6E8A-4147-A177-3AD203B41FA5}">
                      <a16:colId xmlns:a16="http://schemas.microsoft.com/office/drawing/2014/main" val="20002"/>
                    </a:ext>
                  </a:extLst>
                </a:gridCol>
                <a:gridCol w="645466">
                  <a:extLst>
                    <a:ext uri="{9D8B030D-6E8A-4147-A177-3AD203B41FA5}">
                      <a16:colId xmlns:a16="http://schemas.microsoft.com/office/drawing/2014/main" val="20003"/>
                    </a:ext>
                  </a:extLst>
                </a:gridCol>
                <a:gridCol w="632019">
                  <a:extLst>
                    <a:ext uri="{9D8B030D-6E8A-4147-A177-3AD203B41FA5}">
                      <a16:colId xmlns:a16="http://schemas.microsoft.com/office/drawing/2014/main" val="20004"/>
                    </a:ext>
                  </a:extLst>
                </a:gridCol>
                <a:gridCol w="591677">
                  <a:extLst>
                    <a:ext uri="{9D8B030D-6E8A-4147-A177-3AD203B41FA5}">
                      <a16:colId xmlns:a16="http://schemas.microsoft.com/office/drawing/2014/main" val="20005"/>
                    </a:ext>
                  </a:extLst>
                </a:gridCol>
                <a:gridCol w="645466">
                  <a:extLst>
                    <a:ext uri="{9D8B030D-6E8A-4147-A177-3AD203B41FA5}">
                      <a16:colId xmlns:a16="http://schemas.microsoft.com/office/drawing/2014/main" val="20006"/>
                    </a:ext>
                  </a:extLst>
                </a:gridCol>
                <a:gridCol w="645466">
                  <a:extLst>
                    <a:ext uri="{9D8B030D-6E8A-4147-A177-3AD203B41FA5}">
                      <a16:colId xmlns:a16="http://schemas.microsoft.com/office/drawing/2014/main" val="20007"/>
                    </a:ext>
                  </a:extLst>
                </a:gridCol>
                <a:gridCol w="658913">
                  <a:extLst>
                    <a:ext uri="{9D8B030D-6E8A-4147-A177-3AD203B41FA5}">
                      <a16:colId xmlns:a16="http://schemas.microsoft.com/office/drawing/2014/main" val="20008"/>
                    </a:ext>
                  </a:extLst>
                </a:gridCol>
                <a:gridCol w="712702">
                  <a:extLst>
                    <a:ext uri="{9D8B030D-6E8A-4147-A177-3AD203B41FA5}">
                      <a16:colId xmlns:a16="http://schemas.microsoft.com/office/drawing/2014/main" val="20009"/>
                    </a:ext>
                  </a:extLst>
                </a:gridCol>
                <a:gridCol w="712703">
                  <a:extLst>
                    <a:ext uri="{9D8B030D-6E8A-4147-A177-3AD203B41FA5}">
                      <a16:colId xmlns:a16="http://schemas.microsoft.com/office/drawing/2014/main" val="20010"/>
                    </a:ext>
                  </a:extLst>
                </a:gridCol>
              </a:tblGrid>
              <a:tr h="640223">
                <a:tc>
                  <a:txBody>
                    <a:bodyPr/>
                    <a:lstStyle/>
                    <a:p>
                      <a:r>
                        <a:rPr lang="en-US" sz="1800" dirty="0"/>
                        <a:t>Advertisement Cost (in $1,000)</a:t>
                      </a:r>
                    </a:p>
                  </a:txBody>
                  <a:tcPr marL="91441" marR="91441" marT="45730" marB="45730" anchor="ctr"/>
                </a:tc>
                <a:tc>
                  <a:txBody>
                    <a:bodyPr/>
                    <a:lstStyle/>
                    <a:p>
                      <a:pPr algn="ctr"/>
                      <a:r>
                        <a:rPr lang="en-US" sz="1800" dirty="0"/>
                        <a:t>39</a:t>
                      </a:r>
                    </a:p>
                  </a:txBody>
                  <a:tcPr marL="91441" marR="91441" marT="45730" marB="45730" anchor="ctr"/>
                </a:tc>
                <a:tc>
                  <a:txBody>
                    <a:bodyPr/>
                    <a:lstStyle/>
                    <a:p>
                      <a:pPr algn="ctr"/>
                      <a:r>
                        <a:rPr lang="en-US" sz="1800" dirty="0"/>
                        <a:t>65</a:t>
                      </a:r>
                    </a:p>
                  </a:txBody>
                  <a:tcPr marL="91441" marR="91441" marT="45730" marB="45730" anchor="ctr"/>
                </a:tc>
                <a:tc>
                  <a:txBody>
                    <a:bodyPr/>
                    <a:lstStyle/>
                    <a:p>
                      <a:pPr algn="ctr"/>
                      <a:r>
                        <a:rPr lang="en-US" sz="1800" dirty="0"/>
                        <a:t>62</a:t>
                      </a:r>
                    </a:p>
                  </a:txBody>
                  <a:tcPr marL="91441" marR="91441" marT="45730" marB="45730" anchor="ctr"/>
                </a:tc>
                <a:tc>
                  <a:txBody>
                    <a:bodyPr/>
                    <a:lstStyle/>
                    <a:p>
                      <a:pPr algn="ctr"/>
                      <a:r>
                        <a:rPr lang="en-US" sz="1800" dirty="0"/>
                        <a:t>90</a:t>
                      </a:r>
                    </a:p>
                  </a:txBody>
                  <a:tcPr marL="91441" marR="91441" marT="45730" marB="45730" anchor="ctr"/>
                </a:tc>
                <a:tc>
                  <a:txBody>
                    <a:bodyPr/>
                    <a:lstStyle/>
                    <a:p>
                      <a:pPr algn="ctr"/>
                      <a:r>
                        <a:rPr lang="en-US" sz="1800" dirty="0"/>
                        <a:t>82</a:t>
                      </a:r>
                    </a:p>
                  </a:txBody>
                  <a:tcPr marL="91441" marR="91441" marT="45730" marB="45730" anchor="ctr"/>
                </a:tc>
                <a:tc>
                  <a:txBody>
                    <a:bodyPr/>
                    <a:lstStyle/>
                    <a:p>
                      <a:pPr algn="ctr"/>
                      <a:r>
                        <a:rPr lang="en-US" sz="1800" dirty="0"/>
                        <a:t>75</a:t>
                      </a:r>
                    </a:p>
                  </a:txBody>
                  <a:tcPr marL="91441" marR="91441" marT="45730" marB="45730" anchor="ctr"/>
                </a:tc>
                <a:tc>
                  <a:txBody>
                    <a:bodyPr/>
                    <a:lstStyle/>
                    <a:p>
                      <a:pPr algn="ctr"/>
                      <a:r>
                        <a:rPr lang="en-US" sz="1800" dirty="0"/>
                        <a:t>25</a:t>
                      </a:r>
                    </a:p>
                  </a:txBody>
                  <a:tcPr marL="91441" marR="91441" marT="45730" marB="45730" anchor="ctr"/>
                </a:tc>
                <a:tc>
                  <a:txBody>
                    <a:bodyPr/>
                    <a:lstStyle/>
                    <a:p>
                      <a:pPr algn="ctr"/>
                      <a:r>
                        <a:rPr lang="en-US" sz="1800" dirty="0"/>
                        <a:t>98</a:t>
                      </a:r>
                    </a:p>
                  </a:txBody>
                  <a:tcPr marL="91441" marR="91441" marT="45730" marB="45730" anchor="ctr"/>
                </a:tc>
                <a:tc>
                  <a:txBody>
                    <a:bodyPr/>
                    <a:lstStyle/>
                    <a:p>
                      <a:pPr algn="ctr"/>
                      <a:r>
                        <a:rPr lang="en-US" sz="1800" dirty="0"/>
                        <a:t>36</a:t>
                      </a:r>
                    </a:p>
                  </a:txBody>
                  <a:tcPr marL="91441" marR="91441" marT="45730" marB="45730" anchor="ctr"/>
                </a:tc>
                <a:tc>
                  <a:txBody>
                    <a:bodyPr/>
                    <a:lstStyle/>
                    <a:p>
                      <a:pPr algn="ctr"/>
                      <a:r>
                        <a:rPr lang="en-US" sz="1800" dirty="0"/>
                        <a:t>78</a:t>
                      </a:r>
                    </a:p>
                  </a:txBody>
                  <a:tcPr marL="91441" marR="91441" marT="45730" marB="45730" anchor="ctr"/>
                </a:tc>
                <a:extLst>
                  <a:ext uri="{0D108BD9-81ED-4DB2-BD59-A6C34878D82A}">
                    <a16:rowId xmlns:a16="http://schemas.microsoft.com/office/drawing/2014/main" val="10000"/>
                  </a:ext>
                </a:extLst>
              </a:tr>
              <a:tr h="563102">
                <a:tc>
                  <a:txBody>
                    <a:bodyPr/>
                    <a:lstStyle/>
                    <a:p>
                      <a:r>
                        <a:rPr lang="en-US" sz="1800" dirty="0"/>
                        <a:t>Sales (in $1,000)</a:t>
                      </a:r>
                    </a:p>
                  </a:txBody>
                  <a:tcPr marL="91441" marR="91441" marT="45730" marB="45730" anchor="ctr"/>
                </a:tc>
                <a:tc>
                  <a:txBody>
                    <a:bodyPr/>
                    <a:lstStyle/>
                    <a:p>
                      <a:pPr algn="ctr"/>
                      <a:r>
                        <a:rPr lang="en-US" sz="1800" dirty="0"/>
                        <a:t>47</a:t>
                      </a:r>
                    </a:p>
                  </a:txBody>
                  <a:tcPr marL="91441" marR="91441" marT="45730" marB="45730" anchor="ctr"/>
                </a:tc>
                <a:tc>
                  <a:txBody>
                    <a:bodyPr/>
                    <a:lstStyle/>
                    <a:p>
                      <a:pPr algn="ctr"/>
                      <a:r>
                        <a:rPr lang="en-US" sz="1800" dirty="0"/>
                        <a:t>53</a:t>
                      </a:r>
                    </a:p>
                  </a:txBody>
                  <a:tcPr marL="91441" marR="91441" marT="45730" marB="45730" anchor="ctr"/>
                </a:tc>
                <a:tc>
                  <a:txBody>
                    <a:bodyPr/>
                    <a:lstStyle/>
                    <a:p>
                      <a:pPr algn="ctr"/>
                      <a:r>
                        <a:rPr lang="en-US" sz="1800" dirty="0"/>
                        <a:t>58</a:t>
                      </a:r>
                    </a:p>
                  </a:txBody>
                  <a:tcPr marL="91441" marR="91441" marT="45730" marB="45730" anchor="ctr"/>
                </a:tc>
                <a:tc>
                  <a:txBody>
                    <a:bodyPr/>
                    <a:lstStyle/>
                    <a:p>
                      <a:pPr algn="ctr"/>
                      <a:r>
                        <a:rPr lang="en-US" sz="1800" dirty="0"/>
                        <a:t>86</a:t>
                      </a:r>
                    </a:p>
                  </a:txBody>
                  <a:tcPr marL="91441" marR="91441" marT="45730" marB="45730" anchor="ctr"/>
                </a:tc>
                <a:tc>
                  <a:txBody>
                    <a:bodyPr/>
                    <a:lstStyle/>
                    <a:p>
                      <a:pPr algn="ctr"/>
                      <a:r>
                        <a:rPr lang="en-US" sz="1800" dirty="0"/>
                        <a:t>62</a:t>
                      </a:r>
                    </a:p>
                  </a:txBody>
                  <a:tcPr marL="91441" marR="91441" marT="45730" marB="45730" anchor="ctr"/>
                </a:tc>
                <a:tc>
                  <a:txBody>
                    <a:bodyPr/>
                    <a:lstStyle/>
                    <a:p>
                      <a:pPr algn="ctr"/>
                      <a:r>
                        <a:rPr lang="en-US" sz="1800" dirty="0"/>
                        <a:t>68</a:t>
                      </a:r>
                    </a:p>
                  </a:txBody>
                  <a:tcPr marL="91441" marR="91441" marT="45730" marB="45730" anchor="ctr"/>
                </a:tc>
                <a:tc>
                  <a:txBody>
                    <a:bodyPr/>
                    <a:lstStyle/>
                    <a:p>
                      <a:pPr algn="ctr"/>
                      <a:r>
                        <a:rPr lang="en-US" sz="1800" dirty="0"/>
                        <a:t>60</a:t>
                      </a:r>
                    </a:p>
                  </a:txBody>
                  <a:tcPr marL="91441" marR="91441" marT="45730" marB="45730" anchor="ctr"/>
                </a:tc>
                <a:tc>
                  <a:txBody>
                    <a:bodyPr/>
                    <a:lstStyle/>
                    <a:p>
                      <a:pPr algn="ctr"/>
                      <a:r>
                        <a:rPr lang="en-US" sz="1800" dirty="0"/>
                        <a:t>91</a:t>
                      </a:r>
                    </a:p>
                  </a:txBody>
                  <a:tcPr marL="91441" marR="91441" marT="45730" marB="45730" anchor="ctr"/>
                </a:tc>
                <a:tc>
                  <a:txBody>
                    <a:bodyPr/>
                    <a:lstStyle/>
                    <a:p>
                      <a:pPr algn="ctr"/>
                      <a:r>
                        <a:rPr lang="en-US" sz="1800" dirty="0"/>
                        <a:t>51</a:t>
                      </a:r>
                    </a:p>
                  </a:txBody>
                  <a:tcPr marL="91441" marR="91441" marT="45730" marB="45730" anchor="ctr"/>
                </a:tc>
                <a:tc>
                  <a:txBody>
                    <a:bodyPr/>
                    <a:lstStyle/>
                    <a:p>
                      <a:pPr algn="ctr"/>
                      <a:r>
                        <a:rPr lang="en-US" sz="1800" dirty="0"/>
                        <a:t>84</a:t>
                      </a:r>
                    </a:p>
                  </a:txBody>
                  <a:tcPr marL="91441" marR="91441" marT="45730" marB="45730" anchor="ctr"/>
                </a:tc>
                <a:extLst>
                  <a:ext uri="{0D108BD9-81ED-4DB2-BD59-A6C34878D82A}">
                    <a16:rowId xmlns:a16="http://schemas.microsoft.com/office/drawing/2014/main" val="10001"/>
                  </a:ext>
                </a:extLst>
              </a:tr>
            </a:tbl>
          </a:graphicData>
        </a:graphic>
      </p:graphicFrame>
    </p:spTree>
  </p:cSld>
  <p:clrMapOvr>
    <a:masterClrMapping/>
  </p:clrMapOvr>
  <p:transition spd="slow">
    <p:split orient="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1652AF7F-2C2C-77A4-E8C5-9649313310B9}"/>
              </a:ext>
            </a:extLst>
          </p:cNvPr>
          <p:cNvSpPr>
            <a:spLocks noGrp="1"/>
          </p:cNvSpPr>
          <p:nvPr>
            <p:ph type="title"/>
          </p:nvPr>
        </p:nvSpPr>
        <p:spPr/>
        <p:txBody>
          <a:bodyPr/>
          <a:lstStyle/>
          <a:p>
            <a:r>
              <a:rPr lang="en-US" altLang="en-US">
                <a:latin typeface="Open Sans" pitchFamily="34" charset="0"/>
              </a:rPr>
              <a:t>References</a:t>
            </a:r>
          </a:p>
        </p:txBody>
      </p:sp>
      <p:sp>
        <p:nvSpPr>
          <p:cNvPr id="81923" name="Content Placeholder 2">
            <a:extLst>
              <a:ext uri="{FF2B5EF4-FFF2-40B4-BE49-F238E27FC236}">
                <a16:creationId xmlns:a16="http://schemas.microsoft.com/office/drawing/2014/main" id="{7116FA7F-AA4C-8DEC-FCB3-69BFCA5018BA}"/>
              </a:ext>
            </a:extLst>
          </p:cNvPr>
          <p:cNvSpPr>
            <a:spLocks noGrp="1"/>
          </p:cNvSpPr>
          <p:nvPr>
            <p:ph idx="1"/>
          </p:nvPr>
        </p:nvSpPr>
        <p:spPr/>
        <p:txBody>
          <a:bodyPr/>
          <a:lstStyle/>
          <a:p>
            <a:pPr>
              <a:buFont typeface="Calibri" panose="020F0502020204030204" pitchFamily="34" charset="0"/>
              <a:buAutoNum type="arabicPeriod"/>
            </a:pPr>
            <a:r>
              <a:rPr lang="en-US" altLang="en-US" sz="2000">
                <a:latin typeface="Open Sans" pitchFamily="34" charset="0"/>
              </a:rPr>
              <a:t>Bishop, C. M. (2006). Pattern recognition and machine learning. springer.</a:t>
            </a:r>
          </a:p>
          <a:p>
            <a:pPr>
              <a:buFont typeface="Calibri" panose="020F0502020204030204" pitchFamily="34" charset="0"/>
              <a:buAutoNum type="arabicPeriod"/>
            </a:pPr>
            <a:r>
              <a:rPr lang="en-US" altLang="en-US" sz="2000">
                <a:latin typeface="Open Sans" pitchFamily="34" charset="0"/>
              </a:rPr>
              <a:t>Harrington, P. (2012). Machine learning in action. Manning Publications Co.</a:t>
            </a:r>
          </a:p>
          <a:p>
            <a:pPr>
              <a:buFont typeface="Calibri" panose="020F0502020204030204" pitchFamily="34" charset="0"/>
              <a:buAutoNum type="arabicPeriod"/>
            </a:pPr>
            <a:r>
              <a:rPr lang="en-US" altLang="en-US" sz="2000">
                <a:latin typeface="Open Sans" pitchFamily="34" charset="0"/>
              </a:rPr>
              <a:t>Han, J., Kamber, M., &amp; Pei, Y. (2006). “Data Mining: Concepts and Technique”. Edisi 3. Morgan Kaufman. San Francisco</a:t>
            </a:r>
          </a:p>
          <a:p>
            <a:pPr>
              <a:buFont typeface="Calibri" panose="020F0502020204030204" pitchFamily="34" charset="0"/>
              <a:buAutoNum type="arabicPeriod"/>
            </a:pPr>
            <a:r>
              <a:rPr lang="en-US" altLang="en-US" sz="2000">
                <a:latin typeface="Open Sans" pitchFamily="34" charset="0"/>
              </a:rPr>
              <a:t>Tan, P.N., Steinbach, M., &amp; Kumar, V. (2006). “Introduction to Data Mining”. Addison-Wesley. Michigan</a:t>
            </a:r>
          </a:p>
          <a:p>
            <a:pPr>
              <a:buFont typeface="Calibri" panose="020F0502020204030204" pitchFamily="34" charset="0"/>
              <a:buAutoNum type="arabicPeriod"/>
            </a:pPr>
            <a:r>
              <a:rPr lang="en-US" altLang="en-US" sz="2000">
                <a:latin typeface="Open Sans" pitchFamily="34" charset="0"/>
              </a:rPr>
              <a:t>Witten, I. H., &amp; Frank, E. (2005). “Data Mining : Practical Machine Learning Tools and Techniques”. Second edition. Morgan Kaufmann. San Francisco</a:t>
            </a:r>
          </a:p>
          <a:p>
            <a:pPr>
              <a:buFont typeface="Calibri" panose="020F0502020204030204" pitchFamily="34" charset="0"/>
              <a:buAutoNum type="arabicPeriod"/>
            </a:pPr>
            <a:endParaRPr lang="en-US" altLang="en-US" sz="2000">
              <a:latin typeface="Open Sans" pitchFamily="34" charset="0"/>
            </a:endParaRPr>
          </a:p>
          <a:p>
            <a:endParaRPr lang="en-US" altLang="en-US" sz="2000">
              <a:latin typeface="Open Sans" pitchFamily="34" charset="0"/>
            </a:endParaRPr>
          </a:p>
        </p:txBody>
      </p:sp>
      <p:sp>
        <p:nvSpPr>
          <p:cNvPr id="4" name="Date Placeholder 3">
            <a:extLst>
              <a:ext uri="{FF2B5EF4-FFF2-40B4-BE49-F238E27FC236}">
                <a16:creationId xmlns:a16="http://schemas.microsoft.com/office/drawing/2014/main" id="{428D4475-4B7D-6862-D531-9071387ACE48}"/>
              </a:ext>
            </a:extLst>
          </p:cNvPr>
          <p:cNvSpPr>
            <a:spLocks noGrp="1"/>
          </p:cNvSpPr>
          <p:nvPr>
            <p:ph type="dt" sz="quarter" idx="10"/>
          </p:nvPr>
        </p:nvSpPr>
        <p:spPr/>
        <p:txBody>
          <a:bodyPr/>
          <a:lstStyle/>
          <a:p>
            <a:pPr>
              <a:defRPr/>
            </a:pPr>
            <a:fld id="{209FF9CA-EA99-4E2A-B5EE-2BA3711EFFB1}" type="datetime1">
              <a:rPr lang="en-US"/>
              <a:pPr>
                <a:defRPr/>
              </a:pPr>
              <a:t>6/12/2023</a:t>
            </a:fld>
            <a:endParaRPr lang="en-US"/>
          </a:p>
        </p:txBody>
      </p:sp>
      <p:sp>
        <p:nvSpPr>
          <p:cNvPr id="5" name="Footer Placeholder 4">
            <a:extLst>
              <a:ext uri="{FF2B5EF4-FFF2-40B4-BE49-F238E27FC236}">
                <a16:creationId xmlns:a16="http://schemas.microsoft.com/office/drawing/2014/main" id="{F8F49FC5-7DB8-836D-6838-1F5D21D5BD3D}"/>
              </a:ext>
            </a:extLst>
          </p:cNvPr>
          <p:cNvSpPr>
            <a:spLocks noGrp="1"/>
          </p:cNvSpPr>
          <p:nvPr>
            <p:ph type="ftr" sz="quarter" idx="11"/>
          </p:nvPr>
        </p:nvSpPr>
        <p:spPr/>
        <p:txBody>
          <a:bodyPr/>
          <a:lstStyle/>
          <a:p>
            <a:pPr>
              <a:defRPr/>
            </a:pPr>
            <a:r>
              <a:rPr lang="en-US"/>
              <a:t>Data Exploration and Pre-processing</a:t>
            </a:r>
          </a:p>
        </p:txBody>
      </p:sp>
      <p:sp>
        <p:nvSpPr>
          <p:cNvPr id="81926" name="Slide Number Placeholder 5">
            <a:extLst>
              <a:ext uri="{FF2B5EF4-FFF2-40B4-BE49-F238E27FC236}">
                <a16:creationId xmlns:a16="http://schemas.microsoft.com/office/drawing/2014/main" id="{AD3AE29B-BED2-C984-AA97-4FE7C27FF0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09072C2-E4DA-4B2F-8FA2-2F230936F5B0}" type="slidenum">
              <a:rPr lang="en-US" altLang="en-US" sz="1200" smtClean="0">
                <a:solidFill>
                  <a:srgbClr val="898989"/>
                </a:solidFill>
              </a:rPr>
              <a:pPr>
                <a:spcBef>
                  <a:spcPct val="0"/>
                </a:spcBef>
                <a:buFontTx/>
                <a:buNone/>
              </a:pPr>
              <a:t>57</a:t>
            </a:fld>
            <a:endParaRPr lang="en-US" altLang="en-US" sz="1200">
              <a:solidFill>
                <a:srgbClr val="898989"/>
              </a:solidFill>
            </a:endParaRPr>
          </a:p>
        </p:txBody>
      </p:sp>
    </p:spTree>
  </p:cSld>
  <p:clrMapOvr>
    <a:masterClrMapping/>
  </p:clrMapOvr>
  <p:transition spd="slow">
    <p:split orient="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3">
            <a:extLst>
              <a:ext uri="{FF2B5EF4-FFF2-40B4-BE49-F238E27FC236}">
                <a16:creationId xmlns:a16="http://schemas.microsoft.com/office/drawing/2014/main" id="{6DA2CF57-EC3F-289A-1F25-CF23A602EA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6C38E2-F304-42ED-8201-2D58D901A8C8}" type="slidenum">
              <a:rPr lang="en-US" altLang="en-US" sz="1200" smtClean="0">
                <a:solidFill>
                  <a:srgbClr val="898989"/>
                </a:solidFill>
              </a:rPr>
              <a:pPr>
                <a:spcBef>
                  <a:spcPct val="0"/>
                </a:spcBef>
                <a:buFontTx/>
                <a:buNone/>
              </a:pPr>
              <a:t>58</a:t>
            </a:fld>
            <a:endParaRPr lang="en-US" altLang="en-US" sz="1200">
              <a:solidFill>
                <a:srgbClr val="898989"/>
              </a:solidFill>
            </a:endParaRPr>
          </a:p>
        </p:txBody>
      </p:sp>
      <p:sp>
        <p:nvSpPr>
          <p:cNvPr id="7" name="Title 4">
            <a:extLst>
              <a:ext uri="{FF2B5EF4-FFF2-40B4-BE49-F238E27FC236}">
                <a16:creationId xmlns:a16="http://schemas.microsoft.com/office/drawing/2014/main" id="{A3AA4961-FADB-48BE-61BD-7A7D1713F1DD}"/>
              </a:ext>
            </a:extLst>
          </p:cNvPr>
          <p:cNvSpPr txBox="1">
            <a:spLocks/>
          </p:cNvSpPr>
          <p:nvPr/>
        </p:nvSpPr>
        <p:spPr bwMode="auto">
          <a:xfrm>
            <a:off x="914400" y="3048000"/>
            <a:ext cx="7772400" cy="1362075"/>
          </a:xfrm>
          <a:prstGeom prst="rect">
            <a:avLst/>
          </a:prstGeom>
          <a:noFill/>
          <a:ln>
            <a:noFill/>
          </a:ln>
        </p:spPr>
        <p:txBody>
          <a:bodyPr/>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r>
              <a:rPr lang="en-US" sz="6600" dirty="0"/>
              <a:t>Q&amp;A</a:t>
            </a:r>
          </a:p>
        </p:txBody>
      </p:sp>
      <p:sp>
        <p:nvSpPr>
          <p:cNvPr id="2" name="Date Placeholder 1">
            <a:extLst>
              <a:ext uri="{FF2B5EF4-FFF2-40B4-BE49-F238E27FC236}">
                <a16:creationId xmlns:a16="http://schemas.microsoft.com/office/drawing/2014/main" id="{0D57F593-C06C-B6DE-8415-0B86B1F9E3F0}"/>
              </a:ext>
            </a:extLst>
          </p:cNvPr>
          <p:cNvSpPr>
            <a:spLocks noGrp="1"/>
          </p:cNvSpPr>
          <p:nvPr>
            <p:ph type="dt" sz="quarter" idx="10"/>
          </p:nvPr>
        </p:nvSpPr>
        <p:spPr/>
        <p:txBody>
          <a:bodyPr/>
          <a:lstStyle/>
          <a:p>
            <a:pPr>
              <a:defRPr/>
            </a:pPr>
            <a:fld id="{C7DA3677-3674-494C-B589-300F521FF038}" type="datetime1">
              <a:rPr lang="en-US"/>
              <a:pPr>
                <a:defRPr/>
              </a:pPr>
              <a:t>6/12/2023</a:t>
            </a:fld>
            <a:endParaRPr lang="en-US"/>
          </a:p>
        </p:txBody>
      </p:sp>
      <p:sp>
        <p:nvSpPr>
          <p:cNvPr id="3" name="Footer Placeholder 2">
            <a:extLst>
              <a:ext uri="{FF2B5EF4-FFF2-40B4-BE49-F238E27FC236}">
                <a16:creationId xmlns:a16="http://schemas.microsoft.com/office/drawing/2014/main" id="{B1749853-9B44-077D-FE0A-1B48904AACA1}"/>
              </a:ext>
            </a:extLst>
          </p:cNvPr>
          <p:cNvSpPr>
            <a:spLocks noGrp="1"/>
          </p:cNvSpPr>
          <p:nvPr>
            <p:ph type="ftr" sz="quarter" idx="11"/>
          </p:nvPr>
        </p:nvSpPr>
        <p:spPr/>
        <p:txBody>
          <a:bodyPr/>
          <a:lstStyle/>
          <a:p>
            <a:pPr>
              <a:defRPr/>
            </a:pPr>
            <a:r>
              <a:rPr lang="en-US"/>
              <a:t>Data Exploration and Pre-processing</a:t>
            </a:r>
          </a:p>
        </p:txBody>
      </p:sp>
    </p:spTree>
  </p:cSld>
  <p:clrMapOvr>
    <a:masterClrMapping/>
  </p:clrMapOvr>
  <p:transition spd="slow">
    <p:split orient="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ubtitle 2">
            <a:extLst>
              <a:ext uri="{FF2B5EF4-FFF2-40B4-BE49-F238E27FC236}">
                <a16:creationId xmlns:a16="http://schemas.microsoft.com/office/drawing/2014/main" id="{1DD9748F-ED3A-8ABA-6859-E8783B41043B}"/>
              </a:ext>
            </a:extLst>
          </p:cNvPr>
          <p:cNvSpPr txBox="1">
            <a:spLocks noChangeArrowheads="1"/>
          </p:cNvSpPr>
          <p:nvPr/>
        </p:nvSpPr>
        <p:spPr bwMode="auto">
          <a:xfrm>
            <a:off x="2260600" y="4357688"/>
            <a:ext cx="64008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5" rIns="91428" bIns="45715"/>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endParaRPr lang="en-US" altLang="en-US" sz="6300" b="1">
              <a:solidFill>
                <a:schemeClr val="bg1"/>
              </a:solidFill>
              <a:latin typeface="Edwardian Script ITC" panose="030303020407070D0804" pitchFamily="66" charset="0"/>
              <a:ea typeface="MS PGothic" panose="020B0600070205080204" pitchFamily="34" charset="-128"/>
            </a:endParaRPr>
          </a:p>
        </p:txBody>
      </p:sp>
      <p:sp>
        <p:nvSpPr>
          <p:cNvPr id="2" name="Rectangle 1">
            <a:extLst>
              <a:ext uri="{FF2B5EF4-FFF2-40B4-BE49-F238E27FC236}">
                <a16:creationId xmlns:a16="http://schemas.microsoft.com/office/drawing/2014/main" id="{C6C74D90-FBFA-94CC-1973-6EC8E2589036}"/>
              </a:ext>
            </a:extLst>
          </p:cNvPr>
          <p:cNvSpPr/>
          <p:nvPr/>
        </p:nvSpPr>
        <p:spPr>
          <a:xfrm>
            <a:off x="3581400" y="3803690"/>
            <a:ext cx="3488455" cy="1107996"/>
          </a:xfrm>
          <a:prstGeom prst="rect">
            <a:avLst/>
          </a:prstGeom>
          <a:noFill/>
        </p:spPr>
        <p:txBody>
          <a:bodyPr wrap="none">
            <a:spAutoFit/>
          </a:bodyPr>
          <a:lstStyle/>
          <a:p>
            <a:pPr algn="ctr" eaLnBrk="1" hangingPunct="1">
              <a:buFont typeface="Arial" panose="020B0604020202020204" pitchFamily="34" charset="0"/>
              <a:buNone/>
              <a:defRPr/>
            </a:pPr>
            <a:r>
              <a:rPr lang="en-US" sz="6600" b="1" i="1" dirty="0">
                <a:ln w="10160">
                  <a:solidFill>
                    <a:schemeClr val="accent5"/>
                  </a:solidFill>
                  <a:prstDash val="solid"/>
                </a:ln>
                <a:solidFill>
                  <a:srgbClr val="FFFFFF"/>
                </a:solidFill>
                <a:effectLst>
                  <a:glow rad="63500">
                    <a:schemeClr val="accent5">
                      <a:satMod val="175000"/>
                      <a:alpha val="40000"/>
                    </a:schemeClr>
                  </a:glow>
                  <a:outerShdw blurRad="38100" dist="22860" dir="5400000" algn="tl" rotWithShape="0">
                    <a:srgbClr val="000000">
                      <a:alpha val="30000"/>
                    </a:srgbClr>
                  </a:outerShdw>
                </a:effectLst>
                <a:latin typeface="Monotype Corsiva" panose="03010101010201010101" pitchFamily="66" charset="0"/>
              </a:rPr>
              <a:t>Thank You</a:t>
            </a:r>
          </a:p>
        </p:txBody>
      </p:sp>
    </p:spTree>
  </p:cSld>
  <p:clrMapOvr>
    <a:masterClrMapping/>
  </p:clrMapOvr>
  <p:transition spd="slow">
    <p:split orient="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6455</TotalTime>
  <Words>2683</Words>
  <Application>Microsoft Office PowerPoint</Application>
  <PresentationFormat>On-screen Show (4:3)</PresentationFormat>
  <Paragraphs>518</Paragraphs>
  <Slides>59</Slides>
  <Notes>18</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4</vt:i4>
      </vt:variant>
      <vt:variant>
        <vt:lpstr>Slide Titles</vt:lpstr>
      </vt:variant>
      <vt:variant>
        <vt:i4>59</vt:i4>
      </vt:variant>
    </vt:vector>
  </HeadingPairs>
  <TitlesOfParts>
    <vt:vector size="72" baseType="lpstr">
      <vt:lpstr>Arial</vt:lpstr>
      <vt:lpstr>Calibri</vt:lpstr>
      <vt:lpstr>Edwardian Script ITC</vt:lpstr>
      <vt:lpstr>Lato</vt:lpstr>
      <vt:lpstr>Monotype Corsiva</vt:lpstr>
      <vt:lpstr>Open Sans</vt:lpstr>
      <vt:lpstr>Roboto</vt:lpstr>
      <vt:lpstr>Times New Roman</vt:lpstr>
      <vt:lpstr>Office Theme</vt:lpstr>
      <vt:lpstr>Document</vt:lpstr>
      <vt:lpstr>VISIO</vt:lpstr>
      <vt:lpstr>Visio</vt:lpstr>
      <vt:lpstr>Equation</vt:lpstr>
      <vt:lpstr>PowerPoint Presentation</vt:lpstr>
      <vt:lpstr>Learning Outcomes</vt:lpstr>
      <vt:lpstr>Topics</vt:lpstr>
      <vt:lpstr>What is Data?</vt:lpstr>
      <vt:lpstr>Data Types</vt:lpstr>
      <vt:lpstr>Types of Attributes</vt:lpstr>
      <vt:lpstr>Properties of Attribute Values</vt:lpstr>
      <vt:lpstr>Discrete and Continuous Attributes</vt:lpstr>
      <vt:lpstr>Types of Datasets</vt:lpstr>
      <vt:lpstr>Record Data </vt:lpstr>
      <vt:lpstr>Data Matrix </vt:lpstr>
      <vt:lpstr>Document Data</vt:lpstr>
      <vt:lpstr>Transaction Data</vt:lpstr>
      <vt:lpstr>Graph Data </vt:lpstr>
      <vt:lpstr>Chemical Data </vt:lpstr>
      <vt:lpstr>Ordered Data </vt:lpstr>
      <vt:lpstr>Spatio-Temporal Data</vt:lpstr>
      <vt:lpstr>Data Quality</vt:lpstr>
      <vt:lpstr>Data Quality</vt:lpstr>
      <vt:lpstr>Noise</vt:lpstr>
      <vt:lpstr>Outliers</vt:lpstr>
      <vt:lpstr>Missing Values</vt:lpstr>
      <vt:lpstr>Duplicate Data</vt:lpstr>
      <vt:lpstr>Data Pre-Processing</vt:lpstr>
      <vt:lpstr>Tasks in Data Pre-Processing</vt:lpstr>
      <vt:lpstr>PowerPoint Presentation</vt:lpstr>
      <vt:lpstr>PowerPoint Presentation</vt:lpstr>
      <vt:lpstr>PowerPoint Presentation</vt:lpstr>
      <vt:lpstr>Normalization</vt:lpstr>
      <vt:lpstr>Normalization (cont.)</vt:lpstr>
      <vt:lpstr>Normalization (cont.)</vt:lpstr>
      <vt:lpstr>PowerPoint Presentation</vt:lpstr>
      <vt:lpstr>PowerPoint Presentation</vt:lpstr>
      <vt:lpstr>Dimensionality Reduction</vt:lpstr>
      <vt:lpstr>Curse of Dimensionality</vt:lpstr>
      <vt:lpstr>Why Reduce Dimensions?</vt:lpstr>
      <vt:lpstr>Dimensionality Reduction</vt:lpstr>
      <vt:lpstr>Types of Dimensionality Reduction</vt:lpstr>
      <vt:lpstr>Principal Component Analysis (PCA)</vt:lpstr>
      <vt:lpstr>Principal Component Analysis (PCA)</vt:lpstr>
      <vt:lpstr>PCA (cont.)</vt:lpstr>
      <vt:lpstr>PCA (Example)</vt:lpstr>
      <vt:lpstr>PCA (Example) – cont.</vt:lpstr>
      <vt:lpstr>Linear Discriminant Analysis (LDA)</vt:lpstr>
      <vt:lpstr>Linear Discriminant Analysis (LDA)</vt:lpstr>
      <vt:lpstr>General Steps of LDA</vt:lpstr>
      <vt:lpstr>Detailed Steps of LDA</vt:lpstr>
      <vt:lpstr>Exercise</vt:lpstr>
      <vt:lpstr>Data Visualization</vt:lpstr>
      <vt:lpstr> Boxplot Analysis</vt:lpstr>
      <vt:lpstr>Histogram Analysis</vt:lpstr>
      <vt:lpstr>Quantile Plot</vt:lpstr>
      <vt:lpstr>Scatter plot</vt:lpstr>
      <vt:lpstr>Positively and Negatively Correlated Data</vt:lpstr>
      <vt:lpstr>Summary</vt:lpstr>
      <vt:lpstr>Exercise</vt:lpstr>
      <vt:lpstr>References</vt:lpstr>
      <vt:lpstr>PowerPoint Presentation</vt:lpstr>
      <vt:lpstr>PowerPoint Presentation</vt:lpstr>
    </vt:vector>
  </TitlesOfParts>
  <Company>Bina Nusantara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yy</dc:creator>
  <cp:lastModifiedBy>Amalia Zahra</cp:lastModifiedBy>
  <cp:revision>169</cp:revision>
  <dcterms:created xsi:type="dcterms:W3CDTF">2014-12-16T09:41:31Z</dcterms:created>
  <dcterms:modified xsi:type="dcterms:W3CDTF">2023-06-11T21:55:04Z</dcterms:modified>
</cp:coreProperties>
</file>