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sldIdLst>
    <p:sldId id="256" r:id="rId2"/>
    <p:sldId id="313" r:id="rId3"/>
    <p:sldId id="382" r:id="rId4"/>
    <p:sldId id="311" r:id="rId5"/>
    <p:sldId id="572" r:id="rId6"/>
    <p:sldId id="381" r:id="rId7"/>
    <p:sldId id="413" r:id="rId8"/>
    <p:sldId id="565" r:id="rId9"/>
    <p:sldId id="571" r:id="rId10"/>
    <p:sldId id="687" r:id="rId11"/>
    <p:sldId id="688" r:id="rId12"/>
    <p:sldId id="429" r:id="rId13"/>
    <p:sldId id="545" r:id="rId14"/>
    <p:sldId id="430" r:id="rId15"/>
    <p:sldId id="431" r:id="rId16"/>
    <p:sldId id="689" r:id="rId17"/>
    <p:sldId id="693" r:id="rId18"/>
    <p:sldId id="708" r:id="rId19"/>
    <p:sldId id="694" r:id="rId20"/>
    <p:sldId id="695" r:id="rId21"/>
    <p:sldId id="696" r:id="rId22"/>
    <p:sldId id="697" r:id="rId23"/>
    <p:sldId id="698" r:id="rId24"/>
    <p:sldId id="692" r:id="rId25"/>
    <p:sldId id="546" r:id="rId26"/>
    <p:sldId id="566" r:id="rId27"/>
    <p:sldId id="699" r:id="rId28"/>
    <p:sldId id="700" r:id="rId29"/>
    <p:sldId id="701" r:id="rId30"/>
    <p:sldId id="702" r:id="rId31"/>
    <p:sldId id="703" r:id="rId32"/>
    <p:sldId id="704" r:id="rId33"/>
    <p:sldId id="705" r:id="rId34"/>
    <p:sldId id="706" r:id="rId35"/>
    <p:sldId id="707" r:id="rId36"/>
    <p:sldId id="691" r:id="rId37"/>
    <p:sldId id="712" r:id="rId38"/>
    <p:sldId id="568" r:id="rId39"/>
    <p:sldId id="709" r:id="rId40"/>
    <p:sldId id="713" r:id="rId41"/>
    <p:sldId id="711" r:id="rId42"/>
    <p:sldId id="567" r:id="rId43"/>
    <p:sldId id="710" r:id="rId44"/>
    <p:sldId id="714" r:id="rId45"/>
    <p:sldId id="715" r:id="rId46"/>
    <p:sldId id="716" r:id="rId47"/>
    <p:sldId id="717" r:id="rId48"/>
    <p:sldId id="718" r:id="rId49"/>
    <p:sldId id="569" r:id="rId50"/>
    <p:sldId id="570" r:id="rId51"/>
    <p:sldId id="380" r:id="rId52"/>
    <p:sldId id="339" r:id="rId53"/>
    <p:sldId id="379" r:id="rId5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lia Zahra" initials="" lastIdx="1" clrIdx="0"/>
  <p:cmAuthor id="2" name="Amalia Zahra"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0B5B20-7DED-4A7B-A436-B74CE51CCDCC}" v="8" dt="2023-06-11T22:32:40.3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1648"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lia Zahra" userId="c987b9a3-8be1-4505-80f6-5a016d4ae3c7" providerId="ADAL" clId="{270B5B20-7DED-4A7B-A436-B74CE51CCDCC}"/>
    <pc:docChg chg="custSel modSld">
      <pc:chgData name="Amalia Zahra" userId="c987b9a3-8be1-4505-80f6-5a016d4ae3c7" providerId="ADAL" clId="{270B5B20-7DED-4A7B-A436-B74CE51CCDCC}" dt="2023-06-11T22:32:40.355" v="9" actId="27636"/>
      <pc:docMkLst>
        <pc:docMk/>
      </pc:docMkLst>
      <pc:sldChg chg="modSp mod">
        <pc:chgData name="Amalia Zahra" userId="c987b9a3-8be1-4505-80f6-5a016d4ae3c7" providerId="ADAL" clId="{270B5B20-7DED-4A7B-A436-B74CE51CCDCC}" dt="2023-06-11T22:32:30.543" v="1" actId="27636"/>
        <pc:sldMkLst>
          <pc:docMk/>
          <pc:sldMk cId="0" sldId="313"/>
        </pc:sldMkLst>
        <pc:spChg chg="mod">
          <ac:chgData name="Amalia Zahra" userId="c987b9a3-8be1-4505-80f6-5a016d4ae3c7" providerId="ADAL" clId="{270B5B20-7DED-4A7B-A436-B74CE51CCDCC}" dt="2023-06-11T22:32:30.543" v="1" actId="27636"/>
          <ac:spMkLst>
            <pc:docMk/>
            <pc:sldMk cId="0" sldId="313"/>
            <ac:spMk id="3" creationId="{5ED35FC7-F8EC-733D-E4E6-56BA4F25D396}"/>
          </ac:spMkLst>
        </pc:spChg>
      </pc:sldChg>
      <pc:sldChg chg="modSp">
        <pc:chgData name="Amalia Zahra" userId="c987b9a3-8be1-4505-80f6-5a016d4ae3c7" providerId="ADAL" clId="{270B5B20-7DED-4A7B-A436-B74CE51CCDCC}" dt="2023-06-11T22:32:40.355" v="9" actId="27636"/>
        <pc:sldMkLst>
          <pc:docMk/>
          <pc:sldMk cId="0" sldId="413"/>
        </pc:sldMkLst>
        <pc:spChg chg="mod">
          <ac:chgData name="Amalia Zahra" userId="c987b9a3-8be1-4505-80f6-5a016d4ae3c7" providerId="ADAL" clId="{270B5B20-7DED-4A7B-A436-B74CE51CCDCC}" dt="2023-06-11T22:32:40.355" v="9" actId="27636"/>
          <ac:spMkLst>
            <pc:docMk/>
            <pc:sldMk cId="0" sldId="413"/>
            <ac:spMk id="3" creationId="{BC71527B-1A16-3F72-187B-C90C551EF12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396F8F-4C74-8FFB-3F7A-CC5C7A71F4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F1229D04-AF09-FF4A-8737-0047D8E9169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E4A25A23-B75C-4A93-B1B8-0C5F48D37D2F}" type="datetimeFigureOut">
              <a:rPr lang="en-US"/>
              <a:pPr>
                <a:defRPr/>
              </a:pPr>
              <a:t>6/12/2023</a:t>
            </a:fld>
            <a:endParaRPr lang="en-US"/>
          </a:p>
        </p:txBody>
      </p:sp>
      <p:sp>
        <p:nvSpPr>
          <p:cNvPr id="4" name="Slide Image Placeholder 3">
            <a:extLst>
              <a:ext uri="{FF2B5EF4-FFF2-40B4-BE49-F238E27FC236}">
                <a16:creationId xmlns:a16="http://schemas.microsoft.com/office/drawing/2014/main" id="{5F4121C3-FB47-CC6F-DFC9-2BC705CEF7F4}"/>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1F6ABCD-E808-D17A-F93C-05FBFA62547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D2255A7-77E3-6353-894C-9436A19352B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C0544428-A9BF-B5EB-8963-2E7E3939F85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F5CB75ED-0E19-49BD-BA0C-8AEC2C87842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0CE1E43-5573-F26E-EAC6-15514F3C5D0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12948D11-D7F6-4623-9287-43DAEF6E9F4F}"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27651" name="Rectangle 2">
            <a:extLst>
              <a:ext uri="{FF2B5EF4-FFF2-40B4-BE49-F238E27FC236}">
                <a16:creationId xmlns:a16="http://schemas.microsoft.com/office/drawing/2014/main" id="{E764B86A-51E6-EA60-D3D9-329B9A17B92D}"/>
              </a:ext>
            </a:extLst>
          </p:cNvPr>
          <p:cNvSpPr>
            <a:spLocks noGrp="1" noRot="1" noChangeAspect="1" noChangeArrowheads="1" noTextEdit="1"/>
          </p:cNvSpPr>
          <p:nvPr>
            <p:ph type="sldImg"/>
          </p:nvPr>
        </p:nvSpPr>
        <p:spPr bwMode="auto">
          <a:xfrm>
            <a:off x="1128713" y="703263"/>
            <a:ext cx="4632325" cy="34734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a:extLst>
              <a:ext uri="{FF2B5EF4-FFF2-40B4-BE49-F238E27FC236}">
                <a16:creationId xmlns:a16="http://schemas.microsoft.com/office/drawing/2014/main" id="{FC3BCF19-0F6F-DBC3-65E0-C5AFA13C1717}"/>
              </a:ext>
            </a:extLst>
          </p:cNvPr>
          <p:cNvSpPr>
            <a:spLocks noGrp="1" noChangeArrowheads="1"/>
          </p:cNvSpPr>
          <p:nvPr>
            <p:ph type="body" idx="1"/>
          </p:nvPr>
        </p:nvSpPr>
        <p:spPr bwMode="auto">
          <a:xfrm>
            <a:off x="917575" y="4418013"/>
            <a:ext cx="5046663"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5888" tIns="42944" rIns="85888" bIns="42944"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13C2C115-63A6-93A8-C0AA-94CE26E4A9A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BFADC8C6-1383-461D-ADE9-DB52677D6BAA}"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D86CEF75-8C91-67ED-3AF1-EFE54A969391}"/>
              </a:ext>
            </a:extLst>
          </p:cNvPr>
          <p:cNvSpPr>
            <a:spLocks noGrp="1" noRot="1" noChangeAspect="1" noChangeArrowheads="1" noTextEdit="1"/>
          </p:cNvSpPr>
          <p:nvPr>
            <p:ph type="sldImg"/>
          </p:nvPr>
        </p:nvSpPr>
        <p:spPr bwMode="auto">
          <a:xfrm>
            <a:off x="1128713" y="703263"/>
            <a:ext cx="4632325" cy="34734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a:extLst>
              <a:ext uri="{FF2B5EF4-FFF2-40B4-BE49-F238E27FC236}">
                <a16:creationId xmlns:a16="http://schemas.microsoft.com/office/drawing/2014/main" id="{C97595C1-FE7C-1CFF-B2C5-6F636470E51C}"/>
              </a:ext>
            </a:extLst>
          </p:cNvPr>
          <p:cNvSpPr>
            <a:spLocks noGrp="1" noChangeArrowheads="1"/>
          </p:cNvSpPr>
          <p:nvPr>
            <p:ph type="body" idx="1"/>
          </p:nvPr>
        </p:nvSpPr>
        <p:spPr bwMode="auto">
          <a:xfrm>
            <a:off x="917575" y="4418013"/>
            <a:ext cx="5046663"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5888" tIns="42944" rIns="85888" bIns="42944"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B266F99A-DB7C-5042-2432-8D4A3BA8A54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975E6237-66AE-1529-1B91-EEC048C33F7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Keenam Activation Functions ini untuk NN yang shallow. Untuk deep learning, kita menggunakan activation function yang lain.</a:t>
            </a:r>
          </a:p>
        </p:txBody>
      </p:sp>
      <p:sp>
        <p:nvSpPr>
          <p:cNvPr id="44036" name="Slide Number Placeholder 3">
            <a:extLst>
              <a:ext uri="{FF2B5EF4-FFF2-40B4-BE49-F238E27FC236}">
                <a16:creationId xmlns:a16="http://schemas.microsoft.com/office/drawing/2014/main" id="{3A99AC16-D906-673B-B347-74E92228C32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57A267-99B9-4ABC-B961-5E26FA75AB9C}" type="slidenum">
              <a:rPr lang="en-US" altLang="en-US" smtClean="0"/>
              <a:pPr/>
              <a:t>34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78FE800-A955-42B9-748B-628C8A9D978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8B72BF10-5B75-4A74-B9A0-77C21E9D797C}"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99ECD2F9-4EA5-911F-23A5-AD04C284CDFF}"/>
              </a:ext>
            </a:extLst>
          </p:cNvPr>
          <p:cNvSpPr>
            <a:spLocks noGrp="1" noRot="1" noChangeAspect="1" noChangeArrowheads="1" noTextEdit="1"/>
          </p:cNvSpPr>
          <p:nvPr>
            <p:ph type="sldImg"/>
          </p:nvPr>
        </p:nvSpPr>
        <p:spPr bwMode="auto">
          <a:xfrm>
            <a:off x="1128713" y="703263"/>
            <a:ext cx="4632325" cy="34734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a:extLst>
              <a:ext uri="{FF2B5EF4-FFF2-40B4-BE49-F238E27FC236}">
                <a16:creationId xmlns:a16="http://schemas.microsoft.com/office/drawing/2014/main" id="{7314A5F4-45CF-2C81-FFB4-C9A5E84E1D29}"/>
              </a:ext>
            </a:extLst>
          </p:cNvPr>
          <p:cNvSpPr>
            <a:spLocks noGrp="1" noChangeArrowheads="1"/>
          </p:cNvSpPr>
          <p:nvPr>
            <p:ph type="body" idx="1"/>
          </p:nvPr>
        </p:nvSpPr>
        <p:spPr bwMode="auto">
          <a:xfrm>
            <a:off x="917575" y="4418013"/>
            <a:ext cx="5046663"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5888" tIns="42944" rIns="85888" bIns="42944"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D4D3AB3-4ADE-F15D-65AA-C8E0C51B635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CADE04D6-636C-41DC-A01E-EA5DF1BA12C9}"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B2A47EC2-FE35-1BCB-4CB0-4DEB413F2B21}"/>
              </a:ext>
            </a:extLst>
          </p:cNvPr>
          <p:cNvSpPr>
            <a:spLocks noGrp="1" noRot="1" noChangeAspect="1" noChangeArrowheads="1" noTextEdit="1"/>
          </p:cNvSpPr>
          <p:nvPr>
            <p:ph type="sldImg"/>
          </p:nvPr>
        </p:nvSpPr>
        <p:spPr bwMode="auto">
          <a:xfrm>
            <a:off x="1128713" y="703263"/>
            <a:ext cx="4632325" cy="34734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a:extLst>
              <a:ext uri="{FF2B5EF4-FFF2-40B4-BE49-F238E27FC236}">
                <a16:creationId xmlns:a16="http://schemas.microsoft.com/office/drawing/2014/main" id="{E2ADA220-74D2-34BB-FD4D-CEF0F68E0934}"/>
              </a:ext>
            </a:extLst>
          </p:cNvPr>
          <p:cNvSpPr>
            <a:spLocks noGrp="1" noChangeArrowheads="1"/>
          </p:cNvSpPr>
          <p:nvPr>
            <p:ph type="body" idx="1"/>
          </p:nvPr>
        </p:nvSpPr>
        <p:spPr bwMode="auto">
          <a:xfrm>
            <a:off x="917575" y="4418013"/>
            <a:ext cx="5046663"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5888" tIns="42944" rIns="85888" bIns="42944"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9C0B758-F8C0-4035-DA37-F796CAE36BA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8D4A7658-5ADB-4C06-AAF1-7DDB8F7AD313}"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84FBFC5D-A0C6-3577-F838-085822A271AF}"/>
              </a:ext>
            </a:extLst>
          </p:cNvPr>
          <p:cNvSpPr>
            <a:spLocks noGrp="1" noRot="1" noChangeAspect="1" noChangeArrowheads="1" noTextEdit="1"/>
          </p:cNvSpPr>
          <p:nvPr>
            <p:ph type="sldImg"/>
          </p:nvPr>
        </p:nvSpPr>
        <p:spPr bwMode="auto">
          <a:xfrm>
            <a:off x="1128713" y="703263"/>
            <a:ext cx="4632325" cy="34734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a:extLst>
              <a:ext uri="{FF2B5EF4-FFF2-40B4-BE49-F238E27FC236}">
                <a16:creationId xmlns:a16="http://schemas.microsoft.com/office/drawing/2014/main" id="{9CCAB634-738E-33F4-D965-CE90405396DC}"/>
              </a:ext>
            </a:extLst>
          </p:cNvPr>
          <p:cNvSpPr>
            <a:spLocks noGrp="1" noChangeArrowheads="1"/>
          </p:cNvSpPr>
          <p:nvPr>
            <p:ph type="body" idx="1"/>
          </p:nvPr>
        </p:nvSpPr>
        <p:spPr bwMode="auto">
          <a:xfrm>
            <a:off x="917575" y="4418013"/>
            <a:ext cx="5046663"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5888" tIns="42944" rIns="85888" bIns="42944"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A8331D37-351A-6AE7-DE24-9A813C9B4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34918037-6D9E-4015-973F-EE8D75953EBB}"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22550F81-94E2-1141-83BC-BC99C263E4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a:extLst>
              <a:ext uri="{FF2B5EF4-FFF2-40B4-BE49-F238E27FC236}">
                <a16:creationId xmlns:a16="http://schemas.microsoft.com/office/drawing/2014/main" id="{29788396-228E-D41E-002A-D31984362A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Demo in RapidMiner</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324006DD-2150-BD8B-2F3D-8EF4E0C78D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2807" r="1285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52600" y="2416175"/>
            <a:ext cx="7315200" cy="1470025"/>
          </a:xfrm>
        </p:spPr>
        <p:txBody>
          <a:bodyPr/>
          <a:lstStyle/>
          <a:p>
            <a:r>
              <a:rPr lang="en-US"/>
              <a:t>Click to edit Master title style</a:t>
            </a:r>
          </a:p>
        </p:txBody>
      </p:sp>
      <p:sp>
        <p:nvSpPr>
          <p:cNvPr id="3" name="Subtitle 2"/>
          <p:cNvSpPr>
            <a:spLocks noGrp="1"/>
          </p:cNvSpPr>
          <p:nvPr>
            <p:ph type="subTitle" idx="1"/>
          </p:nvPr>
        </p:nvSpPr>
        <p:spPr>
          <a:xfrm>
            <a:off x="1676400" y="41148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B5DCD9A5-7DB5-6925-31B3-E307214B8E66}"/>
              </a:ext>
            </a:extLst>
          </p:cNvPr>
          <p:cNvSpPr>
            <a:spLocks noGrp="1"/>
          </p:cNvSpPr>
          <p:nvPr>
            <p:ph type="dt" sz="half" idx="10"/>
          </p:nvPr>
        </p:nvSpPr>
        <p:spPr/>
        <p:txBody>
          <a:bodyPr/>
          <a:lstStyle>
            <a:lvl1pPr>
              <a:defRPr smtClean="0"/>
            </a:lvl1pPr>
          </a:lstStyle>
          <a:p>
            <a:pPr>
              <a:defRPr/>
            </a:pPr>
            <a:fld id="{817AECE5-F85F-43BA-8593-C5A73C82DA89}" type="datetime4">
              <a:rPr lang="en-US"/>
              <a:pPr>
                <a:defRPr/>
              </a:pPr>
              <a:t>June 12, 2023</a:t>
            </a:fld>
            <a:endParaRPr lang="en-US"/>
          </a:p>
        </p:txBody>
      </p:sp>
      <p:sp>
        <p:nvSpPr>
          <p:cNvPr id="6" name="Footer Placeholder 4">
            <a:extLst>
              <a:ext uri="{FF2B5EF4-FFF2-40B4-BE49-F238E27FC236}">
                <a16:creationId xmlns:a16="http://schemas.microsoft.com/office/drawing/2014/main" id="{8077C80A-B87F-0653-0E57-A09DFE8A980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718927A-B8D0-C84C-5B5D-E3896C76B681}"/>
              </a:ext>
            </a:extLst>
          </p:cNvPr>
          <p:cNvSpPr>
            <a:spLocks noGrp="1"/>
          </p:cNvSpPr>
          <p:nvPr>
            <p:ph type="sldNum" sz="quarter" idx="12"/>
          </p:nvPr>
        </p:nvSpPr>
        <p:spPr/>
        <p:txBody>
          <a:bodyPr/>
          <a:lstStyle>
            <a:lvl1pPr>
              <a:defRPr/>
            </a:lvl1pPr>
          </a:lstStyle>
          <a:p>
            <a:pPr>
              <a:defRPr/>
            </a:pPr>
            <a:fld id="{D0FBB2FC-A4D2-4116-97E7-CB8CA67A0BDE}" type="slidenum">
              <a:rPr lang="en-US" altLang="en-US"/>
              <a:pPr>
                <a:defRPr/>
              </a:pPr>
              <a:t>‹#›</a:t>
            </a:fld>
            <a:endParaRPr lang="en-US" altLang="en-US"/>
          </a:p>
        </p:txBody>
      </p:sp>
    </p:spTree>
    <p:extLst>
      <p:ext uri="{BB962C8B-B14F-4D97-AF65-F5344CB8AC3E}">
        <p14:creationId xmlns:p14="http://schemas.microsoft.com/office/powerpoint/2010/main" val="4275321306"/>
      </p:ext>
    </p:extLst>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7400" y="381000"/>
            <a:ext cx="6324600" cy="1143000"/>
          </a:xfrm>
        </p:spPr>
        <p:txBody>
          <a:bodyPr>
            <a:normAutofit/>
          </a:bodyPr>
          <a:lstStyle>
            <a:lvl1pPr>
              <a:defRPr sz="3600" b="1">
                <a:latin typeface="Open Sans"/>
              </a:defRPr>
            </a:lvl1pPr>
          </a:lstStyle>
          <a:p>
            <a:r>
              <a:rPr lang="en-US" dirty="0"/>
              <a:t>Click to edit Master title style</a:t>
            </a:r>
          </a:p>
        </p:txBody>
      </p:sp>
      <p:sp>
        <p:nvSpPr>
          <p:cNvPr id="3" name="Content Placeholder 2"/>
          <p:cNvSpPr>
            <a:spLocks noGrp="1"/>
          </p:cNvSpPr>
          <p:nvPr>
            <p:ph idx="1"/>
          </p:nvPr>
        </p:nvSpPr>
        <p:spPr>
          <a:xfrm>
            <a:off x="685800" y="1676400"/>
            <a:ext cx="8229600" cy="4953000"/>
          </a:xfrm>
        </p:spPr>
        <p:txBody>
          <a:bodyPr>
            <a:normAutofit/>
          </a:bodyPr>
          <a:lstStyle>
            <a:lvl1pPr>
              <a:defRPr sz="2800">
                <a:latin typeface="Open Sans"/>
              </a:defRPr>
            </a:lvl1pPr>
            <a:lvl2pPr>
              <a:defRPr sz="2800">
                <a:latin typeface="Open Sans"/>
              </a:defRPr>
            </a:lvl2pPr>
            <a:lvl3pPr>
              <a:defRPr sz="2800">
                <a:latin typeface="Open Sans"/>
              </a:defRPr>
            </a:lvl3pPr>
            <a:lvl4pPr>
              <a:defRPr sz="2800">
                <a:latin typeface="Open Sans"/>
              </a:defRPr>
            </a:lvl4pPr>
            <a:lvl5pPr>
              <a:defRPr sz="2800">
                <a:latin typeface="Open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AD26B37-2747-1072-6D4A-AD64CC0BAF9C}"/>
              </a:ext>
            </a:extLst>
          </p:cNvPr>
          <p:cNvSpPr>
            <a:spLocks noGrp="1"/>
          </p:cNvSpPr>
          <p:nvPr>
            <p:ph type="dt" sz="half" idx="10"/>
          </p:nvPr>
        </p:nvSpPr>
        <p:spPr>
          <a:xfrm>
            <a:off x="447675" y="6526213"/>
            <a:ext cx="2133600" cy="365125"/>
          </a:xfrm>
        </p:spPr>
        <p:txBody>
          <a:bodyPr/>
          <a:lstStyle>
            <a:lvl1pPr>
              <a:defRPr smtClean="0"/>
            </a:lvl1pPr>
          </a:lstStyle>
          <a:p>
            <a:pPr>
              <a:defRPr/>
            </a:pPr>
            <a:fld id="{886DAD36-55F7-4D44-85DB-F44899ADCC5A}" type="datetime4">
              <a:rPr lang="en-US"/>
              <a:pPr>
                <a:defRPr/>
              </a:pPr>
              <a:t>June 12, 2023</a:t>
            </a:fld>
            <a:endParaRPr lang="en-US"/>
          </a:p>
        </p:txBody>
      </p:sp>
      <p:sp>
        <p:nvSpPr>
          <p:cNvPr id="5" name="Footer Placeholder 4">
            <a:extLst>
              <a:ext uri="{FF2B5EF4-FFF2-40B4-BE49-F238E27FC236}">
                <a16:creationId xmlns:a16="http://schemas.microsoft.com/office/drawing/2014/main" id="{43631631-8D56-6C93-11AA-955CA9D61DA7}"/>
              </a:ext>
            </a:extLst>
          </p:cNvPr>
          <p:cNvSpPr>
            <a:spLocks noGrp="1"/>
          </p:cNvSpPr>
          <p:nvPr>
            <p:ph type="ftr" sz="quarter" idx="11"/>
          </p:nvPr>
        </p:nvSpPr>
        <p:spPr>
          <a:xfrm>
            <a:off x="3267075" y="6526213"/>
            <a:ext cx="2895600" cy="365125"/>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1379255-A103-BD61-36C3-645A99CEC24A}"/>
              </a:ext>
            </a:extLst>
          </p:cNvPr>
          <p:cNvSpPr>
            <a:spLocks noGrp="1"/>
          </p:cNvSpPr>
          <p:nvPr>
            <p:ph type="sldNum" sz="quarter" idx="12"/>
          </p:nvPr>
        </p:nvSpPr>
        <p:spPr>
          <a:xfrm>
            <a:off x="7000875" y="6526213"/>
            <a:ext cx="2133600" cy="365125"/>
          </a:xfrm>
        </p:spPr>
        <p:txBody>
          <a:bodyPr/>
          <a:lstStyle>
            <a:lvl1pPr>
              <a:defRPr/>
            </a:lvl1pPr>
          </a:lstStyle>
          <a:p>
            <a:pPr>
              <a:defRPr/>
            </a:pPr>
            <a:fld id="{964E2402-CB14-451A-B069-C3EA13D3C01B}" type="slidenum">
              <a:rPr lang="en-US" altLang="en-US"/>
              <a:pPr>
                <a:defRPr/>
              </a:pPr>
              <a:t>‹#›</a:t>
            </a:fld>
            <a:endParaRPr lang="en-US" altLang="en-US"/>
          </a:p>
        </p:txBody>
      </p:sp>
    </p:spTree>
    <p:extLst>
      <p:ext uri="{BB962C8B-B14F-4D97-AF65-F5344CB8AC3E}">
        <p14:creationId xmlns:p14="http://schemas.microsoft.com/office/powerpoint/2010/main" val="863113553"/>
      </p:ext>
    </p:extLst>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5C9638-DCA5-90A4-D57B-7E704E1608A7}"/>
              </a:ext>
            </a:extLst>
          </p:cNvPr>
          <p:cNvSpPr>
            <a:spLocks noGrp="1"/>
          </p:cNvSpPr>
          <p:nvPr>
            <p:ph type="dt" sz="half" idx="10"/>
          </p:nvPr>
        </p:nvSpPr>
        <p:spPr/>
        <p:txBody>
          <a:bodyPr/>
          <a:lstStyle>
            <a:lvl1pPr>
              <a:defRPr/>
            </a:lvl1pPr>
          </a:lstStyle>
          <a:p>
            <a:pPr>
              <a:defRPr/>
            </a:pPr>
            <a:fld id="{54A7FA93-FCDB-4041-986B-2E0C699082E1}" type="datetime4">
              <a:rPr lang="en-US"/>
              <a:pPr>
                <a:defRPr/>
              </a:pPr>
              <a:t>June 12, 2023</a:t>
            </a:fld>
            <a:endParaRPr lang="en-US"/>
          </a:p>
        </p:txBody>
      </p:sp>
      <p:sp>
        <p:nvSpPr>
          <p:cNvPr id="5" name="Footer Placeholder 4">
            <a:extLst>
              <a:ext uri="{FF2B5EF4-FFF2-40B4-BE49-F238E27FC236}">
                <a16:creationId xmlns:a16="http://schemas.microsoft.com/office/drawing/2014/main" id="{DD6ADDC7-E2D6-546A-1DA8-9ABDEC220B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ADFA1F4-6917-3D2A-A4B0-86E32C633B82}"/>
              </a:ext>
            </a:extLst>
          </p:cNvPr>
          <p:cNvSpPr>
            <a:spLocks noGrp="1"/>
          </p:cNvSpPr>
          <p:nvPr>
            <p:ph type="sldNum" sz="quarter" idx="12"/>
          </p:nvPr>
        </p:nvSpPr>
        <p:spPr/>
        <p:txBody>
          <a:bodyPr/>
          <a:lstStyle>
            <a:lvl1pPr>
              <a:defRPr/>
            </a:lvl1pPr>
          </a:lstStyle>
          <a:p>
            <a:pPr>
              <a:defRPr/>
            </a:pPr>
            <a:fld id="{65FC84B0-8994-4763-9DAC-3BFBD949319C}" type="slidenum">
              <a:rPr lang="en-US" altLang="en-US"/>
              <a:pPr>
                <a:defRPr/>
              </a:pPr>
              <a:t>‹#›</a:t>
            </a:fld>
            <a:endParaRPr lang="en-US" altLang="en-US"/>
          </a:p>
        </p:txBody>
      </p:sp>
    </p:spTree>
    <p:extLst>
      <p:ext uri="{BB962C8B-B14F-4D97-AF65-F5344CB8AC3E}">
        <p14:creationId xmlns:p14="http://schemas.microsoft.com/office/powerpoint/2010/main" val="3562836613"/>
      </p:ext>
    </p:extLst>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928E2A2-C57A-1EB8-8D7A-1EA5EC20D7A5}"/>
              </a:ext>
            </a:extLst>
          </p:cNvPr>
          <p:cNvSpPr>
            <a:spLocks noGrp="1"/>
          </p:cNvSpPr>
          <p:nvPr>
            <p:ph type="dt" sz="half" idx="10"/>
          </p:nvPr>
        </p:nvSpPr>
        <p:spPr/>
        <p:txBody>
          <a:bodyPr/>
          <a:lstStyle>
            <a:lvl1pPr>
              <a:defRPr/>
            </a:lvl1pPr>
          </a:lstStyle>
          <a:p>
            <a:pPr>
              <a:defRPr/>
            </a:pPr>
            <a:fld id="{1DD9F5F0-E557-49F5-8479-04F2F310BE5D}" type="datetime4">
              <a:rPr lang="en-US"/>
              <a:pPr>
                <a:defRPr/>
              </a:pPr>
              <a:t>June 12, 2023</a:t>
            </a:fld>
            <a:endParaRPr lang="en-US"/>
          </a:p>
        </p:txBody>
      </p:sp>
      <p:sp>
        <p:nvSpPr>
          <p:cNvPr id="6" name="Footer Placeholder 4">
            <a:extLst>
              <a:ext uri="{FF2B5EF4-FFF2-40B4-BE49-F238E27FC236}">
                <a16:creationId xmlns:a16="http://schemas.microsoft.com/office/drawing/2014/main" id="{CD68B27B-7F23-2D8D-E072-DCD8196321F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93BD6FF-9BDC-CE82-8F20-C603420C5E43}"/>
              </a:ext>
            </a:extLst>
          </p:cNvPr>
          <p:cNvSpPr>
            <a:spLocks noGrp="1"/>
          </p:cNvSpPr>
          <p:nvPr>
            <p:ph type="sldNum" sz="quarter" idx="12"/>
          </p:nvPr>
        </p:nvSpPr>
        <p:spPr/>
        <p:txBody>
          <a:bodyPr/>
          <a:lstStyle>
            <a:lvl1pPr>
              <a:defRPr/>
            </a:lvl1pPr>
          </a:lstStyle>
          <a:p>
            <a:pPr>
              <a:defRPr/>
            </a:pPr>
            <a:fld id="{FEB3FE78-21D3-4635-A707-FBB507B9BC3C}" type="slidenum">
              <a:rPr lang="en-US" altLang="en-US"/>
              <a:pPr>
                <a:defRPr/>
              </a:pPr>
              <a:t>‹#›</a:t>
            </a:fld>
            <a:endParaRPr lang="en-US" altLang="en-US"/>
          </a:p>
        </p:txBody>
      </p:sp>
    </p:spTree>
    <p:extLst>
      <p:ext uri="{BB962C8B-B14F-4D97-AF65-F5344CB8AC3E}">
        <p14:creationId xmlns:p14="http://schemas.microsoft.com/office/powerpoint/2010/main" val="1506313240"/>
      </p:ext>
    </p:extLst>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77DB0E9-F648-41D8-DA7A-8BAB1A013A04}"/>
              </a:ext>
            </a:extLst>
          </p:cNvPr>
          <p:cNvSpPr>
            <a:spLocks noGrp="1"/>
          </p:cNvSpPr>
          <p:nvPr>
            <p:ph type="dt" sz="half" idx="10"/>
          </p:nvPr>
        </p:nvSpPr>
        <p:spPr/>
        <p:txBody>
          <a:bodyPr/>
          <a:lstStyle>
            <a:lvl1pPr>
              <a:defRPr/>
            </a:lvl1pPr>
          </a:lstStyle>
          <a:p>
            <a:pPr>
              <a:defRPr/>
            </a:pPr>
            <a:fld id="{977F6012-F771-4472-8DFC-ED722D59BD8C}" type="datetime4">
              <a:rPr lang="en-US"/>
              <a:pPr>
                <a:defRPr/>
              </a:pPr>
              <a:t>June 12, 2023</a:t>
            </a:fld>
            <a:endParaRPr lang="en-US"/>
          </a:p>
        </p:txBody>
      </p:sp>
      <p:sp>
        <p:nvSpPr>
          <p:cNvPr id="8" name="Footer Placeholder 4">
            <a:extLst>
              <a:ext uri="{FF2B5EF4-FFF2-40B4-BE49-F238E27FC236}">
                <a16:creationId xmlns:a16="http://schemas.microsoft.com/office/drawing/2014/main" id="{61253608-9E5E-9FEB-716C-5E0632C37C0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A292D92-E579-0A46-C389-1EDF139701DC}"/>
              </a:ext>
            </a:extLst>
          </p:cNvPr>
          <p:cNvSpPr>
            <a:spLocks noGrp="1"/>
          </p:cNvSpPr>
          <p:nvPr>
            <p:ph type="sldNum" sz="quarter" idx="12"/>
          </p:nvPr>
        </p:nvSpPr>
        <p:spPr/>
        <p:txBody>
          <a:bodyPr/>
          <a:lstStyle>
            <a:lvl1pPr>
              <a:defRPr/>
            </a:lvl1pPr>
          </a:lstStyle>
          <a:p>
            <a:pPr>
              <a:defRPr/>
            </a:pPr>
            <a:fld id="{77583689-139D-46BE-9A70-285A51D58138}" type="slidenum">
              <a:rPr lang="en-US" altLang="en-US"/>
              <a:pPr>
                <a:defRPr/>
              </a:pPr>
              <a:t>‹#›</a:t>
            </a:fld>
            <a:endParaRPr lang="en-US" altLang="en-US"/>
          </a:p>
        </p:txBody>
      </p:sp>
    </p:spTree>
    <p:extLst>
      <p:ext uri="{BB962C8B-B14F-4D97-AF65-F5344CB8AC3E}">
        <p14:creationId xmlns:p14="http://schemas.microsoft.com/office/powerpoint/2010/main" val="636823970"/>
      </p:ext>
    </p:extLst>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29000" y="304800"/>
            <a:ext cx="7010400" cy="1143000"/>
          </a:xfrm>
        </p:spPr>
        <p:txBody>
          <a:bodyPr/>
          <a:lstStyle/>
          <a:p>
            <a:r>
              <a:rPr lang="en-US"/>
              <a:t>Click to edit Master title style</a:t>
            </a:r>
          </a:p>
        </p:txBody>
      </p:sp>
      <p:sp>
        <p:nvSpPr>
          <p:cNvPr id="3" name="Date Placeholder 3">
            <a:extLst>
              <a:ext uri="{FF2B5EF4-FFF2-40B4-BE49-F238E27FC236}">
                <a16:creationId xmlns:a16="http://schemas.microsoft.com/office/drawing/2014/main" id="{567C58AB-6C8F-3395-6CD2-0A20B10E7F4B}"/>
              </a:ext>
            </a:extLst>
          </p:cNvPr>
          <p:cNvSpPr>
            <a:spLocks noGrp="1"/>
          </p:cNvSpPr>
          <p:nvPr>
            <p:ph type="dt" sz="half" idx="10"/>
          </p:nvPr>
        </p:nvSpPr>
        <p:spPr/>
        <p:txBody>
          <a:bodyPr/>
          <a:lstStyle>
            <a:lvl1pPr>
              <a:defRPr/>
            </a:lvl1pPr>
          </a:lstStyle>
          <a:p>
            <a:pPr>
              <a:defRPr/>
            </a:pPr>
            <a:fld id="{4B9B449D-27C8-435B-80F7-CB3DEED2C7CD}" type="datetime4">
              <a:rPr lang="en-US"/>
              <a:pPr>
                <a:defRPr/>
              </a:pPr>
              <a:t>June 12, 2023</a:t>
            </a:fld>
            <a:endParaRPr lang="en-US"/>
          </a:p>
        </p:txBody>
      </p:sp>
      <p:sp>
        <p:nvSpPr>
          <p:cNvPr id="4" name="Footer Placeholder 4">
            <a:extLst>
              <a:ext uri="{FF2B5EF4-FFF2-40B4-BE49-F238E27FC236}">
                <a16:creationId xmlns:a16="http://schemas.microsoft.com/office/drawing/2014/main" id="{B9B9DD82-52C2-9646-4A6C-B142B38132D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49BD31B-9C9B-0A57-A09C-8A5B19371E6A}"/>
              </a:ext>
            </a:extLst>
          </p:cNvPr>
          <p:cNvSpPr>
            <a:spLocks noGrp="1"/>
          </p:cNvSpPr>
          <p:nvPr>
            <p:ph type="sldNum" sz="quarter" idx="12"/>
          </p:nvPr>
        </p:nvSpPr>
        <p:spPr/>
        <p:txBody>
          <a:bodyPr/>
          <a:lstStyle>
            <a:lvl1pPr>
              <a:defRPr/>
            </a:lvl1pPr>
          </a:lstStyle>
          <a:p>
            <a:pPr>
              <a:defRPr/>
            </a:pPr>
            <a:fld id="{3D660FE9-3419-4F83-95AA-54E56A5CD09A}" type="slidenum">
              <a:rPr lang="en-US" altLang="en-US"/>
              <a:pPr>
                <a:defRPr/>
              </a:pPr>
              <a:t>‹#›</a:t>
            </a:fld>
            <a:endParaRPr lang="en-US" altLang="en-US"/>
          </a:p>
        </p:txBody>
      </p:sp>
    </p:spTree>
    <p:extLst>
      <p:ext uri="{BB962C8B-B14F-4D97-AF65-F5344CB8AC3E}">
        <p14:creationId xmlns:p14="http://schemas.microsoft.com/office/powerpoint/2010/main" val="2037381594"/>
      </p:ext>
    </p:extLst>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9C5C46E-E677-CC5E-5E59-0DEA6A713C29}"/>
              </a:ext>
            </a:extLst>
          </p:cNvPr>
          <p:cNvSpPr>
            <a:spLocks noGrp="1"/>
          </p:cNvSpPr>
          <p:nvPr>
            <p:ph type="dt" sz="half" idx="10"/>
          </p:nvPr>
        </p:nvSpPr>
        <p:spPr/>
        <p:txBody>
          <a:bodyPr/>
          <a:lstStyle>
            <a:lvl1pPr>
              <a:defRPr/>
            </a:lvl1pPr>
          </a:lstStyle>
          <a:p>
            <a:pPr>
              <a:defRPr/>
            </a:pPr>
            <a:fld id="{5D59A2C8-71E3-442F-85C0-0884DD0BB0BB}" type="datetime4">
              <a:rPr lang="en-US"/>
              <a:pPr>
                <a:defRPr/>
              </a:pPr>
              <a:t>June 12, 2023</a:t>
            </a:fld>
            <a:endParaRPr lang="en-US"/>
          </a:p>
        </p:txBody>
      </p:sp>
      <p:sp>
        <p:nvSpPr>
          <p:cNvPr id="3" name="Footer Placeholder 4">
            <a:extLst>
              <a:ext uri="{FF2B5EF4-FFF2-40B4-BE49-F238E27FC236}">
                <a16:creationId xmlns:a16="http://schemas.microsoft.com/office/drawing/2014/main" id="{DC994EBA-34DB-A2D4-4C55-1A0F102DC58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9B91A49-94EB-531D-D76A-4243EEA59115}"/>
              </a:ext>
            </a:extLst>
          </p:cNvPr>
          <p:cNvSpPr>
            <a:spLocks noGrp="1"/>
          </p:cNvSpPr>
          <p:nvPr>
            <p:ph type="sldNum" sz="quarter" idx="12"/>
          </p:nvPr>
        </p:nvSpPr>
        <p:spPr/>
        <p:txBody>
          <a:bodyPr/>
          <a:lstStyle>
            <a:lvl1pPr>
              <a:defRPr/>
            </a:lvl1pPr>
          </a:lstStyle>
          <a:p>
            <a:pPr>
              <a:defRPr/>
            </a:pPr>
            <a:fld id="{C2042113-3436-487F-86FA-DC0C6C13A51E}" type="slidenum">
              <a:rPr lang="en-US" altLang="en-US"/>
              <a:pPr>
                <a:defRPr/>
              </a:pPr>
              <a:t>‹#›</a:t>
            </a:fld>
            <a:endParaRPr lang="en-US" altLang="en-US"/>
          </a:p>
        </p:txBody>
      </p:sp>
    </p:spTree>
    <p:extLst>
      <p:ext uri="{BB962C8B-B14F-4D97-AF65-F5344CB8AC3E}">
        <p14:creationId xmlns:p14="http://schemas.microsoft.com/office/powerpoint/2010/main" val="4090053821"/>
      </p:ext>
    </p:extLst>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21F3BFE-FCF1-B023-C1E4-080FE7E804B1}"/>
              </a:ext>
            </a:extLst>
          </p:cNvPr>
          <p:cNvSpPr>
            <a:spLocks noGrp="1"/>
          </p:cNvSpPr>
          <p:nvPr>
            <p:ph type="dt" sz="half" idx="10"/>
          </p:nvPr>
        </p:nvSpPr>
        <p:spPr/>
        <p:txBody>
          <a:bodyPr/>
          <a:lstStyle>
            <a:lvl1pPr>
              <a:defRPr/>
            </a:lvl1pPr>
          </a:lstStyle>
          <a:p>
            <a:pPr>
              <a:defRPr/>
            </a:pPr>
            <a:fld id="{637A28AB-AA84-4134-A906-35514549A3B9}" type="datetime4">
              <a:rPr lang="en-US"/>
              <a:pPr>
                <a:defRPr/>
              </a:pPr>
              <a:t>June 12, 2023</a:t>
            </a:fld>
            <a:endParaRPr lang="en-US"/>
          </a:p>
        </p:txBody>
      </p:sp>
      <p:sp>
        <p:nvSpPr>
          <p:cNvPr id="6" name="Footer Placeholder 4">
            <a:extLst>
              <a:ext uri="{FF2B5EF4-FFF2-40B4-BE49-F238E27FC236}">
                <a16:creationId xmlns:a16="http://schemas.microsoft.com/office/drawing/2014/main" id="{9880CF46-2D70-9FE3-1B50-8F911922E20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2495B47-2869-36FD-1670-55AD3C6700BD}"/>
              </a:ext>
            </a:extLst>
          </p:cNvPr>
          <p:cNvSpPr>
            <a:spLocks noGrp="1"/>
          </p:cNvSpPr>
          <p:nvPr>
            <p:ph type="sldNum" sz="quarter" idx="12"/>
          </p:nvPr>
        </p:nvSpPr>
        <p:spPr/>
        <p:txBody>
          <a:bodyPr/>
          <a:lstStyle>
            <a:lvl1pPr>
              <a:defRPr/>
            </a:lvl1pPr>
          </a:lstStyle>
          <a:p>
            <a:pPr>
              <a:defRPr/>
            </a:pPr>
            <a:fld id="{3FF031BD-EF49-46D9-83B7-5E9552A69292}" type="slidenum">
              <a:rPr lang="en-US" altLang="en-US"/>
              <a:pPr>
                <a:defRPr/>
              </a:pPr>
              <a:t>‹#›</a:t>
            </a:fld>
            <a:endParaRPr lang="en-US" altLang="en-US"/>
          </a:p>
        </p:txBody>
      </p:sp>
    </p:spTree>
    <p:extLst>
      <p:ext uri="{BB962C8B-B14F-4D97-AF65-F5344CB8AC3E}">
        <p14:creationId xmlns:p14="http://schemas.microsoft.com/office/powerpoint/2010/main" val="415445178"/>
      </p:ext>
    </p:extLst>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36210AC-70DA-7DEC-1CAD-4A93AACBE1C5}"/>
              </a:ext>
            </a:extLst>
          </p:cNvPr>
          <p:cNvSpPr>
            <a:spLocks noGrp="1"/>
          </p:cNvSpPr>
          <p:nvPr>
            <p:ph type="dt" sz="half" idx="10"/>
          </p:nvPr>
        </p:nvSpPr>
        <p:spPr/>
        <p:txBody>
          <a:bodyPr/>
          <a:lstStyle>
            <a:lvl1pPr>
              <a:defRPr/>
            </a:lvl1pPr>
          </a:lstStyle>
          <a:p>
            <a:pPr>
              <a:defRPr/>
            </a:pPr>
            <a:fld id="{2BDBF438-7604-40C5-9CCC-D9DEEA3E0754}" type="datetime4">
              <a:rPr lang="en-US"/>
              <a:pPr>
                <a:defRPr/>
              </a:pPr>
              <a:t>June 12, 2023</a:t>
            </a:fld>
            <a:endParaRPr lang="en-US"/>
          </a:p>
        </p:txBody>
      </p:sp>
      <p:sp>
        <p:nvSpPr>
          <p:cNvPr id="6" name="Footer Placeholder 4">
            <a:extLst>
              <a:ext uri="{FF2B5EF4-FFF2-40B4-BE49-F238E27FC236}">
                <a16:creationId xmlns:a16="http://schemas.microsoft.com/office/drawing/2014/main" id="{15BE2718-884E-605F-8F95-B0F17BB7D6C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89C8B99-A161-EF9D-AE86-407A0016C5AB}"/>
              </a:ext>
            </a:extLst>
          </p:cNvPr>
          <p:cNvSpPr>
            <a:spLocks noGrp="1"/>
          </p:cNvSpPr>
          <p:nvPr>
            <p:ph type="sldNum" sz="quarter" idx="12"/>
          </p:nvPr>
        </p:nvSpPr>
        <p:spPr/>
        <p:txBody>
          <a:bodyPr/>
          <a:lstStyle>
            <a:lvl1pPr>
              <a:defRPr/>
            </a:lvl1pPr>
          </a:lstStyle>
          <a:p>
            <a:pPr>
              <a:defRPr/>
            </a:pPr>
            <a:fld id="{20685FAA-2618-4488-A728-7DDE91852139}" type="slidenum">
              <a:rPr lang="en-US" altLang="en-US"/>
              <a:pPr>
                <a:defRPr/>
              </a:pPr>
              <a:t>‹#›</a:t>
            </a:fld>
            <a:endParaRPr lang="en-US" altLang="en-US"/>
          </a:p>
        </p:txBody>
      </p:sp>
    </p:spTree>
    <p:extLst>
      <p:ext uri="{BB962C8B-B14F-4D97-AF65-F5344CB8AC3E}">
        <p14:creationId xmlns:p14="http://schemas.microsoft.com/office/powerpoint/2010/main" val="1757899112"/>
      </p:ext>
    </p:extLst>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57E48-41EB-E8B0-F2DE-972B85710BD6}"/>
              </a:ext>
            </a:extLst>
          </p:cNvPr>
          <p:cNvSpPr>
            <a:spLocks noGrp="1"/>
          </p:cNvSpPr>
          <p:nvPr>
            <p:ph type="dt" sz="half" idx="10"/>
          </p:nvPr>
        </p:nvSpPr>
        <p:spPr/>
        <p:txBody>
          <a:bodyPr/>
          <a:lstStyle>
            <a:lvl1pPr>
              <a:defRPr/>
            </a:lvl1pPr>
          </a:lstStyle>
          <a:p>
            <a:pPr>
              <a:defRPr/>
            </a:pPr>
            <a:fld id="{81615B3F-E5F9-4BB4-9D84-0D153DADBBD1}" type="datetime4">
              <a:rPr lang="en-US"/>
              <a:pPr>
                <a:defRPr/>
              </a:pPr>
              <a:t>June 12, 2023</a:t>
            </a:fld>
            <a:endParaRPr lang="en-US"/>
          </a:p>
        </p:txBody>
      </p:sp>
      <p:sp>
        <p:nvSpPr>
          <p:cNvPr id="5" name="Footer Placeholder 4">
            <a:extLst>
              <a:ext uri="{FF2B5EF4-FFF2-40B4-BE49-F238E27FC236}">
                <a16:creationId xmlns:a16="http://schemas.microsoft.com/office/drawing/2014/main" id="{1559654C-5AFB-0549-A880-E4F99593BD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B13A9F0-F0A1-EBA8-62CC-ABDE78903B54}"/>
              </a:ext>
            </a:extLst>
          </p:cNvPr>
          <p:cNvSpPr>
            <a:spLocks noGrp="1"/>
          </p:cNvSpPr>
          <p:nvPr>
            <p:ph type="sldNum" sz="quarter" idx="12"/>
          </p:nvPr>
        </p:nvSpPr>
        <p:spPr/>
        <p:txBody>
          <a:bodyPr/>
          <a:lstStyle>
            <a:lvl1pPr>
              <a:defRPr/>
            </a:lvl1pPr>
          </a:lstStyle>
          <a:p>
            <a:pPr>
              <a:defRPr/>
            </a:pPr>
            <a:fld id="{B701C8B6-95EB-45EE-9134-83DC3B8526A8}" type="slidenum">
              <a:rPr lang="en-US" altLang="en-US"/>
              <a:pPr>
                <a:defRPr/>
              </a:pPr>
              <a:t>‹#›</a:t>
            </a:fld>
            <a:endParaRPr lang="en-US" altLang="en-US"/>
          </a:p>
        </p:txBody>
      </p:sp>
    </p:spTree>
    <p:extLst>
      <p:ext uri="{BB962C8B-B14F-4D97-AF65-F5344CB8AC3E}">
        <p14:creationId xmlns:p14="http://schemas.microsoft.com/office/powerpoint/2010/main" val="2217942554"/>
      </p:ext>
    </p:extLst>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1" descr="Background 03.jpg">
            <a:extLst>
              <a:ext uri="{FF2B5EF4-FFF2-40B4-BE49-F238E27FC236}">
                <a16:creationId xmlns:a16="http://schemas.microsoft.com/office/drawing/2014/main" id="{09A7FB60-69B9-0D10-CA4C-518D53319F8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descr="Background 02.jpg">
            <a:extLst>
              <a:ext uri="{FF2B5EF4-FFF2-40B4-BE49-F238E27FC236}">
                <a16:creationId xmlns:a16="http://schemas.microsoft.com/office/drawing/2014/main" id="{6BAA285E-9929-3778-5324-2806DF3AFEE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A464EF1A-27F3-1D9B-4D93-1CE09216180C}"/>
              </a:ext>
            </a:extLst>
          </p:cNvPr>
          <p:cNvSpPr/>
          <p:nvPr userDrawn="1"/>
        </p:nvSpPr>
        <p:spPr>
          <a:xfrm>
            <a:off x="2022475" y="3905250"/>
            <a:ext cx="3095625" cy="2987675"/>
          </a:xfrm>
          <a:prstGeom prst="rect">
            <a:avLst/>
          </a:prstGeom>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r>
              <a:rPr lang="en-US">
                <a:solidFill>
                  <a:srgbClr val="FFFFFF"/>
                </a:solidFill>
                <a:ea typeface="ＭＳ Ｐゴシック" charset="-128"/>
              </a:rPr>
              <a:t>IMAGE(S)</a:t>
            </a:r>
          </a:p>
        </p:txBody>
      </p:sp>
      <p:sp>
        <p:nvSpPr>
          <p:cNvPr id="7" name="Title 6">
            <a:extLst>
              <a:ext uri="{FF2B5EF4-FFF2-40B4-BE49-F238E27FC236}">
                <a16:creationId xmlns:a16="http://schemas.microsoft.com/office/drawing/2014/main" id="{CD68178E-08A6-C967-85C1-053DFBFB5863}"/>
              </a:ext>
            </a:extLst>
          </p:cNvPr>
          <p:cNvSpPr txBox="1">
            <a:spLocks/>
          </p:cNvSpPr>
          <p:nvPr userDrawn="1"/>
        </p:nvSpPr>
        <p:spPr bwMode="auto">
          <a:xfrm>
            <a:off x="5362575" y="3905250"/>
            <a:ext cx="5040313" cy="3097213"/>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r>
              <a:rPr lang="en-GB" sz="2000" baseline="30000">
                <a:latin typeface="Open Sans"/>
              </a:rPr>
              <a:t>Body Copy Open Sans Bold 20pt</a:t>
            </a:r>
          </a:p>
          <a:p>
            <a:pPr eaLnBrk="1" hangingPunct="1">
              <a:defRPr/>
            </a:pPr>
            <a:endParaRPr lang="en-GB" sz="2000" baseline="30000">
              <a:latin typeface="Open Sans"/>
            </a:endParaRPr>
          </a:p>
          <a:p>
            <a:pPr eaLnBrk="1" hangingPunct="1">
              <a:defRPr/>
            </a:pPr>
            <a:r>
              <a:rPr lang="en-GB" sz="2000" baseline="30000">
                <a:latin typeface="Open Sans"/>
              </a:rPr>
              <a:t>Estio molorrorem vernatia dis et ute volupta tiaecatis maion premodi ciderum, nulparuntio eicit doluptatem saerum voluptur soluptatur, ime cusa doloria delestibus, officia aute consequibus, accatur eriossit liquo est, ullest, inistiatem lit odician dandebitis modi destius a de natur, nobis dolut delitat mint, optatqu ossimet expliqu amendipsunt quo bernatio. </a:t>
            </a:r>
          </a:p>
          <a:p>
            <a:pPr eaLnBrk="1" hangingPunct="1">
              <a:defRPr/>
            </a:pPr>
            <a:endParaRPr lang="en-GB" sz="2000" baseline="30000">
              <a:latin typeface="Open Sans"/>
            </a:endParaRPr>
          </a:p>
          <a:p>
            <a:pPr eaLnBrk="1" hangingPunct="1">
              <a:defRPr/>
            </a:pPr>
            <a:r>
              <a:rPr lang="en-GB" sz="2000" baseline="30000">
                <a:latin typeface="Open Sans"/>
              </a:rPr>
              <a:t>Nestiorerio berum ratquatur, sit, temque nis di accabore volliqui resequo quam quam ratiatus quidendae providi corro officiusamus etureped utas doloria si nobit idesti tet exero volendunt aute cor apicae enimusae moluptio voluptus etusa in es et doloreperia.</a:t>
            </a:r>
          </a:p>
        </p:txBody>
      </p:sp>
      <p:sp>
        <p:nvSpPr>
          <p:cNvPr id="8" name="Title 6">
            <a:extLst>
              <a:ext uri="{FF2B5EF4-FFF2-40B4-BE49-F238E27FC236}">
                <a16:creationId xmlns:a16="http://schemas.microsoft.com/office/drawing/2014/main" id="{1C14D260-6C17-F36E-DDAA-E2D65AF1D9A8}"/>
              </a:ext>
            </a:extLst>
          </p:cNvPr>
          <p:cNvSpPr txBox="1">
            <a:spLocks/>
          </p:cNvSpPr>
          <p:nvPr userDrawn="1"/>
        </p:nvSpPr>
        <p:spPr bwMode="auto">
          <a:xfrm>
            <a:off x="1911350" y="2649538"/>
            <a:ext cx="6632575" cy="887412"/>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70000"/>
              </a:lnSpc>
              <a:defRPr/>
            </a:pPr>
            <a:r>
              <a:rPr lang="en-US" sz="3000" b="1">
                <a:solidFill>
                  <a:srgbClr val="0079B8"/>
                </a:solidFill>
                <a:latin typeface="Open Sans"/>
              </a:rPr>
              <a:t>Slide Title Open Sans Bold 30pt</a:t>
            </a:r>
            <a:br>
              <a:rPr lang="en-US" sz="3000" b="1">
                <a:solidFill>
                  <a:srgbClr val="0079B8"/>
                </a:solidFill>
                <a:latin typeface="Open Sans"/>
              </a:rPr>
            </a:br>
            <a:br>
              <a:rPr lang="en-US" sz="2200" b="1">
                <a:solidFill>
                  <a:srgbClr val="0079B8"/>
                </a:solidFill>
                <a:latin typeface="Open Sans"/>
              </a:rPr>
            </a:br>
            <a:r>
              <a:rPr lang="en-US" sz="2200" b="1">
                <a:solidFill>
                  <a:srgbClr val="0079B8"/>
                </a:solidFill>
                <a:latin typeface="Open Sans"/>
              </a:rPr>
              <a:t>Subtitle Open Sans Bold 22pt</a:t>
            </a: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CD161B84-F3D0-E183-FBC9-54FCCF9685E8}"/>
              </a:ext>
            </a:extLst>
          </p:cNvPr>
          <p:cNvSpPr>
            <a:spLocks noGrp="1"/>
          </p:cNvSpPr>
          <p:nvPr>
            <p:ph type="dt" sz="half" idx="10"/>
          </p:nvPr>
        </p:nvSpPr>
        <p:spPr/>
        <p:txBody>
          <a:bodyPr/>
          <a:lstStyle>
            <a:lvl1pPr>
              <a:defRPr smtClean="0"/>
            </a:lvl1pPr>
          </a:lstStyle>
          <a:p>
            <a:pPr>
              <a:defRPr/>
            </a:pPr>
            <a:fld id="{929C390B-BDC4-4D24-B813-F685563C4150}" type="datetime4">
              <a:rPr lang="en-US"/>
              <a:pPr>
                <a:defRPr/>
              </a:pPr>
              <a:t>June 12, 2023</a:t>
            </a:fld>
            <a:endParaRPr lang="en-US"/>
          </a:p>
        </p:txBody>
      </p:sp>
      <p:sp>
        <p:nvSpPr>
          <p:cNvPr id="10" name="Footer Placeholder 4">
            <a:extLst>
              <a:ext uri="{FF2B5EF4-FFF2-40B4-BE49-F238E27FC236}">
                <a16:creationId xmlns:a16="http://schemas.microsoft.com/office/drawing/2014/main" id="{93F08CF4-218A-295A-811C-0E0EF2AC30C9}"/>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49B01017-985A-C510-C09D-3B1C4959B66F}"/>
              </a:ext>
            </a:extLst>
          </p:cNvPr>
          <p:cNvSpPr>
            <a:spLocks noGrp="1"/>
          </p:cNvSpPr>
          <p:nvPr>
            <p:ph type="sldNum" sz="quarter" idx="12"/>
          </p:nvPr>
        </p:nvSpPr>
        <p:spPr/>
        <p:txBody>
          <a:bodyPr/>
          <a:lstStyle>
            <a:lvl1pPr>
              <a:defRPr/>
            </a:lvl1pPr>
          </a:lstStyle>
          <a:p>
            <a:pPr>
              <a:defRPr/>
            </a:pPr>
            <a:fld id="{9BD95E9A-4D0D-449F-A177-3653CA856B8A}" type="slidenum">
              <a:rPr lang="en-US" altLang="en-US"/>
              <a:pPr>
                <a:defRPr/>
              </a:pPr>
              <a:t>‹#›</a:t>
            </a:fld>
            <a:endParaRPr lang="en-US" altLang="en-US"/>
          </a:p>
        </p:txBody>
      </p:sp>
    </p:spTree>
    <p:extLst>
      <p:ext uri="{BB962C8B-B14F-4D97-AF65-F5344CB8AC3E}">
        <p14:creationId xmlns:p14="http://schemas.microsoft.com/office/powerpoint/2010/main" val="1491121961"/>
      </p:ext>
    </p:extLst>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1" descr="Background 03.jpg">
            <a:extLst>
              <a:ext uri="{FF2B5EF4-FFF2-40B4-BE49-F238E27FC236}">
                <a16:creationId xmlns:a16="http://schemas.microsoft.com/office/drawing/2014/main" id="{C642F351-39AA-7AC7-DD64-CC9EE3319EC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6B8F1393-CED6-6C46-84F3-0670B679E55E}"/>
              </a:ext>
            </a:extLst>
          </p:cNvPr>
          <p:cNvSpPr>
            <a:spLocks noGrp="1"/>
          </p:cNvSpPr>
          <p:nvPr>
            <p:ph type="dt" sz="half" idx="10"/>
          </p:nvPr>
        </p:nvSpPr>
        <p:spPr/>
        <p:txBody>
          <a:bodyPr/>
          <a:lstStyle>
            <a:lvl1pPr>
              <a:defRPr smtClean="0"/>
            </a:lvl1pPr>
          </a:lstStyle>
          <a:p>
            <a:pPr>
              <a:defRPr/>
            </a:pPr>
            <a:fld id="{275410F7-AF90-410F-AC94-6CE9A8FDE2EA}" type="datetime4">
              <a:rPr lang="en-US"/>
              <a:pPr>
                <a:defRPr/>
              </a:pPr>
              <a:t>June 12, 2023</a:t>
            </a:fld>
            <a:endParaRPr lang="en-US"/>
          </a:p>
        </p:txBody>
      </p:sp>
      <p:sp>
        <p:nvSpPr>
          <p:cNvPr id="5" name="Footer Placeholder 3">
            <a:extLst>
              <a:ext uri="{FF2B5EF4-FFF2-40B4-BE49-F238E27FC236}">
                <a16:creationId xmlns:a16="http://schemas.microsoft.com/office/drawing/2014/main" id="{5161B437-4111-4FE9-5868-CFE3430037F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DC308D41-C28A-F34B-4E56-A91D69692E46}"/>
              </a:ext>
            </a:extLst>
          </p:cNvPr>
          <p:cNvSpPr>
            <a:spLocks noGrp="1"/>
          </p:cNvSpPr>
          <p:nvPr>
            <p:ph type="sldNum" sz="quarter" idx="12"/>
          </p:nvPr>
        </p:nvSpPr>
        <p:spPr/>
        <p:txBody>
          <a:bodyPr/>
          <a:lstStyle>
            <a:lvl1pPr>
              <a:defRPr/>
            </a:lvl1pPr>
          </a:lstStyle>
          <a:p>
            <a:pPr>
              <a:defRPr/>
            </a:pPr>
            <a:fld id="{815ECA83-7963-4DAC-AEE1-6D63ACD485F2}" type="slidenum">
              <a:rPr lang="en-US" altLang="en-US"/>
              <a:pPr>
                <a:defRPr/>
              </a:pPr>
              <a:t>‹#›</a:t>
            </a:fld>
            <a:endParaRPr lang="en-US" altLang="en-US"/>
          </a:p>
        </p:txBody>
      </p:sp>
    </p:spTree>
    <p:extLst>
      <p:ext uri="{BB962C8B-B14F-4D97-AF65-F5344CB8AC3E}">
        <p14:creationId xmlns:p14="http://schemas.microsoft.com/office/powerpoint/2010/main" val="2921981841"/>
      </p:ext>
    </p:extLst>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a:extLst>
              <a:ext uri="{FF2B5EF4-FFF2-40B4-BE49-F238E27FC236}">
                <a16:creationId xmlns:a16="http://schemas.microsoft.com/office/drawing/2014/main" id="{6B9C7D30-DA6F-6FAD-50C8-98DAA6EF273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5919788"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a:extLst>
              <a:ext uri="{FF2B5EF4-FFF2-40B4-BE49-F238E27FC236}">
                <a16:creationId xmlns:a16="http://schemas.microsoft.com/office/drawing/2014/main" id="{ACE7E97A-728A-CE5D-4978-FA6933CED8C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7F50C6EF-EA32-6391-24CA-1920344AD63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357B659-CC5D-0198-4CDE-577EF14BB43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448CCF59-5325-4D01-8784-6B41C34A4564}" type="datetime4">
              <a:rPr lang="en-US"/>
              <a:pPr>
                <a:defRPr/>
              </a:pPr>
              <a:t>June 12, 2023</a:t>
            </a:fld>
            <a:endParaRPr lang="en-US"/>
          </a:p>
        </p:txBody>
      </p:sp>
      <p:sp>
        <p:nvSpPr>
          <p:cNvPr id="5" name="Footer Placeholder 4">
            <a:extLst>
              <a:ext uri="{FF2B5EF4-FFF2-40B4-BE49-F238E27FC236}">
                <a16:creationId xmlns:a16="http://schemas.microsoft.com/office/drawing/2014/main" id="{B0F6B9FB-8151-D432-E8C8-753979892ADD}"/>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D81C2A9E-FDE4-B345-1E1C-2D5E77A2905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CE93870D-7F88-4FBE-852B-0A97C7F39E5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93" r:id="rId1"/>
    <p:sldLayoutId id="214748399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5" r:id="rId11"/>
    <p:sldLayoutId id="2147483996" r:id="rId12"/>
  </p:sldLayoutIdLst>
  <p:transition spd="slow">
    <p:split orient="vert"/>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7"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3.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youtube.com/watch?v=eHmFexrOTUg&amp;list=PLhdyHWHl4RG_7KBV5sx3q_bS39bJX685o"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D0785B-355D-8424-247E-E64B9B24EECC}"/>
              </a:ext>
            </a:extLst>
          </p:cNvPr>
          <p:cNvSpPr txBox="1">
            <a:spLocks/>
          </p:cNvSpPr>
          <p:nvPr/>
        </p:nvSpPr>
        <p:spPr bwMode="auto">
          <a:xfrm>
            <a:off x="1676400" y="2300288"/>
            <a:ext cx="7467600" cy="747712"/>
          </a:xfrm>
          <a:prstGeom prst="rect">
            <a:avLst/>
          </a:prstGeom>
          <a:noFill/>
          <a:ln w="9525">
            <a:noFill/>
            <a:miter lim="800000"/>
            <a:headEnd/>
            <a:tailEnd/>
          </a:ln>
        </p:spPr>
        <p:txBody>
          <a:bodyPr anchor="ctr"/>
          <a:lstStyle/>
          <a:p>
            <a:pPr algn="ctr">
              <a:defRPr/>
            </a:pPr>
            <a:r>
              <a:rPr lang="en-US" sz="2500" b="1" dirty="0">
                <a:solidFill>
                  <a:schemeClr val="bg1"/>
                </a:solidFill>
                <a:latin typeface="+mj-lt"/>
                <a:ea typeface="+mj-ea"/>
                <a:cs typeface="+mj-cs"/>
              </a:rPr>
              <a:t>Course  : COMP8043041 – Machine Learning</a:t>
            </a:r>
          </a:p>
          <a:p>
            <a:pPr algn="ctr">
              <a:defRPr/>
            </a:pPr>
            <a:r>
              <a:rPr lang="en-US" sz="2500" b="1" dirty="0">
                <a:solidFill>
                  <a:schemeClr val="bg1"/>
                </a:solidFill>
                <a:latin typeface="+mj-lt"/>
                <a:ea typeface="+mj-ea"/>
                <a:cs typeface="+mj-cs"/>
              </a:rPr>
              <a:t>Period : June 2023</a:t>
            </a:r>
            <a:endParaRPr lang="id-ID" sz="2500" b="1" dirty="0">
              <a:solidFill>
                <a:schemeClr val="bg1"/>
              </a:solidFill>
              <a:latin typeface="+mj-lt"/>
              <a:ea typeface="+mj-ea"/>
              <a:cs typeface="+mj-cs"/>
            </a:endParaRPr>
          </a:p>
        </p:txBody>
      </p:sp>
      <p:sp>
        <p:nvSpPr>
          <p:cNvPr id="5" name="Title 1">
            <a:extLst>
              <a:ext uri="{FF2B5EF4-FFF2-40B4-BE49-F238E27FC236}">
                <a16:creationId xmlns:a16="http://schemas.microsoft.com/office/drawing/2014/main" id="{97D507EF-20C8-2611-5E3A-992351BCDBDB}"/>
              </a:ext>
            </a:extLst>
          </p:cNvPr>
          <p:cNvSpPr txBox="1">
            <a:spLocks/>
          </p:cNvSpPr>
          <p:nvPr/>
        </p:nvSpPr>
        <p:spPr bwMode="auto">
          <a:xfrm>
            <a:off x="1676400" y="4067175"/>
            <a:ext cx="7467600" cy="1204913"/>
          </a:xfrm>
          <a:prstGeom prst="rect">
            <a:avLst/>
          </a:prstGeom>
          <a:noFill/>
          <a:ln w="9525">
            <a:noFill/>
            <a:miter lim="800000"/>
            <a:headEnd/>
            <a:tailEnd/>
          </a:ln>
        </p:spPr>
        <p:txBody>
          <a:bodyPr anchor="ctr"/>
          <a:lstStyle/>
          <a:p>
            <a:pPr algn="ctr">
              <a:defRPr/>
            </a:pPr>
            <a:r>
              <a:rPr lang="en-US" sz="3600" b="1" dirty="0">
                <a:solidFill>
                  <a:schemeClr val="bg1"/>
                </a:solidFill>
                <a:latin typeface="+mj-lt"/>
                <a:ea typeface="+mj-ea"/>
                <a:cs typeface="+mj-cs"/>
              </a:rPr>
              <a:t>Artificial Neural Network (ANN)</a:t>
            </a:r>
          </a:p>
          <a:p>
            <a:pPr algn="ctr">
              <a:defRPr/>
            </a:pPr>
            <a:r>
              <a:rPr lang="en-US" sz="3600" b="1" dirty="0">
                <a:solidFill>
                  <a:schemeClr val="bg1"/>
                </a:solidFill>
                <a:latin typeface="+mj-lt"/>
                <a:ea typeface="+mj-ea"/>
                <a:cs typeface="+mj-cs"/>
              </a:rPr>
              <a:t>Session 06</a:t>
            </a:r>
          </a:p>
        </p:txBody>
      </p:sp>
      <p:sp>
        <p:nvSpPr>
          <p:cNvPr id="6" name="Title 1">
            <a:extLst>
              <a:ext uri="{FF2B5EF4-FFF2-40B4-BE49-F238E27FC236}">
                <a16:creationId xmlns:a16="http://schemas.microsoft.com/office/drawing/2014/main" id="{B1CE5B57-352E-F259-1B81-FC3507A4EB1D}"/>
              </a:ext>
            </a:extLst>
          </p:cNvPr>
          <p:cNvSpPr txBox="1">
            <a:spLocks/>
          </p:cNvSpPr>
          <p:nvPr/>
        </p:nvSpPr>
        <p:spPr bwMode="auto">
          <a:xfrm>
            <a:off x="1676400" y="6324600"/>
            <a:ext cx="7467600" cy="533400"/>
          </a:xfrm>
          <a:prstGeom prst="rect">
            <a:avLst/>
          </a:prstGeom>
          <a:noFill/>
          <a:ln w="9525">
            <a:noFill/>
            <a:miter lim="800000"/>
            <a:headEnd/>
            <a:tailEnd/>
          </a:ln>
        </p:spPr>
        <p:txBody>
          <a:bodyPr anchor="ctr"/>
          <a:lstStyle/>
          <a:p>
            <a:pPr algn="ctr">
              <a:defRPr/>
            </a:pPr>
            <a:r>
              <a:rPr lang="en-US" sz="2200" b="1" dirty="0">
                <a:solidFill>
                  <a:schemeClr val="bg1"/>
                </a:solidFill>
                <a:latin typeface="+mj-lt"/>
                <a:ea typeface="+mj-ea"/>
                <a:cs typeface="+mj-cs"/>
              </a:rPr>
              <a:t>KDS – Amalia Zahra, S.Kom., Ph.D.</a:t>
            </a:r>
            <a:endParaRPr lang="id-ID" sz="2200" b="1" dirty="0">
              <a:solidFill>
                <a:schemeClr val="bg1"/>
              </a:solidFill>
              <a:latin typeface="+mj-lt"/>
              <a:ea typeface="+mj-ea"/>
              <a:cs typeface="+mj-cs"/>
            </a:endParaRPr>
          </a:p>
        </p:txBody>
      </p:sp>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F98F5A5-CAAB-DC97-76C0-6AB363807132}"/>
              </a:ext>
            </a:extLst>
          </p:cNvPr>
          <p:cNvSpPr>
            <a:spLocks noGrp="1"/>
          </p:cNvSpPr>
          <p:nvPr>
            <p:ph type="title"/>
          </p:nvPr>
        </p:nvSpPr>
        <p:spPr/>
        <p:txBody>
          <a:bodyPr/>
          <a:lstStyle/>
          <a:p>
            <a:r>
              <a:rPr lang="en-US" altLang="en-US">
                <a:latin typeface="Open Sans" panose="020B0606030504020204" pitchFamily="34" charset="0"/>
              </a:rPr>
              <a:t>Learning Outcomes</a:t>
            </a:r>
          </a:p>
        </p:txBody>
      </p:sp>
      <p:sp>
        <p:nvSpPr>
          <p:cNvPr id="3" name="Content Placeholder 2">
            <a:extLst>
              <a:ext uri="{FF2B5EF4-FFF2-40B4-BE49-F238E27FC236}">
                <a16:creationId xmlns:a16="http://schemas.microsoft.com/office/drawing/2014/main" id="{5ED35FC7-F8EC-733D-E4E6-56BA4F25D396}"/>
              </a:ext>
            </a:extLst>
          </p:cNvPr>
          <p:cNvSpPr>
            <a:spLocks noGrp="1"/>
          </p:cNvSpPr>
          <p:nvPr>
            <p:ph idx="1"/>
          </p:nvPr>
        </p:nvSpPr>
        <p:spPr/>
        <p:txBody>
          <a:bodyPr>
            <a:normAutofit/>
          </a:bodyPr>
          <a:lstStyle/>
          <a:p>
            <a:pPr marL="0" indent="0">
              <a:buFont typeface="Arial" panose="020B0604020202020204" pitchFamily="34" charset="0"/>
              <a:buNone/>
              <a:defRPr/>
            </a:pPr>
            <a:r>
              <a:rPr lang="en-US" sz="2500" dirty="0"/>
              <a:t>After the completion of this session, students are expected to achieve the following learning outcomes:</a:t>
            </a:r>
          </a:p>
          <a:p>
            <a:pPr>
              <a:defRPr/>
            </a:pPr>
            <a:r>
              <a:rPr lang="en-US" sz="2500" dirty="0"/>
              <a:t>LO2: Describe the characteristics of various Machine Learning algorithms and understand how each of them works, including the mathematical principles underlying the algorithms.</a:t>
            </a:r>
          </a:p>
          <a:p>
            <a:pPr>
              <a:defRPr/>
            </a:pPr>
            <a:r>
              <a:rPr lang="en-US" sz="2500" dirty="0"/>
              <a:t>LO3: Apply relevant Machine Learning algorithms according to individual cases/problems and perform evaluation.</a:t>
            </a:r>
          </a:p>
          <a:p>
            <a:pPr>
              <a:defRPr/>
            </a:pPr>
            <a:r>
              <a:rPr lang="en-US" sz="2500" dirty="0"/>
              <a:t>LO4: Analyze the results obtained from Machine Learning experiments from several perspectives.</a:t>
            </a:r>
          </a:p>
          <a:p>
            <a:pPr>
              <a:defRPr/>
            </a:pPr>
            <a:endParaRPr lang="en-US" sz="2500" dirty="0"/>
          </a:p>
          <a:p>
            <a:pPr>
              <a:defRPr/>
            </a:pPr>
            <a:endParaRPr lang="en-US" sz="2500" dirty="0"/>
          </a:p>
        </p:txBody>
      </p:sp>
      <p:sp>
        <p:nvSpPr>
          <p:cNvPr id="8196" name="Slide Number Placeholder 3">
            <a:extLst>
              <a:ext uri="{FF2B5EF4-FFF2-40B4-BE49-F238E27FC236}">
                <a16:creationId xmlns:a16="http://schemas.microsoft.com/office/drawing/2014/main" id="{388B9066-255F-2E5A-2E6A-7272A95327F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1498344-9356-49F5-A843-7B0D16EFC5B2}"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spTree>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61413F33-5DE9-42BF-5E06-887E8A297782}"/>
              </a:ext>
            </a:extLst>
          </p:cNvPr>
          <p:cNvSpPr>
            <a:spLocks noGrp="1"/>
          </p:cNvSpPr>
          <p:nvPr>
            <p:ph type="title"/>
          </p:nvPr>
        </p:nvSpPr>
        <p:spPr/>
        <p:txBody>
          <a:bodyPr/>
          <a:lstStyle/>
          <a:p>
            <a:r>
              <a:rPr lang="en-US" altLang="en-US">
                <a:latin typeface="Open Sans" panose="020B0606030504020204" pitchFamily="34" charset="0"/>
              </a:rPr>
              <a:t>Session Outcomes</a:t>
            </a:r>
          </a:p>
        </p:txBody>
      </p:sp>
      <p:sp>
        <p:nvSpPr>
          <p:cNvPr id="3" name="Content Placeholder 2">
            <a:extLst>
              <a:ext uri="{FF2B5EF4-FFF2-40B4-BE49-F238E27FC236}">
                <a16:creationId xmlns:a16="http://schemas.microsoft.com/office/drawing/2014/main" id="{6E200C9F-E405-545B-5942-E08CFE528AB5}"/>
              </a:ext>
            </a:extLst>
          </p:cNvPr>
          <p:cNvSpPr>
            <a:spLocks noGrp="1"/>
          </p:cNvSpPr>
          <p:nvPr>
            <p:ph idx="1"/>
          </p:nvPr>
        </p:nvSpPr>
        <p:spPr/>
        <p:txBody>
          <a:bodyPr/>
          <a:lstStyle/>
          <a:p>
            <a:pPr marL="0" indent="0">
              <a:buFont typeface="Arial" panose="020B0604020202020204" pitchFamily="34" charset="0"/>
              <a:buNone/>
              <a:defRPr/>
            </a:pPr>
            <a:r>
              <a:rPr lang="en-GB" altLang="en-US" b="1" i="1" dirty="0"/>
              <a:t>By completing this session, you will be able to:</a:t>
            </a:r>
          </a:p>
          <a:p>
            <a:pPr>
              <a:defRPr/>
            </a:pPr>
            <a:r>
              <a:rPr lang="en-GB" altLang="en-US" dirty="0"/>
              <a:t>Describe the concept of artificial neural network (ANN)</a:t>
            </a:r>
          </a:p>
          <a:p>
            <a:pPr>
              <a:defRPr/>
            </a:pPr>
            <a:r>
              <a:rPr lang="en-GB" altLang="en-US" dirty="0"/>
              <a:t>Describe different architectures of ANN</a:t>
            </a:r>
          </a:p>
          <a:p>
            <a:pPr>
              <a:defRPr/>
            </a:pPr>
            <a:r>
              <a:rPr lang="en-GB" altLang="en-US" dirty="0"/>
              <a:t>Summarize steps in </a:t>
            </a:r>
            <a:r>
              <a:rPr lang="en-US" altLang="en-US" dirty="0"/>
              <a:t>Perceptron Algorithm</a:t>
            </a:r>
            <a:endParaRPr lang="en-GB" altLang="en-US" dirty="0"/>
          </a:p>
          <a:p>
            <a:pPr>
              <a:defRPr/>
            </a:pPr>
            <a:r>
              <a:rPr lang="en-GB" altLang="en-US" dirty="0"/>
              <a:t>Summarize steps in </a:t>
            </a:r>
            <a:r>
              <a:rPr lang="en-US" altLang="en-US" dirty="0"/>
              <a:t>Backpropagation Neural Network (BPPN)</a:t>
            </a:r>
          </a:p>
          <a:p>
            <a:pPr>
              <a:defRPr/>
            </a:pPr>
            <a:r>
              <a:rPr lang="en-US" altLang="en-US" dirty="0"/>
              <a:t>Perform computation using Perceptron Algorithm and BPPN.</a:t>
            </a:r>
            <a:endParaRPr lang="en-GB" altLang="en-US" dirty="0"/>
          </a:p>
          <a:p>
            <a:pPr>
              <a:defRPr/>
            </a:pPr>
            <a:endParaRPr lang="en-US" altLang="en-US" dirty="0"/>
          </a:p>
          <a:p>
            <a:pPr>
              <a:defRPr/>
            </a:pPr>
            <a:endParaRPr lang="id-ID" altLang="en-US" dirty="0"/>
          </a:p>
          <a:p>
            <a:pPr>
              <a:defRPr/>
            </a:pPr>
            <a:endParaRPr lang="en-US" dirty="0"/>
          </a:p>
        </p:txBody>
      </p:sp>
      <p:sp>
        <p:nvSpPr>
          <p:cNvPr id="9220" name="Slide Number Placeholder 3">
            <a:extLst>
              <a:ext uri="{FF2B5EF4-FFF2-40B4-BE49-F238E27FC236}">
                <a16:creationId xmlns:a16="http://schemas.microsoft.com/office/drawing/2014/main" id="{FEB7C2F3-D3DE-0657-1868-861E7696CBC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4504FB-9060-4A60-B81A-C25C7550E49C}"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E38A82F6-0E4A-E813-9778-D95D86D9C90A}"/>
              </a:ext>
            </a:extLst>
          </p:cNvPr>
          <p:cNvSpPr>
            <a:spLocks noGrp="1"/>
          </p:cNvSpPr>
          <p:nvPr>
            <p:ph type="title"/>
          </p:nvPr>
        </p:nvSpPr>
        <p:spPr>
          <a:xfrm>
            <a:off x="1219200" y="533400"/>
            <a:ext cx="7391400" cy="914400"/>
          </a:xfrm>
        </p:spPr>
        <p:txBody>
          <a:bodyPr/>
          <a:lstStyle/>
          <a:p>
            <a:r>
              <a:rPr lang="en-US" altLang="en-US">
                <a:latin typeface="Open Sans" panose="020B0606030504020204" pitchFamily="34" charset="0"/>
              </a:rPr>
              <a:t>Topics</a:t>
            </a:r>
            <a:endParaRPr lang="id-ID" altLang="en-US">
              <a:latin typeface="Open Sans" panose="020B0606030504020204" pitchFamily="34" charset="0"/>
            </a:endParaRPr>
          </a:p>
        </p:txBody>
      </p:sp>
      <p:sp>
        <p:nvSpPr>
          <p:cNvPr id="10243" name="Content Placeholder 2">
            <a:extLst>
              <a:ext uri="{FF2B5EF4-FFF2-40B4-BE49-F238E27FC236}">
                <a16:creationId xmlns:a16="http://schemas.microsoft.com/office/drawing/2014/main" id="{38FBD5AD-DB7D-9906-7426-2926D8EC2D07}"/>
              </a:ext>
            </a:extLst>
          </p:cNvPr>
          <p:cNvSpPr>
            <a:spLocks noGrp="1"/>
          </p:cNvSpPr>
          <p:nvPr>
            <p:ph idx="1"/>
          </p:nvPr>
        </p:nvSpPr>
        <p:spPr>
          <a:xfrm>
            <a:off x="700088" y="1752600"/>
            <a:ext cx="8229600" cy="4238625"/>
          </a:xfrm>
        </p:spPr>
        <p:txBody>
          <a:bodyPr/>
          <a:lstStyle/>
          <a:p>
            <a:r>
              <a:rPr lang="en-US" altLang="en-US" sz="3200">
                <a:latin typeface="Open Sans" panose="020B0606030504020204" pitchFamily="34" charset="0"/>
              </a:rPr>
              <a:t>Introduction to ANN</a:t>
            </a:r>
          </a:p>
          <a:p>
            <a:r>
              <a:rPr lang="en-US" altLang="en-US" sz="3200">
                <a:latin typeface="Open Sans" panose="020B0606030504020204" pitchFamily="34" charset="0"/>
              </a:rPr>
              <a:t>Feed-Forward Network Functions</a:t>
            </a:r>
          </a:p>
          <a:p>
            <a:r>
              <a:rPr lang="en-US" altLang="en-US" sz="3200">
                <a:latin typeface="Open Sans" panose="020B0606030504020204" pitchFamily="34" charset="0"/>
              </a:rPr>
              <a:t>ANN Architecture</a:t>
            </a:r>
          </a:p>
          <a:p>
            <a:r>
              <a:rPr lang="en-US" altLang="en-US" sz="3200">
                <a:latin typeface="Open Sans" panose="020B0606030504020204" pitchFamily="34" charset="0"/>
              </a:rPr>
              <a:t>Network Training</a:t>
            </a:r>
          </a:p>
          <a:p>
            <a:r>
              <a:rPr lang="en-US" altLang="en-US" sz="3200">
                <a:latin typeface="Open Sans" panose="020B0606030504020204" pitchFamily="34" charset="0"/>
              </a:rPr>
              <a:t>Perceptron Algorithm</a:t>
            </a:r>
          </a:p>
          <a:p>
            <a:r>
              <a:rPr lang="en-US" altLang="en-US" sz="3200">
                <a:latin typeface="Open Sans" panose="020B0606030504020204" pitchFamily="34" charset="0"/>
              </a:rPr>
              <a:t>Backpropagation Neural Networks (BPNN)</a:t>
            </a:r>
          </a:p>
          <a:p>
            <a:endParaRPr lang="en-US" altLang="en-US" sz="3200">
              <a:latin typeface="Open Sans" panose="020B0606030504020204" pitchFamily="34" charset="0"/>
            </a:endParaRPr>
          </a:p>
        </p:txBody>
      </p:sp>
      <p:sp>
        <p:nvSpPr>
          <p:cNvPr id="10244" name="Slide Number Placeholder 1">
            <a:extLst>
              <a:ext uri="{FF2B5EF4-FFF2-40B4-BE49-F238E27FC236}">
                <a16:creationId xmlns:a16="http://schemas.microsoft.com/office/drawing/2014/main" id="{67649FC6-7AAD-FCAD-126A-A2DB231F38C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62A0F6A-1F91-40F7-A469-9088D814999B}"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EF034B-667E-F574-C72C-9B0EB94AC3FE}"/>
              </a:ext>
            </a:extLst>
          </p:cNvPr>
          <p:cNvSpPr>
            <a:spLocks noGrp="1"/>
          </p:cNvSpPr>
          <p:nvPr>
            <p:ph type="title"/>
          </p:nvPr>
        </p:nvSpPr>
        <p:spPr>
          <a:xfrm>
            <a:off x="914400" y="2895600"/>
            <a:ext cx="7772400" cy="1362075"/>
          </a:xfrm>
        </p:spPr>
        <p:txBody>
          <a:bodyPr/>
          <a:lstStyle/>
          <a:p>
            <a:pPr algn="ctr">
              <a:defRPr/>
            </a:pPr>
            <a:r>
              <a:rPr lang="en-US" dirty="0"/>
              <a:t>Introduction to ANN</a:t>
            </a:r>
          </a:p>
        </p:txBody>
      </p:sp>
      <p:sp>
        <p:nvSpPr>
          <p:cNvPr id="11267" name="Slide Number Placeholder 3">
            <a:extLst>
              <a:ext uri="{FF2B5EF4-FFF2-40B4-BE49-F238E27FC236}">
                <a16:creationId xmlns:a16="http://schemas.microsoft.com/office/drawing/2014/main" id="{E9CCDE48-E9A0-118F-47C0-5AB7DD61C8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318BC6-43D8-49E2-880D-C428BEF88CF2}" type="slidenum">
              <a:rPr lang="en-US" altLang="en-US" smtClean="0">
                <a:solidFill>
                  <a:srgbClr val="898989"/>
                </a:solidFill>
                <a:latin typeface="Calibri" panose="020F0502020204030204" pitchFamily="34" charset="0"/>
              </a:rPr>
              <a:pPr/>
              <a:t>5</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B602BF7-9461-5CD8-17C7-8B07A6F027D9}"/>
              </a:ext>
            </a:extLst>
          </p:cNvPr>
          <p:cNvSpPr>
            <a:spLocks noGrp="1"/>
          </p:cNvSpPr>
          <p:nvPr>
            <p:ph type="title"/>
          </p:nvPr>
        </p:nvSpPr>
        <p:spPr>
          <a:xfrm>
            <a:off x="2057400" y="260350"/>
            <a:ext cx="6324600" cy="1143000"/>
          </a:xfrm>
        </p:spPr>
        <p:txBody>
          <a:bodyPr/>
          <a:lstStyle/>
          <a:p>
            <a:r>
              <a:rPr lang="en-US" altLang="en-US">
                <a:latin typeface="Open Sans" panose="020B0606030504020204" pitchFamily="34" charset="0"/>
              </a:rPr>
              <a:t>Introduction to ANN</a:t>
            </a:r>
          </a:p>
        </p:txBody>
      </p:sp>
      <p:sp>
        <p:nvSpPr>
          <p:cNvPr id="12291" name="Content Placeholder 2">
            <a:extLst>
              <a:ext uri="{FF2B5EF4-FFF2-40B4-BE49-F238E27FC236}">
                <a16:creationId xmlns:a16="http://schemas.microsoft.com/office/drawing/2014/main" id="{430F1D70-DAE6-08E5-A9BA-C2C80A5A8DF3}"/>
              </a:ext>
            </a:extLst>
          </p:cNvPr>
          <p:cNvSpPr>
            <a:spLocks noGrp="1"/>
          </p:cNvSpPr>
          <p:nvPr>
            <p:ph idx="1"/>
          </p:nvPr>
        </p:nvSpPr>
        <p:spPr>
          <a:xfrm>
            <a:off x="990600" y="2590800"/>
            <a:ext cx="2819400" cy="2895600"/>
          </a:xfrm>
        </p:spPr>
        <p:txBody>
          <a:bodyPr/>
          <a:lstStyle/>
          <a:p>
            <a:pPr marL="0" indent="0">
              <a:buFont typeface="Arial" panose="020B0604020202020204" pitchFamily="34" charset="0"/>
              <a:buNone/>
            </a:pPr>
            <a:r>
              <a:rPr lang="en-US" altLang="id-ID" sz="2600">
                <a:latin typeface="Arial" panose="020B0604020202020204" pitchFamily="34" charset="0"/>
                <a:cs typeface="Arial" panose="020B0604020202020204" pitchFamily="34" charset="0"/>
              </a:rPr>
              <a:t>ANN is inspired by human’s brain cell in Biology.</a:t>
            </a:r>
            <a:endParaRPr lang="en-US" altLang="id-ID">
              <a:latin typeface="Arial" panose="020B0604020202020204" pitchFamily="34" charset="0"/>
              <a:cs typeface="Arial" panose="020B0604020202020204" pitchFamily="34" charset="0"/>
            </a:endParaRPr>
          </a:p>
        </p:txBody>
      </p:sp>
      <p:sp>
        <p:nvSpPr>
          <p:cNvPr id="12292" name="Slide Number Placeholder 3">
            <a:extLst>
              <a:ext uri="{FF2B5EF4-FFF2-40B4-BE49-F238E27FC236}">
                <a16:creationId xmlns:a16="http://schemas.microsoft.com/office/drawing/2014/main" id="{F83DD3DB-F9C7-5DE1-2086-58DAC91B43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F5ADAA-E889-4B6B-BBCD-0E2A2AA0864B}"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pic>
        <p:nvPicPr>
          <p:cNvPr id="12293" name="Picture 3">
            <a:extLst>
              <a:ext uri="{FF2B5EF4-FFF2-40B4-BE49-F238E27FC236}">
                <a16:creationId xmlns:a16="http://schemas.microsoft.com/office/drawing/2014/main" id="{578C0FAE-3238-C76B-8132-0FD727645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512888"/>
            <a:ext cx="4465638"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5">
            <a:extLst>
              <a:ext uri="{FF2B5EF4-FFF2-40B4-BE49-F238E27FC236}">
                <a16:creationId xmlns:a16="http://schemas.microsoft.com/office/drawing/2014/main" id="{A6425B56-CDB0-AA70-804D-3CA92D05D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997325"/>
            <a:ext cx="4624388"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7327AA0-44D7-F0DE-AF0A-F4A8DA909950}"/>
              </a:ext>
            </a:extLst>
          </p:cNvPr>
          <p:cNvSpPr>
            <a:spLocks noGrp="1"/>
          </p:cNvSpPr>
          <p:nvPr>
            <p:ph type="title"/>
          </p:nvPr>
        </p:nvSpPr>
        <p:spPr/>
        <p:txBody>
          <a:bodyPr/>
          <a:lstStyle/>
          <a:p>
            <a:r>
              <a:rPr lang="en-US" altLang="en-US">
                <a:latin typeface="Open Sans" panose="020B0606030504020204" pitchFamily="34" charset="0"/>
              </a:rPr>
              <a:t>ANN Elements</a:t>
            </a:r>
          </a:p>
        </p:txBody>
      </p:sp>
      <p:sp>
        <p:nvSpPr>
          <p:cNvPr id="3" name="Content Placeholder 2">
            <a:extLst>
              <a:ext uri="{FF2B5EF4-FFF2-40B4-BE49-F238E27FC236}">
                <a16:creationId xmlns:a16="http://schemas.microsoft.com/office/drawing/2014/main" id="{BC71527B-1A16-3F72-187B-C90C551EF127}"/>
              </a:ext>
            </a:extLst>
          </p:cNvPr>
          <p:cNvSpPr>
            <a:spLocks noGrp="1"/>
          </p:cNvSpPr>
          <p:nvPr>
            <p:ph idx="1"/>
          </p:nvPr>
        </p:nvSpPr>
        <p:spPr>
          <a:xfrm>
            <a:off x="685800" y="1676400"/>
            <a:ext cx="8458200" cy="4953000"/>
          </a:xfrm>
        </p:spPr>
        <p:txBody>
          <a:bodyPr>
            <a:normAutofit fontScale="85000" lnSpcReduction="10000"/>
          </a:bodyPr>
          <a:lstStyle/>
          <a:p>
            <a:pPr marL="514350" indent="-514350">
              <a:lnSpc>
                <a:spcPct val="120000"/>
              </a:lnSpc>
              <a:buFont typeface="+mj-lt"/>
              <a:buAutoNum type="arabicPeriod"/>
              <a:defRPr/>
            </a:pPr>
            <a:r>
              <a:rPr lang="en-US" b="1" dirty="0">
                <a:solidFill>
                  <a:srgbClr val="0070C0"/>
                </a:solidFill>
              </a:rPr>
              <a:t>Input Layer</a:t>
            </a:r>
            <a:r>
              <a:rPr lang="en-US" dirty="0"/>
              <a:t>, consists of neurons which represented features or variables for problem solving.</a:t>
            </a:r>
          </a:p>
          <a:p>
            <a:pPr marL="514350" indent="-514350">
              <a:lnSpc>
                <a:spcPct val="120000"/>
              </a:lnSpc>
              <a:buFont typeface="+mj-lt"/>
              <a:buAutoNum type="arabicPeriod"/>
              <a:defRPr/>
            </a:pPr>
            <a:r>
              <a:rPr lang="en-US" b="1" dirty="0">
                <a:solidFill>
                  <a:srgbClr val="0070C0"/>
                </a:solidFill>
              </a:rPr>
              <a:t>Output Layer</a:t>
            </a:r>
            <a:r>
              <a:rPr lang="en-US" dirty="0"/>
              <a:t>, consists of neurons which represented results of calculation in cell body.</a:t>
            </a:r>
          </a:p>
          <a:p>
            <a:pPr marL="514350" indent="-514350">
              <a:lnSpc>
                <a:spcPct val="120000"/>
              </a:lnSpc>
              <a:buFont typeface="+mj-lt"/>
              <a:buAutoNum type="arabicPeriod"/>
              <a:defRPr/>
            </a:pPr>
            <a:r>
              <a:rPr lang="en-US" b="1" dirty="0">
                <a:solidFill>
                  <a:srgbClr val="0070C0"/>
                </a:solidFill>
              </a:rPr>
              <a:t>Weights</a:t>
            </a:r>
            <a:r>
              <a:rPr lang="en-US" dirty="0"/>
              <a:t>, is strength of connection between neurons.</a:t>
            </a:r>
          </a:p>
          <a:p>
            <a:pPr marL="514350" indent="-514350">
              <a:lnSpc>
                <a:spcPct val="120000"/>
              </a:lnSpc>
              <a:buFont typeface="+mj-lt"/>
              <a:buAutoNum type="arabicPeriod"/>
              <a:defRPr/>
            </a:pPr>
            <a:r>
              <a:rPr lang="en-US" b="1" dirty="0">
                <a:solidFill>
                  <a:srgbClr val="0070C0"/>
                </a:solidFill>
              </a:rPr>
              <a:t>Learning Function</a:t>
            </a:r>
            <a:r>
              <a:rPr lang="en-US" dirty="0"/>
              <a:t>, or optimization function is to be used to obtain minimum error by updating weights.</a:t>
            </a:r>
          </a:p>
          <a:p>
            <a:pPr marL="514350" indent="-514350">
              <a:lnSpc>
                <a:spcPct val="120000"/>
              </a:lnSpc>
              <a:buFont typeface="+mj-lt"/>
              <a:buAutoNum type="arabicPeriod"/>
              <a:defRPr/>
            </a:pPr>
            <a:r>
              <a:rPr lang="en-US" b="1" dirty="0">
                <a:solidFill>
                  <a:srgbClr val="0070C0"/>
                </a:solidFill>
              </a:rPr>
              <a:t>Activation Function</a:t>
            </a:r>
            <a:r>
              <a:rPr lang="en-US" dirty="0"/>
              <a:t>, is a function to obtain output according to the problem which would be solved.</a:t>
            </a:r>
          </a:p>
          <a:p>
            <a:pPr marL="514350" indent="-514350">
              <a:lnSpc>
                <a:spcPct val="120000"/>
              </a:lnSpc>
              <a:buFont typeface="+mj-lt"/>
              <a:buAutoNum type="arabicPeriod"/>
              <a:defRPr/>
            </a:pPr>
            <a:r>
              <a:rPr lang="en-US" b="1" dirty="0">
                <a:solidFill>
                  <a:srgbClr val="0070C0"/>
                </a:solidFill>
              </a:rPr>
              <a:t>Hidden Layer</a:t>
            </a:r>
            <a:r>
              <a:rPr lang="en-US" dirty="0"/>
              <a:t>, is optional depending on ANN architecture.</a:t>
            </a:r>
          </a:p>
        </p:txBody>
      </p:sp>
      <p:sp>
        <p:nvSpPr>
          <p:cNvPr id="13316" name="Slide Number Placeholder 3">
            <a:extLst>
              <a:ext uri="{FF2B5EF4-FFF2-40B4-BE49-F238E27FC236}">
                <a16:creationId xmlns:a16="http://schemas.microsoft.com/office/drawing/2014/main" id="{BE3F3018-BD0C-4226-E61C-630F618675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20C4446-53B7-4A4D-B4D9-1E4089084BBA}" type="slidenum">
              <a:rPr lang="en-US" altLang="en-US" smtClean="0">
                <a:solidFill>
                  <a:srgbClr val="898989"/>
                </a:solidFill>
                <a:latin typeface="Calibri" panose="020F0502020204030204" pitchFamily="34" charset="0"/>
              </a:rPr>
              <a:pPr/>
              <a:t>7</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853F8785-087A-454F-1E9C-886452F1A9B2}"/>
              </a:ext>
            </a:extLst>
          </p:cNvPr>
          <p:cNvSpPr>
            <a:spLocks noGrp="1"/>
          </p:cNvSpPr>
          <p:nvPr>
            <p:ph type="title"/>
          </p:nvPr>
        </p:nvSpPr>
        <p:spPr/>
        <p:txBody>
          <a:bodyPr/>
          <a:lstStyle/>
          <a:p>
            <a:r>
              <a:rPr lang="en-US" altLang="en-US">
                <a:latin typeface="Open Sans" panose="020B0606030504020204" pitchFamily="34" charset="0"/>
              </a:rPr>
              <a:t>ANN Characteristics</a:t>
            </a:r>
          </a:p>
        </p:txBody>
      </p:sp>
      <p:sp>
        <p:nvSpPr>
          <p:cNvPr id="3" name="Content Placeholder 2">
            <a:extLst>
              <a:ext uri="{FF2B5EF4-FFF2-40B4-BE49-F238E27FC236}">
                <a16:creationId xmlns:a16="http://schemas.microsoft.com/office/drawing/2014/main" id="{75693848-2B8B-FDFC-A75A-C203B9D4FE89}"/>
              </a:ext>
            </a:extLst>
          </p:cNvPr>
          <p:cNvSpPr>
            <a:spLocks noGrp="1"/>
          </p:cNvSpPr>
          <p:nvPr>
            <p:ph idx="1"/>
          </p:nvPr>
        </p:nvSpPr>
        <p:spPr/>
        <p:txBody>
          <a:bodyPr>
            <a:normAutofit fontScale="92500" lnSpcReduction="20000"/>
          </a:bodyPr>
          <a:lstStyle/>
          <a:p>
            <a:pPr>
              <a:defRPr/>
            </a:pPr>
            <a:r>
              <a:rPr lang="en-US" dirty="0"/>
              <a:t>ANN can solve problems which have patterns.</a:t>
            </a:r>
          </a:p>
          <a:p>
            <a:pPr>
              <a:defRPr/>
            </a:pPr>
            <a:r>
              <a:rPr lang="en-US" dirty="0"/>
              <a:t>ANN has a good mapping ability. ANN can map the pattern on the input to output which is connected continuously without interruption.</a:t>
            </a:r>
          </a:p>
          <a:p>
            <a:pPr>
              <a:defRPr/>
            </a:pPr>
            <a:r>
              <a:rPr lang="en-US" dirty="0"/>
              <a:t>ANN is a method that focuses on the learning process. ANN will be trained using in-sample data to recognize the pattern. Based on the result of this train, ANN will be tested by using out-sample data to identify the pattern. Error of in-sample and out-sample data should be similar.</a:t>
            </a:r>
          </a:p>
          <a:p>
            <a:pPr>
              <a:defRPr/>
            </a:pPr>
            <a:r>
              <a:rPr lang="en-US" dirty="0"/>
              <a:t>ANN is tolerant of various types of data. It is able to identify patterns of incomplete, partial, or noisy data.</a:t>
            </a:r>
          </a:p>
        </p:txBody>
      </p:sp>
      <p:sp>
        <p:nvSpPr>
          <p:cNvPr id="14340" name="Slide Number Placeholder 3">
            <a:extLst>
              <a:ext uri="{FF2B5EF4-FFF2-40B4-BE49-F238E27FC236}">
                <a16:creationId xmlns:a16="http://schemas.microsoft.com/office/drawing/2014/main" id="{CDB282B9-A5A9-F1DC-3CEB-FE9D0CA100C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B070DD-BF67-444C-9E5F-753FFC6A0E78}" type="slidenum">
              <a:rPr lang="en-US" altLang="en-US" smtClean="0">
                <a:solidFill>
                  <a:srgbClr val="898989"/>
                </a:solidFill>
                <a:latin typeface="Calibri" panose="020F0502020204030204" pitchFamily="34" charset="0"/>
              </a:rPr>
              <a:pPr/>
              <a:t>8</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82F3BB3-926B-E712-1724-CBC879C83EB5}"/>
              </a:ext>
            </a:extLst>
          </p:cNvPr>
          <p:cNvSpPr>
            <a:spLocks noGrp="1"/>
          </p:cNvSpPr>
          <p:nvPr>
            <p:ph type="title"/>
          </p:nvPr>
        </p:nvSpPr>
        <p:spPr/>
        <p:txBody>
          <a:bodyPr/>
          <a:lstStyle/>
          <a:p>
            <a:r>
              <a:rPr lang="en-US" altLang="en-US">
                <a:latin typeface="Open Sans" panose="020B0606030504020204" pitchFamily="34" charset="0"/>
              </a:rPr>
              <a:t>ANN Implementation</a:t>
            </a:r>
          </a:p>
        </p:txBody>
      </p:sp>
      <p:sp>
        <p:nvSpPr>
          <p:cNvPr id="15363" name="Content Placeholder 2">
            <a:extLst>
              <a:ext uri="{FF2B5EF4-FFF2-40B4-BE49-F238E27FC236}">
                <a16:creationId xmlns:a16="http://schemas.microsoft.com/office/drawing/2014/main" id="{558F05AA-5D90-8A2E-D5FB-57943BB98BFC}"/>
              </a:ext>
            </a:extLst>
          </p:cNvPr>
          <p:cNvSpPr>
            <a:spLocks noGrp="1"/>
          </p:cNvSpPr>
          <p:nvPr>
            <p:ph idx="1"/>
          </p:nvPr>
        </p:nvSpPr>
        <p:spPr/>
        <p:txBody>
          <a:bodyPr/>
          <a:lstStyle/>
          <a:p>
            <a:pPr marL="514350" indent="-514350">
              <a:buFont typeface="Calibri" panose="020F0502020204030204" pitchFamily="34" charset="0"/>
              <a:buAutoNum type="arabicPeriod"/>
            </a:pPr>
            <a:r>
              <a:rPr lang="en-US" altLang="en-US" b="1">
                <a:solidFill>
                  <a:srgbClr val="0070C0"/>
                </a:solidFill>
                <a:latin typeface="Open Sans" panose="020B0606030504020204" pitchFamily="34" charset="0"/>
              </a:rPr>
              <a:t>Regression</a:t>
            </a:r>
            <a:r>
              <a:rPr lang="en-US" altLang="en-US">
                <a:latin typeface="Open Sans" panose="020B0606030504020204" pitchFamily="34" charset="0"/>
              </a:rPr>
              <a:t>, estimate relationship between independent variable to dependent variable to obtain fitted function according to data.</a:t>
            </a:r>
          </a:p>
          <a:p>
            <a:pPr marL="514350" indent="-514350">
              <a:buFont typeface="Calibri" panose="020F0502020204030204" pitchFamily="34" charset="0"/>
              <a:buAutoNum type="arabicPeriod"/>
            </a:pPr>
            <a:r>
              <a:rPr lang="en-US" altLang="en-US" b="1">
                <a:solidFill>
                  <a:srgbClr val="0070C0"/>
                </a:solidFill>
                <a:latin typeface="Open Sans" panose="020B0606030504020204" pitchFamily="34" charset="0"/>
              </a:rPr>
              <a:t>Classification</a:t>
            </a:r>
            <a:r>
              <a:rPr lang="en-US" altLang="en-US">
                <a:latin typeface="Open Sans" panose="020B0606030504020204" pitchFamily="34" charset="0"/>
              </a:rPr>
              <a:t>, predict class of input data according to target or data label.</a:t>
            </a:r>
          </a:p>
          <a:p>
            <a:pPr marL="514350" indent="-514350">
              <a:buFont typeface="Calibri" panose="020F0502020204030204" pitchFamily="34" charset="0"/>
              <a:buAutoNum type="arabicPeriod"/>
            </a:pPr>
            <a:r>
              <a:rPr lang="en-US" altLang="en-US" b="1">
                <a:solidFill>
                  <a:srgbClr val="0070C0"/>
                </a:solidFill>
                <a:latin typeface="Open Sans" panose="020B0606030504020204" pitchFamily="34" charset="0"/>
              </a:rPr>
              <a:t>Clustering</a:t>
            </a:r>
            <a:r>
              <a:rPr lang="en-US" altLang="en-US">
                <a:latin typeface="Open Sans" panose="020B0606030504020204" pitchFamily="34" charset="0"/>
              </a:rPr>
              <a:t>, grouping set of data without data label or target.</a:t>
            </a:r>
          </a:p>
          <a:p>
            <a:pPr marL="514350" indent="-514350">
              <a:buFont typeface="Calibri" panose="020F0502020204030204" pitchFamily="34" charset="0"/>
              <a:buAutoNum type="arabicPeriod"/>
            </a:pPr>
            <a:r>
              <a:rPr lang="en-US" altLang="en-US" b="1">
                <a:solidFill>
                  <a:srgbClr val="0070C0"/>
                </a:solidFill>
                <a:latin typeface="Open Sans" panose="020B0606030504020204" pitchFamily="34" charset="0"/>
              </a:rPr>
              <a:t>Forecasting</a:t>
            </a:r>
            <a:r>
              <a:rPr lang="en-US" altLang="en-US">
                <a:latin typeface="Open Sans" panose="020B0606030504020204" pitchFamily="34" charset="0"/>
              </a:rPr>
              <a:t>, predict future condition using present and past data or known as time series data.</a:t>
            </a:r>
          </a:p>
        </p:txBody>
      </p:sp>
      <p:sp>
        <p:nvSpPr>
          <p:cNvPr id="15364" name="Slide Number Placeholder 3">
            <a:extLst>
              <a:ext uri="{FF2B5EF4-FFF2-40B4-BE49-F238E27FC236}">
                <a16:creationId xmlns:a16="http://schemas.microsoft.com/office/drawing/2014/main" id="{4ED5D4F0-F57B-A768-4BF1-4AD3B6901C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17093E4-7906-49C9-979C-38883F89D109}" type="slidenum">
              <a:rPr lang="en-US" altLang="en-US" smtClean="0">
                <a:solidFill>
                  <a:srgbClr val="898989"/>
                </a:solidFill>
                <a:latin typeface="Calibri" panose="020F0502020204030204" pitchFamily="34" charset="0"/>
              </a:rPr>
              <a:pPr/>
              <a:t>9</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E12AB53-CC36-2507-4ACE-6D6435E5EC1B}"/>
              </a:ext>
            </a:extLst>
          </p:cNvPr>
          <p:cNvSpPr>
            <a:spLocks noGrp="1"/>
          </p:cNvSpPr>
          <p:nvPr>
            <p:ph type="title"/>
          </p:nvPr>
        </p:nvSpPr>
        <p:spPr>
          <a:xfrm>
            <a:off x="2043113" y="149225"/>
            <a:ext cx="6324600" cy="1143000"/>
          </a:xfrm>
        </p:spPr>
        <p:txBody>
          <a:bodyPr/>
          <a:lstStyle/>
          <a:p>
            <a:r>
              <a:rPr lang="en-US" altLang="en-US">
                <a:latin typeface="Open Sans" panose="020B0606030504020204" pitchFamily="34" charset="0"/>
              </a:rPr>
              <a:t>ANN Implementation</a:t>
            </a:r>
          </a:p>
        </p:txBody>
      </p:sp>
      <p:sp>
        <p:nvSpPr>
          <p:cNvPr id="16387" name="Slide Number Placeholder 3">
            <a:extLst>
              <a:ext uri="{FF2B5EF4-FFF2-40B4-BE49-F238E27FC236}">
                <a16:creationId xmlns:a16="http://schemas.microsoft.com/office/drawing/2014/main" id="{FB261C53-1165-55B5-6AC1-96D7F67FFB4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35E0F1-3E80-4B82-8665-4809327872F7}" type="slidenum">
              <a:rPr lang="en-US" altLang="en-US" smtClean="0">
                <a:solidFill>
                  <a:srgbClr val="898989"/>
                </a:solidFill>
                <a:latin typeface="Calibri" panose="020F0502020204030204" pitchFamily="34" charset="0"/>
              </a:rPr>
              <a:pPr/>
              <a:t>10</a:t>
            </a:fld>
            <a:endParaRPr lang="en-US" altLang="en-US">
              <a:solidFill>
                <a:srgbClr val="898989"/>
              </a:solidFill>
              <a:latin typeface="Calibri" panose="020F0502020204030204" pitchFamily="34" charset="0"/>
            </a:endParaRPr>
          </a:p>
        </p:txBody>
      </p:sp>
      <p:pic>
        <p:nvPicPr>
          <p:cNvPr id="16388" name="Picture 5">
            <a:extLst>
              <a:ext uri="{FF2B5EF4-FFF2-40B4-BE49-F238E27FC236}">
                <a16:creationId xmlns:a16="http://schemas.microsoft.com/office/drawing/2014/main" id="{347D49E3-56BB-F1B3-9897-E836F418E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535113"/>
            <a:ext cx="3744913" cy="223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9">
            <a:extLst>
              <a:ext uri="{FF2B5EF4-FFF2-40B4-BE49-F238E27FC236}">
                <a16:creationId xmlns:a16="http://schemas.microsoft.com/office/drawing/2014/main" id="{0A12CABD-D866-AE64-8E19-7E32EB5E1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8" y="3940175"/>
            <a:ext cx="21494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11">
            <a:extLst>
              <a:ext uri="{FF2B5EF4-FFF2-40B4-BE49-F238E27FC236}">
                <a16:creationId xmlns:a16="http://schemas.microsoft.com/office/drawing/2014/main" id="{FC59B459-DD68-11C7-EC28-6C2AC186BC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3763" y="4162425"/>
            <a:ext cx="3041650"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13">
            <a:extLst>
              <a:ext uri="{FF2B5EF4-FFF2-40B4-BE49-F238E27FC236}">
                <a16:creationId xmlns:a16="http://schemas.microsoft.com/office/drawing/2014/main" id="{144F94AA-FFA5-4BC8-B7AE-2B53415F54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1150" y="1595438"/>
            <a:ext cx="3600450"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Straight Connector 15">
            <a:extLst>
              <a:ext uri="{FF2B5EF4-FFF2-40B4-BE49-F238E27FC236}">
                <a16:creationId xmlns:a16="http://schemas.microsoft.com/office/drawing/2014/main" id="{F3B06A2C-42D2-909A-3438-5F2C1E55F298}"/>
              </a:ext>
            </a:extLst>
          </p:cNvPr>
          <p:cNvCxnSpPr/>
          <p:nvPr/>
        </p:nvCxnSpPr>
        <p:spPr>
          <a:xfrm>
            <a:off x="5345113" y="1524000"/>
            <a:ext cx="0" cy="50546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43608C3-9C3D-3B0D-604E-C8E4572832EB}"/>
              </a:ext>
            </a:extLst>
          </p:cNvPr>
          <p:cNvCxnSpPr/>
          <p:nvPr/>
        </p:nvCxnSpPr>
        <p:spPr>
          <a:xfrm>
            <a:off x="2141538" y="3954463"/>
            <a:ext cx="0" cy="26511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FCD46AA-54E8-A1FF-501D-17EEFBF30AFF}"/>
              </a:ext>
            </a:extLst>
          </p:cNvPr>
          <p:cNvCxnSpPr>
            <a:cxnSpLocks/>
          </p:cNvCxnSpPr>
          <p:nvPr/>
        </p:nvCxnSpPr>
        <p:spPr>
          <a:xfrm rot="16200000">
            <a:off x="2841625" y="1419225"/>
            <a:ext cx="0" cy="502920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3005BD-C8FB-999A-E3A5-340DC846A0D4}"/>
              </a:ext>
            </a:extLst>
          </p:cNvPr>
          <p:cNvSpPr>
            <a:spLocks noGrp="1"/>
          </p:cNvSpPr>
          <p:nvPr>
            <p:ph type="title"/>
          </p:nvPr>
        </p:nvSpPr>
        <p:spPr>
          <a:xfrm>
            <a:off x="914400" y="2895600"/>
            <a:ext cx="7772400" cy="1362075"/>
          </a:xfrm>
        </p:spPr>
        <p:txBody>
          <a:bodyPr/>
          <a:lstStyle/>
          <a:p>
            <a:pPr algn="ctr">
              <a:defRPr/>
            </a:pPr>
            <a:r>
              <a:rPr lang="en-US" dirty="0"/>
              <a:t>Feed-Forward Network Functions</a:t>
            </a:r>
          </a:p>
        </p:txBody>
      </p:sp>
      <p:sp>
        <p:nvSpPr>
          <p:cNvPr id="17411" name="Slide Number Placeholder 3">
            <a:extLst>
              <a:ext uri="{FF2B5EF4-FFF2-40B4-BE49-F238E27FC236}">
                <a16:creationId xmlns:a16="http://schemas.microsoft.com/office/drawing/2014/main" id="{20187E0C-78BF-0DEB-3BA0-656F62EB98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136376-8217-41D7-B22B-BF80F5BF6471}" type="slidenum">
              <a:rPr lang="en-US" altLang="en-US" smtClean="0">
                <a:solidFill>
                  <a:srgbClr val="898989"/>
                </a:solidFill>
                <a:latin typeface="Calibri" panose="020F0502020204030204" pitchFamily="34" charset="0"/>
              </a:rPr>
              <a:pPr/>
              <a:t>11</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a:extLst>
              <a:ext uri="{FF2B5EF4-FFF2-40B4-BE49-F238E27FC236}">
                <a16:creationId xmlns:a16="http://schemas.microsoft.com/office/drawing/2014/main" id="{9F3D7462-DC08-25A1-F275-12953DD4959C}"/>
              </a:ext>
            </a:extLst>
          </p:cNvPr>
          <p:cNvSpPr>
            <a:spLocks noGrp="1"/>
          </p:cNvSpPr>
          <p:nvPr>
            <p:ph type="title"/>
          </p:nvPr>
        </p:nvSpPr>
        <p:spPr/>
        <p:txBody>
          <a:bodyPr/>
          <a:lstStyle/>
          <a:p>
            <a:r>
              <a:rPr lang="en-US" altLang="en-US">
                <a:latin typeface="Open Sans" panose="020B0606030504020204" pitchFamily="34" charset="0"/>
              </a:rPr>
              <a:t>Let’s Start with Perceptron</a:t>
            </a:r>
          </a:p>
        </p:txBody>
      </p:sp>
      <p:sp>
        <p:nvSpPr>
          <p:cNvPr id="18435" name="Slide Number Placeholder 3">
            <a:extLst>
              <a:ext uri="{FF2B5EF4-FFF2-40B4-BE49-F238E27FC236}">
                <a16:creationId xmlns:a16="http://schemas.microsoft.com/office/drawing/2014/main" id="{4E06DCDE-E578-5C36-56E0-500ACC96398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B370991-BC26-4C6C-875A-BF7A281DF54F}"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
        <p:nvSpPr>
          <p:cNvPr id="18436" name="Content Placeholder 41">
            <a:extLst>
              <a:ext uri="{FF2B5EF4-FFF2-40B4-BE49-F238E27FC236}">
                <a16:creationId xmlns:a16="http://schemas.microsoft.com/office/drawing/2014/main" id="{2A3D6DE6-95DE-6BC0-33A8-48F16A2039E7}"/>
              </a:ext>
            </a:extLst>
          </p:cNvPr>
          <p:cNvSpPr>
            <a:spLocks noGrp="1"/>
          </p:cNvSpPr>
          <p:nvPr>
            <p:ph idx="1"/>
          </p:nvPr>
        </p:nvSpPr>
        <p:spPr>
          <a:xfrm>
            <a:off x="685800" y="1828800"/>
            <a:ext cx="8229600" cy="5181600"/>
          </a:xfrm>
        </p:spPr>
        <p:txBody>
          <a:bodyPr/>
          <a:lstStyle/>
          <a:p>
            <a:pPr eaLnBrk="1" hangingPunct="1">
              <a:spcBef>
                <a:spcPct val="50000"/>
              </a:spcBef>
            </a:pPr>
            <a:r>
              <a:rPr lang="en-US" altLang="en-US">
                <a:latin typeface="Open Sans" panose="020B0606030504020204" pitchFamily="34" charset="0"/>
                <a:cs typeface="Times New Roman" panose="02020603050405020304" pitchFamily="18" charset="0"/>
              </a:rPr>
              <a:t>Output Y is 1 if at least two of the three inputs are equal to 1.</a:t>
            </a:r>
          </a:p>
          <a:p>
            <a:endParaRPr lang="en-US" altLang="en-US">
              <a:latin typeface="Open Sans" panose="020B0606030504020204" pitchFamily="34" charset="0"/>
            </a:endParaRPr>
          </a:p>
        </p:txBody>
      </p:sp>
      <p:graphicFrame>
        <p:nvGraphicFramePr>
          <p:cNvPr id="18437" name="Object 1">
            <a:extLst>
              <a:ext uri="{FF2B5EF4-FFF2-40B4-BE49-F238E27FC236}">
                <a16:creationId xmlns:a16="http://schemas.microsoft.com/office/drawing/2014/main" id="{2C81F4C9-E8DF-2720-D783-54D81F529914}"/>
              </a:ext>
            </a:extLst>
          </p:cNvPr>
          <p:cNvGraphicFramePr>
            <a:graphicFrameLocks/>
          </p:cNvGraphicFramePr>
          <p:nvPr/>
        </p:nvGraphicFramePr>
        <p:xfrm>
          <a:off x="912813" y="2895600"/>
          <a:ext cx="8078787" cy="3503613"/>
        </p:xfrm>
        <a:graphic>
          <a:graphicData uri="http://schemas.openxmlformats.org/presentationml/2006/ole">
            <mc:AlternateContent xmlns:mc="http://schemas.openxmlformats.org/markup-compatibility/2006">
              <mc:Choice xmlns:v="urn:schemas-microsoft-com:vml" Requires="v">
                <p:oleObj r:id="rId2" imgW="9050040" imgH="4012560" progId="Visio.Drawing.11">
                  <p:embed/>
                </p:oleObj>
              </mc:Choice>
              <mc:Fallback>
                <p:oleObj r:id="rId2" imgW="9050040" imgH="4012560" progId="Visio.Drawing.11">
                  <p:embed/>
                  <p:pic>
                    <p:nvPicPr>
                      <p:cNvPr id="18437" name="Object 1">
                        <a:extLst>
                          <a:ext uri="{FF2B5EF4-FFF2-40B4-BE49-F238E27FC236}">
                            <a16:creationId xmlns:a16="http://schemas.microsoft.com/office/drawing/2014/main" id="{2C81F4C9-E8DF-2720-D783-54D81F52991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13" y="2895600"/>
                        <a:ext cx="8078787"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58FAE0C-9467-2101-ABE4-B917CED5605A}"/>
              </a:ext>
            </a:extLst>
          </p:cNvPr>
          <p:cNvSpPr>
            <a:spLocks noGrp="1"/>
          </p:cNvSpPr>
          <p:nvPr>
            <p:ph type="title"/>
          </p:nvPr>
        </p:nvSpPr>
        <p:spPr/>
        <p:txBody>
          <a:bodyPr/>
          <a:lstStyle/>
          <a:p>
            <a:r>
              <a:rPr lang="en-US" altLang="en-US">
                <a:latin typeface="Open Sans" panose="020B0606030504020204" pitchFamily="34" charset="0"/>
              </a:rPr>
              <a:t>Perceptron</a:t>
            </a:r>
          </a:p>
        </p:txBody>
      </p:sp>
      <p:sp>
        <p:nvSpPr>
          <p:cNvPr id="19459" name="Content Placeholder 5">
            <a:extLst>
              <a:ext uri="{FF2B5EF4-FFF2-40B4-BE49-F238E27FC236}">
                <a16:creationId xmlns:a16="http://schemas.microsoft.com/office/drawing/2014/main" id="{668948A5-4EBB-675F-236B-E318C7636013}"/>
              </a:ext>
            </a:extLst>
          </p:cNvPr>
          <p:cNvSpPr>
            <a:spLocks noGrp="1"/>
          </p:cNvSpPr>
          <p:nvPr>
            <p:ph idx="1"/>
          </p:nvPr>
        </p:nvSpPr>
        <p:spPr>
          <a:xfrm>
            <a:off x="685800" y="1676400"/>
            <a:ext cx="3886200" cy="4953000"/>
          </a:xfrm>
        </p:spPr>
        <p:txBody>
          <a:bodyPr>
            <a:normAutofit lnSpcReduction="10000"/>
          </a:bodyPr>
          <a:lstStyle/>
          <a:p>
            <a:r>
              <a:rPr lang="en-US" altLang="en-US" sz="2400">
                <a:latin typeface="Open Sans" panose="020B0606030504020204" pitchFamily="34" charset="0"/>
              </a:rPr>
              <a:t>Model is an assembly of inter-connected nodes and weighted links.</a:t>
            </a:r>
          </a:p>
          <a:p>
            <a:endParaRPr lang="en-US" altLang="en-US" sz="1800">
              <a:latin typeface="Open Sans" panose="020B0606030504020204" pitchFamily="34" charset="0"/>
            </a:endParaRPr>
          </a:p>
          <a:p>
            <a:endParaRPr lang="en-US" altLang="en-US" sz="200">
              <a:latin typeface="Open Sans" panose="020B0606030504020204" pitchFamily="34" charset="0"/>
            </a:endParaRPr>
          </a:p>
          <a:p>
            <a:r>
              <a:rPr lang="en-US" altLang="en-US" sz="2400">
                <a:latin typeface="Open Sans" panose="020B0606030504020204" pitchFamily="34" charset="0"/>
              </a:rPr>
              <a:t>Output node sums up each of its input value according to the weights of its links.</a:t>
            </a:r>
          </a:p>
          <a:p>
            <a:endParaRPr lang="en-US" altLang="en-US" sz="1800">
              <a:latin typeface="Open Sans" panose="020B0606030504020204" pitchFamily="34" charset="0"/>
            </a:endParaRPr>
          </a:p>
          <a:p>
            <a:r>
              <a:rPr lang="en-US" altLang="en-US" sz="2400">
                <a:latin typeface="Open Sans" panose="020B0606030504020204" pitchFamily="34" charset="0"/>
              </a:rPr>
              <a:t>Compare output node against some threshold t.</a:t>
            </a:r>
          </a:p>
          <a:p>
            <a:endParaRPr lang="en-US" altLang="en-US">
              <a:latin typeface="Open Sans" panose="020B0606030504020204" pitchFamily="34" charset="0"/>
            </a:endParaRPr>
          </a:p>
        </p:txBody>
      </p:sp>
      <p:sp>
        <p:nvSpPr>
          <p:cNvPr id="19460" name="Slide Number Placeholder 5">
            <a:extLst>
              <a:ext uri="{FF2B5EF4-FFF2-40B4-BE49-F238E27FC236}">
                <a16:creationId xmlns:a16="http://schemas.microsoft.com/office/drawing/2014/main" id="{FBB90F58-A9FC-4E89-9680-5ED453F81DA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pPr>
            <a:fld id="{EA6E6F60-FCC4-4D03-801E-BF5250823E12}" type="slidenum">
              <a:rPr lang="en-US" altLang="en-US" sz="1200" smtClean="0">
                <a:solidFill>
                  <a:srgbClr val="898989"/>
                </a:solidFill>
              </a:rPr>
              <a:pPr>
                <a:spcBef>
                  <a:spcPct val="0"/>
                </a:spcBef>
                <a:buFont typeface="Arial" panose="020B0604020202020204" pitchFamily="34" charset="0"/>
                <a:buNone/>
              </a:pPr>
              <a:t>13</a:t>
            </a:fld>
            <a:endParaRPr lang="en-US" altLang="en-US" sz="1200">
              <a:solidFill>
                <a:srgbClr val="898989"/>
              </a:solidFill>
            </a:endParaRPr>
          </a:p>
        </p:txBody>
      </p:sp>
      <p:graphicFrame>
        <p:nvGraphicFramePr>
          <p:cNvPr id="19461" name="Object 1">
            <a:extLst>
              <a:ext uri="{FF2B5EF4-FFF2-40B4-BE49-F238E27FC236}">
                <a16:creationId xmlns:a16="http://schemas.microsoft.com/office/drawing/2014/main" id="{1F055B41-C2F9-8666-CB45-54E0F67CA3D6}"/>
              </a:ext>
            </a:extLst>
          </p:cNvPr>
          <p:cNvGraphicFramePr>
            <a:graphicFrameLocks/>
          </p:cNvGraphicFramePr>
          <p:nvPr/>
        </p:nvGraphicFramePr>
        <p:xfrm>
          <a:off x="4495800" y="1528763"/>
          <a:ext cx="4800600" cy="3043237"/>
        </p:xfrm>
        <a:graphic>
          <a:graphicData uri="http://schemas.openxmlformats.org/presentationml/2006/ole">
            <mc:AlternateContent xmlns:mc="http://schemas.openxmlformats.org/markup-compatibility/2006">
              <mc:Choice xmlns:v="urn:schemas-microsoft-com:vml" Requires="v">
                <p:oleObj r:id="rId2" imgW="6849720" imgH="4440960" progId="Visio.Drawing.11">
                  <p:embed/>
                </p:oleObj>
              </mc:Choice>
              <mc:Fallback>
                <p:oleObj r:id="rId2" imgW="6849720" imgH="4440960" progId="Visio.Drawing.11">
                  <p:embed/>
                  <p:pic>
                    <p:nvPicPr>
                      <p:cNvPr id="19461" name="Object 1">
                        <a:extLst>
                          <a:ext uri="{FF2B5EF4-FFF2-40B4-BE49-F238E27FC236}">
                            <a16:creationId xmlns:a16="http://schemas.microsoft.com/office/drawing/2014/main" id="{1F055B41-C2F9-8666-CB45-54E0F67CA3D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528763"/>
                        <a:ext cx="4800600" cy="304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62" name="Content Placeholder 1081348">
            <a:extLst>
              <a:ext uri="{FF2B5EF4-FFF2-40B4-BE49-F238E27FC236}">
                <a16:creationId xmlns:a16="http://schemas.microsoft.com/office/drawing/2014/main" id="{1F4F574D-AB60-C750-1872-E221F328B0BD}"/>
              </a:ext>
            </a:extLst>
          </p:cNvPr>
          <p:cNvGraphicFramePr>
            <a:graphicFrameLocks/>
          </p:cNvGraphicFramePr>
          <p:nvPr/>
        </p:nvGraphicFramePr>
        <p:xfrm>
          <a:off x="5486400" y="5105400"/>
          <a:ext cx="2487613" cy="746125"/>
        </p:xfrm>
        <a:graphic>
          <a:graphicData uri="http://schemas.openxmlformats.org/presentationml/2006/ole">
            <mc:AlternateContent xmlns:mc="http://schemas.openxmlformats.org/markup-compatibility/2006">
              <mc:Choice xmlns:v="urn:schemas-microsoft-com:vml" Requires="v">
                <p:oleObj r:id="rId4" imgW="1143000" imgH="342900" progId="Equation.3">
                  <p:embed/>
                </p:oleObj>
              </mc:Choice>
              <mc:Fallback>
                <p:oleObj r:id="rId4" imgW="1143000" imgH="342900" progId="Equation.3">
                  <p:embed/>
                  <p:pic>
                    <p:nvPicPr>
                      <p:cNvPr id="19462" name="Content Placeholder 1081348">
                        <a:extLst>
                          <a:ext uri="{FF2B5EF4-FFF2-40B4-BE49-F238E27FC236}">
                            <a16:creationId xmlns:a16="http://schemas.microsoft.com/office/drawing/2014/main" id="{1F4F574D-AB60-C750-1872-E221F328B0B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105400"/>
                        <a:ext cx="2487613"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3" name="Text Box 1081349">
            <a:extLst>
              <a:ext uri="{FF2B5EF4-FFF2-40B4-BE49-F238E27FC236}">
                <a16:creationId xmlns:a16="http://schemas.microsoft.com/office/drawing/2014/main" id="{DEC6F8AF-409D-5C03-D642-E23BF1D413FD}"/>
              </a:ext>
            </a:extLst>
          </p:cNvPr>
          <p:cNvSpPr txBox="1">
            <a:spLocks noChangeArrowheads="1"/>
          </p:cNvSpPr>
          <p:nvPr/>
        </p:nvSpPr>
        <p:spPr bwMode="auto">
          <a:xfrm>
            <a:off x="4800600" y="4572000"/>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2000" b="1">
                <a:latin typeface="Arial" panose="020B0604020202020204" pitchFamily="34" charset="0"/>
                <a:cs typeface="Times New Roman" panose="02020603050405020304" pitchFamily="18" charset="0"/>
              </a:rPr>
              <a:t>Perceptron Model</a:t>
            </a:r>
          </a:p>
        </p:txBody>
      </p:sp>
      <p:graphicFrame>
        <p:nvGraphicFramePr>
          <p:cNvPr id="19464" name="Object 1081350">
            <a:extLst>
              <a:ext uri="{FF2B5EF4-FFF2-40B4-BE49-F238E27FC236}">
                <a16:creationId xmlns:a16="http://schemas.microsoft.com/office/drawing/2014/main" id="{AAF2341A-9DC6-107A-45AD-7200FB62CA58}"/>
              </a:ext>
            </a:extLst>
          </p:cNvPr>
          <p:cNvGraphicFramePr>
            <a:graphicFrameLocks/>
          </p:cNvGraphicFramePr>
          <p:nvPr/>
        </p:nvGraphicFramePr>
        <p:xfrm>
          <a:off x="5459413" y="5807075"/>
          <a:ext cx="2901950" cy="746125"/>
        </p:xfrm>
        <a:graphic>
          <a:graphicData uri="http://schemas.openxmlformats.org/presentationml/2006/ole">
            <mc:AlternateContent xmlns:mc="http://schemas.openxmlformats.org/markup-compatibility/2006">
              <mc:Choice xmlns:v="urn:schemas-microsoft-com:vml" Requires="v">
                <p:oleObj r:id="rId6" imgW="1333500" imgH="342900" progId="Equation.3">
                  <p:embed/>
                </p:oleObj>
              </mc:Choice>
              <mc:Fallback>
                <p:oleObj r:id="rId6" imgW="1333500" imgH="342900" progId="Equation.3">
                  <p:embed/>
                  <p:pic>
                    <p:nvPicPr>
                      <p:cNvPr id="19464" name="Object 1081350">
                        <a:extLst>
                          <a:ext uri="{FF2B5EF4-FFF2-40B4-BE49-F238E27FC236}">
                            <a16:creationId xmlns:a16="http://schemas.microsoft.com/office/drawing/2014/main" id="{AAF2341A-9DC6-107A-45AD-7200FB62CA5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59413" y="5807075"/>
                        <a:ext cx="290195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5" name="Text Box 1081351">
            <a:extLst>
              <a:ext uri="{FF2B5EF4-FFF2-40B4-BE49-F238E27FC236}">
                <a16:creationId xmlns:a16="http://schemas.microsoft.com/office/drawing/2014/main" id="{432A6162-328A-FFA4-DB01-9790197BA820}"/>
              </a:ext>
            </a:extLst>
          </p:cNvPr>
          <p:cNvSpPr txBox="1">
            <a:spLocks noChangeArrowheads="1"/>
          </p:cNvSpPr>
          <p:nvPr/>
        </p:nvSpPr>
        <p:spPr bwMode="auto">
          <a:xfrm>
            <a:off x="8153400" y="51816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1800">
                <a:latin typeface="Arial" panose="020B0604020202020204" pitchFamily="34" charset="0"/>
                <a:cs typeface="Times New Roman" panose="02020603050405020304" pitchFamily="18" charset="0"/>
              </a:rPr>
              <a:t>or</a:t>
            </a:r>
          </a:p>
        </p:txBody>
      </p:sp>
    </p:spTree>
  </p:cSld>
  <p:clrMapOvr>
    <a:masterClrMapping/>
  </p:clrMapOvr>
  <p:transition>
    <p:checke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AFBF68A6-D83E-BCCE-A586-FF8B0EABA6A8}"/>
              </a:ext>
            </a:extLst>
          </p:cNvPr>
          <p:cNvSpPr>
            <a:spLocks noGrp="1"/>
          </p:cNvSpPr>
          <p:nvPr>
            <p:ph type="title"/>
          </p:nvPr>
        </p:nvSpPr>
        <p:spPr/>
        <p:txBody>
          <a:bodyPr/>
          <a:lstStyle/>
          <a:p>
            <a:r>
              <a:rPr lang="en-US" altLang="en-US">
                <a:latin typeface="Open Sans" panose="020B0606030504020204" pitchFamily="34" charset="0"/>
              </a:rPr>
              <a:t>Perceptron</a:t>
            </a:r>
          </a:p>
        </p:txBody>
      </p:sp>
      <p:sp>
        <p:nvSpPr>
          <p:cNvPr id="20483" name="Slide Number Placeholder 3">
            <a:extLst>
              <a:ext uri="{FF2B5EF4-FFF2-40B4-BE49-F238E27FC236}">
                <a16:creationId xmlns:a16="http://schemas.microsoft.com/office/drawing/2014/main" id="{F3A4D9E6-AB86-DFD6-58F0-0F7092184FC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4AF23BC-A3AF-4107-AE3F-DAE7CA1D8E6E}"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graphicFrame>
        <p:nvGraphicFramePr>
          <p:cNvPr id="20484" name="Object 2">
            <a:extLst>
              <a:ext uri="{FF2B5EF4-FFF2-40B4-BE49-F238E27FC236}">
                <a16:creationId xmlns:a16="http://schemas.microsoft.com/office/drawing/2014/main" id="{A0766EB5-83E8-EEC7-85CC-EB5135DFE99F}"/>
              </a:ext>
            </a:extLst>
          </p:cNvPr>
          <p:cNvGraphicFramePr>
            <a:graphicFrameLocks/>
          </p:cNvGraphicFramePr>
          <p:nvPr/>
        </p:nvGraphicFramePr>
        <p:xfrm>
          <a:off x="912813" y="1295400"/>
          <a:ext cx="8078787" cy="3503613"/>
        </p:xfrm>
        <a:graphic>
          <a:graphicData uri="http://schemas.openxmlformats.org/presentationml/2006/ole">
            <mc:AlternateContent xmlns:mc="http://schemas.openxmlformats.org/markup-compatibility/2006">
              <mc:Choice xmlns:v="urn:schemas-microsoft-com:vml" Requires="v">
                <p:oleObj r:id="rId2" imgW="9050040" imgH="4012560" progId="Visio.Drawing.11">
                  <p:embed/>
                </p:oleObj>
              </mc:Choice>
              <mc:Fallback>
                <p:oleObj r:id="rId2" imgW="9050040" imgH="4012560" progId="Visio.Drawing.11">
                  <p:embed/>
                  <p:pic>
                    <p:nvPicPr>
                      <p:cNvPr id="20484" name="Object 2">
                        <a:extLst>
                          <a:ext uri="{FF2B5EF4-FFF2-40B4-BE49-F238E27FC236}">
                            <a16:creationId xmlns:a16="http://schemas.microsoft.com/office/drawing/2014/main" id="{A0766EB5-83E8-EEC7-85CC-EB5135DFE9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13" y="1295400"/>
                        <a:ext cx="8078787"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5" name="Object 3">
            <a:extLst>
              <a:ext uri="{FF2B5EF4-FFF2-40B4-BE49-F238E27FC236}">
                <a16:creationId xmlns:a16="http://schemas.microsoft.com/office/drawing/2014/main" id="{3DD578E3-E03A-3C77-A0FF-D2D5A9F3A67E}"/>
              </a:ext>
            </a:extLst>
          </p:cNvPr>
          <p:cNvGraphicFramePr>
            <a:graphicFrameLocks/>
          </p:cNvGraphicFramePr>
          <p:nvPr/>
        </p:nvGraphicFramePr>
        <p:xfrm>
          <a:off x="1889125" y="5140325"/>
          <a:ext cx="5432425" cy="1412875"/>
        </p:xfrm>
        <a:graphic>
          <a:graphicData uri="http://schemas.openxmlformats.org/presentationml/2006/ole">
            <mc:AlternateContent xmlns:mc="http://schemas.openxmlformats.org/markup-compatibility/2006">
              <mc:Choice xmlns:v="urn:schemas-microsoft-com:vml" Requires="v">
                <p:oleObj r:id="rId4" imgW="2399259" imgH="710891" progId="Equation.3">
                  <p:embed/>
                </p:oleObj>
              </mc:Choice>
              <mc:Fallback>
                <p:oleObj r:id="rId4" imgW="2399259" imgH="710891" progId="Equation.3">
                  <p:embed/>
                  <p:pic>
                    <p:nvPicPr>
                      <p:cNvPr id="20485" name="Object 3">
                        <a:extLst>
                          <a:ext uri="{FF2B5EF4-FFF2-40B4-BE49-F238E27FC236}">
                            <a16:creationId xmlns:a16="http://schemas.microsoft.com/office/drawing/2014/main" id="{3DD578E3-E03A-3C77-A0FF-D2D5A9F3A67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9125" y="5140325"/>
                        <a:ext cx="5432425"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BDE37-307B-68E2-0F9B-68629A95D894}"/>
              </a:ext>
            </a:extLst>
          </p:cNvPr>
          <p:cNvSpPr>
            <a:spLocks noGrp="1"/>
          </p:cNvSpPr>
          <p:nvPr>
            <p:ph type="title"/>
          </p:nvPr>
        </p:nvSpPr>
        <p:spPr>
          <a:xfrm>
            <a:off x="2251075" y="239713"/>
            <a:ext cx="6324600" cy="1143000"/>
          </a:xfrm>
        </p:spPr>
        <p:txBody>
          <a:bodyPr>
            <a:normAutofit fontScale="90000"/>
          </a:bodyPr>
          <a:lstStyle/>
          <a:p>
            <a:pPr>
              <a:defRPr/>
            </a:pPr>
            <a:r>
              <a:rPr lang="en-US" dirty="0"/>
              <a:t>General Structure of Perceptron</a:t>
            </a:r>
          </a:p>
        </p:txBody>
      </p:sp>
      <p:sp>
        <p:nvSpPr>
          <p:cNvPr id="21507" name="Slide Number Placeholder 3">
            <a:extLst>
              <a:ext uri="{FF2B5EF4-FFF2-40B4-BE49-F238E27FC236}">
                <a16:creationId xmlns:a16="http://schemas.microsoft.com/office/drawing/2014/main" id="{3862306A-0BFD-EFDF-C70D-58EB7729CF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859E86B-EE21-4338-8998-894BAF8C9A62}"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grpSp>
        <p:nvGrpSpPr>
          <p:cNvPr id="5" name="Group 4">
            <a:extLst>
              <a:ext uri="{FF2B5EF4-FFF2-40B4-BE49-F238E27FC236}">
                <a16:creationId xmlns:a16="http://schemas.microsoft.com/office/drawing/2014/main" id="{88612AB3-3C51-65ED-F00E-CFA89B059CFB}"/>
              </a:ext>
            </a:extLst>
          </p:cNvPr>
          <p:cNvGrpSpPr>
            <a:grpSpLocks/>
          </p:cNvGrpSpPr>
          <p:nvPr/>
        </p:nvGrpSpPr>
        <p:grpSpPr bwMode="auto">
          <a:xfrm>
            <a:off x="889000" y="2876550"/>
            <a:ext cx="777875" cy="777875"/>
            <a:chOff x="726382" y="2740536"/>
            <a:chExt cx="778737" cy="778737"/>
          </a:xfrm>
        </p:grpSpPr>
        <p:sp>
          <p:nvSpPr>
            <p:cNvPr id="6" name="Oval 5">
              <a:extLst>
                <a:ext uri="{FF2B5EF4-FFF2-40B4-BE49-F238E27FC236}">
                  <a16:creationId xmlns:a16="http://schemas.microsoft.com/office/drawing/2014/main" id="{2E9148ED-5D49-DB87-A817-358C4C547A11}"/>
                </a:ext>
              </a:extLst>
            </p:cNvPr>
            <p:cNvSpPr/>
            <p:nvPr/>
          </p:nvSpPr>
          <p:spPr>
            <a:xfrm>
              <a:off x="726382" y="2740536"/>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7" name="Rectangle 6">
              <a:extLst>
                <a:ext uri="{FF2B5EF4-FFF2-40B4-BE49-F238E27FC236}">
                  <a16:creationId xmlns:a16="http://schemas.microsoft.com/office/drawing/2014/main" id="{770A4C67-D792-1577-FE5F-3A5BD571639E}"/>
                </a:ext>
              </a:extLst>
            </p:cNvPr>
            <p:cNvSpPr>
              <a:spLocks noRot="1" noChangeAspect="1" noMove="1" noResize="1" noEditPoints="1" noAdjustHandles="1" noChangeArrowheads="1" noChangeShapeType="1" noTextEdit="1"/>
            </p:cNvSpPr>
            <p:nvPr/>
          </p:nvSpPr>
          <p:spPr>
            <a:xfrm>
              <a:off x="841763" y="2843173"/>
              <a:ext cx="555088" cy="461665"/>
            </a:xfrm>
            <a:prstGeom prst="rect">
              <a:avLst/>
            </a:prstGeom>
            <a:blipFill>
              <a:blip r:embed="rId2"/>
              <a:stretch>
                <a:fillRect b="-4000"/>
              </a:stretch>
            </a:blipFill>
          </p:spPr>
          <p:txBody>
            <a:bodyPr/>
            <a:lstStyle/>
            <a:p>
              <a:pPr>
                <a:defRPr/>
              </a:pPr>
              <a:r>
                <a:rPr lang="en-US">
                  <a:noFill/>
                </a:rPr>
                <a:t> </a:t>
              </a:r>
            </a:p>
          </p:txBody>
        </p:sp>
      </p:grpSp>
      <p:grpSp>
        <p:nvGrpSpPr>
          <p:cNvPr id="8" name="Group 7">
            <a:extLst>
              <a:ext uri="{FF2B5EF4-FFF2-40B4-BE49-F238E27FC236}">
                <a16:creationId xmlns:a16="http://schemas.microsoft.com/office/drawing/2014/main" id="{874BBF0B-2B73-C851-1D16-130AFB1D9242}"/>
              </a:ext>
            </a:extLst>
          </p:cNvPr>
          <p:cNvGrpSpPr>
            <a:grpSpLocks/>
          </p:cNvGrpSpPr>
          <p:nvPr/>
        </p:nvGrpSpPr>
        <p:grpSpPr bwMode="auto">
          <a:xfrm>
            <a:off x="889000" y="4295775"/>
            <a:ext cx="777875" cy="779463"/>
            <a:chOff x="726382" y="4160279"/>
            <a:chExt cx="778737" cy="778737"/>
          </a:xfrm>
        </p:grpSpPr>
        <p:sp>
          <p:nvSpPr>
            <p:cNvPr id="9" name="Oval 8">
              <a:extLst>
                <a:ext uri="{FF2B5EF4-FFF2-40B4-BE49-F238E27FC236}">
                  <a16:creationId xmlns:a16="http://schemas.microsoft.com/office/drawing/2014/main" id="{2172E769-BEF5-F27F-6FFD-180DE9E6B1B7}"/>
                </a:ext>
              </a:extLst>
            </p:cNvPr>
            <p:cNvSpPr/>
            <p:nvPr/>
          </p:nvSpPr>
          <p:spPr>
            <a:xfrm>
              <a:off x="726382" y="4160279"/>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10" name="Rectangle 9">
              <a:extLst>
                <a:ext uri="{FF2B5EF4-FFF2-40B4-BE49-F238E27FC236}">
                  <a16:creationId xmlns:a16="http://schemas.microsoft.com/office/drawing/2014/main" id="{55173506-EB69-8A8A-661C-47D6455C06A9}"/>
                </a:ext>
              </a:extLst>
            </p:cNvPr>
            <p:cNvSpPr>
              <a:spLocks noRot="1" noChangeAspect="1" noMove="1" noResize="1" noEditPoints="1" noAdjustHandles="1" noChangeArrowheads="1" noChangeShapeType="1" noTextEdit="1"/>
            </p:cNvSpPr>
            <p:nvPr/>
          </p:nvSpPr>
          <p:spPr>
            <a:xfrm>
              <a:off x="841763" y="4257980"/>
              <a:ext cx="574965" cy="461665"/>
            </a:xfrm>
            <a:prstGeom prst="rect">
              <a:avLst/>
            </a:prstGeom>
            <a:blipFill>
              <a:blip r:embed="rId3"/>
              <a:stretch>
                <a:fillRect/>
              </a:stretch>
            </a:blipFill>
          </p:spPr>
          <p:txBody>
            <a:bodyPr/>
            <a:lstStyle/>
            <a:p>
              <a:pPr>
                <a:defRPr/>
              </a:pPr>
              <a:r>
                <a:rPr lang="en-US">
                  <a:noFill/>
                </a:rPr>
                <a:t> </a:t>
              </a:r>
            </a:p>
          </p:txBody>
        </p:sp>
      </p:grpSp>
      <p:grpSp>
        <p:nvGrpSpPr>
          <p:cNvPr id="12" name="Group 11">
            <a:extLst>
              <a:ext uri="{FF2B5EF4-FFF2-40B4-BE49-F238E27FC236}">
                <a16:creationId xmlns:a16="http://schemas.microsoft.com/office/drawing/2014/main" id="{503C7290-6E95-CFC3-99E0-D953375997D3}"/>
              </a:ext>
            </a:extLst>
          </p:cNvPr>
          <p:cNvGrpSpPr>
            <a:grpSpLocks/>
          </p:cNvGrpSpPr>
          <p:nvPr/>
        </p:nvGrpSpPr>
        <p:grpSpPr bwMode="auto">
          <a:xfrm>
            <a:off x="889000" y="5392738"/>
            <a:ext cx="777875" cy="779462"/>
            <a:chOff x="726381" y="5257640"/>
            <a:chExt cx="778737" cy="778737"/>
          </a:xfrm>
        </p:grpSpPr>
        <p:sp>
          <p:nvSpPr>
            <p:cNvPr id="13" name="Oval 12">
              <a:extLst>
                <a:ext uri="{FF2B5EF4-FFF2-40B4-BE49-F238E27FC236}">
                  <a16:creationId xmlns:a16="http://schemas.microsoft.com/office/drawing/2014/main" id="{2438967F-0335-6147-ECD9-95F53749BD42}"/>
                </a:ext>
              </a:extLst>
            </p:cNvPr>
            <p:cNvSpPr/>
            <p:nvPr/>
          </p:nvSpPr>
          <p:spPr>
            <a:xfrm>
              <a:off x="726381" y="5257640"/>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14" name="Rectangle 13">
              <a:extLst>
                <a:ext uri="{FF2B5EF4-FFF2-40B4-BE49-F238E27FC236}">
                  <a16:creationId xmlns:a16="http://schemas.microsoft.com/office/drawing/2014/main" id="{5D0F3BFF-4C13-11AF-6879-190A87D21C9C}"/>
                </a:ext>
              </a:extLst>
            </p:cNvPr>
            <p:cNvSpPr>
              <a:spLocks noRot="1" noChangeAspect="1" noMove="1" noResize="1" noEditPoints="1" noAdjustHandles="1" noChangeArrowheads="1" noChangeShapeType="1" noTextEdit="1"/>
            </p:cNvSpPr>
            <p:nvPr/>
          </p:nvSpPr>
          <p:spPr>
            <a:xfrm>
              <a:off x="904087" y="5416175"/>
              <a:ext cx="421910" cy="461665"/>
            </a:xfrm>
            <a:prstGeom prst="rect">
              <a:avLst/>
            </a:prstGeom>
            <a:blipFill>
              <a:blip r:embed="rId4"/>
              <a:stretch>
                <a:fillRect/>
              </a:stretch>
            </a:blipFill>
          </p:spPr>
          <p:txBody>
            <a:bodyPr/>
            <a:lstStyle/>
            <a:p>
              <a:pPr>
                <a:defRPr/>
              </a:pPr>
              <a:r>
                <a:rPr lang="en-US">
                  <a:noFill/>
                </a:rPr>
                <a:t> </a:t>
              </a:r>
            </a:p>
          </p:txBody>
        </p:sp>
      </p:grpSp>
      <p:grpSp>
        <p:nvGrpSpPr>
          <p:cNvPr id="15" name="Group 14">
            <a:extLst>
              <a:ext uri="{FF2B5EF4-FFF2-40B4-BE49-F238E27FC236}">
                <a16:creationId xmlns:a16="http://schemas.microsoft.com/office/drawing/2014/main" id="{333E91E0-B951-1DBD-5EB4-F3FCB364020B}"/>
              </a:ext>
            </a:extLst>
          </p:cNvPr>
          <p:cNvGrpSpPr>
            <a:grpSpLocks/>
          </p:cNvGrpSpPr>
          <p:nvPr/>
        </p:nvGrpSpPr>
        <p:grpSpPr bwMode="auto">
          <a:xfrm>
            <a:off x="1765300" y="2233613"/>
            <a:ext cx="1314450" cy="1190625"/>
            <a:chOff x="1602790" y="2098026"/>
            <a:chExt cx="1313934" cy="1190479"/>
          </a:xfrm>
        </p:grpSpPr>
        <p:cxnSp>
          <p:nvCxnSpPr>
            <p:cNvPr id="16" name="Straight Arrow Connector 15">
              <a:extLst>
                <a:ext uri="{FF2B5EF4-FFF2-40B4-BE49-F238E27FC236}">
                  <a16:creationId xmlns:a16="http://schemas.microsoft.com/office/drawing/2014/main" id="{B56C539D-89A6-10C1-B4FD-4FAF026C4FF9}"/>
                </a:ext>
              </a:extLst>
            </p:cNvPr>
            <p:cNvCxnSpPr>
              <a:endCxn id="35" idx="1"/>
            </p:cNvCxnSpPr>
            <p:nvPr/>
          </p:nvCxnSpPr>
          <p:spPr>
            <a:xfrm>
              <a:off x="1602790" y="2304376"/>
              <a:ext cx="1313934" cy="984129"/>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F3BD002-3C63-A468-1098-AA6955FCC7F1}"/>
                </a:ext>
              </a:extLst>
            </p:cNvPr>
            <p:cNvSpPr>
              <a:spLocks noRot="1" noChangeAspect="1" noMove="1" noResize="1" noEditPoints="1" noAdjustHandles="1" noChangeArrowheads="1" noChangeShapeType="1" noTextEdit="1"/>
            </p:cNvSpPr>
            <p:nvPr/>
          </p:nvSpPr>
          <p:spPr>
            <a:xfrm>
              <a:off x="1864505" y="2098026"/>
              <a:ext cx="604909" cy="461665"/>
            </a:xfrm>
            <a:prstGeom prst="rect">
              <a:avLst/>
            </a:prstGeom>
            <a:blipFill>
              <a:blip r:embed="rId5"/>
              <a:stretch>
                <a:fillRect b="-3947"/>
              </a:stretch>
            </a:blipFill>
          </p:spPr>
          <p:txBody>
            <a:bodyPr/>
            <a:lstStyle/>
            <a:p>
              <a:pPr>
                <a:defRPr/>
              </a:pPr>
              <a:r>
                <a:rPr lang="en-US">
                  <a:noFill/>
                </a:rPr>
                <a:t> </a:t>
              </a:r>
            </a:p>
          </p:txBody>
        </p:sp>
      </p:grpSp>
      <p:grpSp>
        <p:nvGrpSpPr>
          <p:cNvPr id="18" name="Group 17">
            <a:extLst>
              <a:ext uri="{FF2B5EF4-FFF2-40B4-BE49-F238E27FC236}">
                <a16:creationId xmlns:a16="http://schemas.microsoft.com/office/drawing/2014/main" id="{06CF8C73-A71B-A8E3-D80B-B727F0665FBC}"/>
              </a:ext>
            </a:extLst>
          </p:cNvPr>
          <p:cNvGrpSpPr>
            <a:grpSpLocks/>
          </p:cNvGrpSpPr>
          <p:nvPr/>
        </p:nvGrpSpPr>
        <p:grpSpPr bwMode="auto">
          <a:xfrm>
            <a:off x="1666875" y="2978150"/>
            <a:ext cx="1028700" cy="676275"/>
            <a:chOff x="1505118" y="2841655"/>
            <a:chExt cx="1027689" cy="677618"/>
          </a:xfrm>
        </p:grpSpPr>
        <p:cxnSp>
          <p:nvCxnSpPr>
            <p:cNvPr id="19" name="Straight Arrow Connector 18">
              <a:extLst>
                <a:ext uri="{FF2B5EF4-FFF2-40B4-BE49-F238E27FC236}">
                  <a16:creationId xmlns:a16="http://schemas.microsoft.com/office/drawing/2014/main" id="{849B58AD-61E6-2EC4-7CA4-E5ADAC93867B}"/>
                </a:ext>
              </a:extLst>
            </p:cNvPr>
            <p:cNvCxnSpPr/>
            <p:nvPr/>
          </p:nvCxnSpPr>
          <p:spPr>
            <a:xfrm>
              <a:off x="1505118" y="3245681"/>
              <a:ext cx="1027689" cy="273592"/>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3CCA9DB-2210-D560-6CFF-194CE67CD2B1}"/>
                </a:ext>
              </a:extLst>
            </p:cNvPr>
            <p:cNvSpPr>
              <a:spLocks noRot="1" noChangeAspect="1" noMove="1" noResize="1" noEditPoints="1" noAdjustHandles="1" noChangeArrowheads="1" noChangeShapeType="1" noTextEdit="1"/>
            </p:cNvSpPr>
            <p:nvPr/>
          </p:nvSpPr>
          <p:spPr>
            <a:xfrm>
              <a:off x="1656752" y="2841655"/>
              <a:ext cx="612026" cy="461665"/>
            </a:xfrm>
            <a:prstGeom prst="rect">
              <a:avLst/>
            </a:prstGeom>
            <a:blipFill>
              <a:blip r:embed="rId6"/>
              <a:stretch>
                <a:fillRect b="-3947"/>
              </a:stretch>
            </a:blipFill>
          </p:spPr>
          <p:txBody>
            <a:bodyPr/>
            <a:lstStyle/>
            <a:p>
              <a:pPr>
                <a:defRPr/>
              </a:pPr>
              <a:r>
                <a:rPr lang="en-US">
                  <a:noFill/>
                </a:rPr>
                <a:t> </a:t>
              </a:r>
            </a:p>
          </p:txBody>
        </p:sp>
      </p:grpSp>
      <p:grpSp>
        <p:nvGrpSpPr>
          <p:cNvPr id="21" name="Group 20">
            <a:extLst>
              <a:ext uri="{FF2B5EF4-FFF2-40B4-BE49-F238E27FC236}">
                <a16:creationId xmlns:a16="http://schemas.microsoft.com/office/drawing/2014/main" id="{A910A948-3740-1787-E5BC-54D34F6739DD}"/>
              </a:ext>
            </a:extLst>
          </p:cNvPr>
          <p:cNvGrpSpPr>
            <a:grpSpLocks/>
          </p:cNvGrpSpPr>
          <p:nvPr/>
        </p:nvGrpSpPr>
        <p:grpSpPr bwMode="auto">
          <a:xfrm>
            <a:off x="1666875" y="4189413"/>
            <a:ext cx="966788" cy="685800"/>
            <a:chOff x="1505118" y="4054111"/>
            <a:chExt cx="965373" cy="684953"/>
          </a:xfrm>
        </p:grpSpPr>
        <p:cxnSp>
          <p:nvCxnSpPr>
            <p:cNvPr id="22" name="Straight Arrow Connector 21">
              <a:extLst>
                <a:ext uri="{FF2B5EF4-FFF2-40B4-BE49-F238E27FC236}">
                  <a16:creationId xmlns:a16="http://schemas.microsoft.com/office/drawing/2014/main" id="{10569BAC-D67C-155B-D83A-2247B654A3E3}"/>
                </a:ext>
              </a:extLst>
            </p:cNvPr>
            <p:cNvCxnSpPr/>
            <p:nvPr/>
          </p:nvCxnSpPr>
          <p:spPr>
            <a:xfrm flipV="1">
              <a:off x="1505118" y="4054111"/>
              <a:ext cx="965373" cy="372601"/>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568F635-1609-839C-146A-826E0E9427DA}"/>
                </a:ext>
              </a:extLst>
            </p:cNvPr>
            <p:cNvSpPr>
              <a:spLocks noRot="1" noChangeAspect="1" noMove="1" noResize="1" noEditPoints="1" noAdjustHandles="1" noChangeArrowheads="1" noChangeShapeType="1" noTextEdit="1"/>
            </p:cNvSpPr>
            <p:nvPr/>
          </p:nvSpPr>
          <p:spPr>
            <a:xfrm>
              <a:off x="1652338" y="4277399"/>
              <a:ext cx="612026" cy="461665"/>
            </a:xfrm>
            <a:prstGeom prst="rect">
              <a:avLst/>
            </a:prstGeom>
            <a:blipFill>
              <a:blip r:embed="rId7"/>
              <a:stretch>
                <a:fillRect b="-2632"/>
              </a:stretch>
            </a:blipFill>
          </p:spPr>
          <p:txBody>
            <a:bodyPr/>
            <a:lstStyle/>
            <a:p>
              <a:pPr>
                <a:defRPr/>
              </a:pPr>
              <a:r>
                <a:rPr lang="en-US">
                  <a:noFill/>
                </a:rPr>
                <a:t> </a:t>
              </a:r>
            </a:p>
          </p:txBody>
        </p:sp>
      </p:grpSp>
      <p:grpSp>
        <p:nvGrpSpPr>
          <p:cNvPr id="24" name="Group 23">
            <a:extLst>
              <a:ext uri="{FF2B5EF4-FFF2-40B4-BE49-F238E27FC236}">
                <a16:creationId xmlns:a16="http://schemas.microsoft.com/office/drawing/2014/main" id="{13070C38-B2E6-23BC-9FE2-52E91F960902}"/>
              </a:ext>
            </a:extLst>
          </p:cNvPr>
          <p:cNvGrpSpPr>
            <a:grpSpLocks/>
          </p:cNvGrpSpPr>
          <p:nvPr/>
        </p:nvGrpSpPr>
        <p:grpSpPr bwMode="auto">
          <a:xfrm>
            <a:off x="1765300" y="4794250"/>
            <a:ext cx="1314450" cy="1055688"/>
            <a:chOff x="1602790" y="4658933"/>
            <a:chExt cx="1313934" cy="1055660"/>
          </a:xfrm>
        </p:grpSpPr>
        <p:cxnSp>
          <p:nvCxnSpPr>
            <p:cNvPr id="25" name="Straight Arrow Connector 24">
              <a:extLst>
                <a:ext uri="{FF2B5EF4-FFF2-40B4-BE49-F238E27FC236}">
                  <a16:creationId xmlns:a16="http://schemas.microsoft.com/office/drawing/2014/main" id="{E3D255F0-8370-AD5A-7A9F-7213C65E70A9}"/>
                </a:ext>
              </a:extLst>
            </p:cNvPr>
            <p:cNvCxnSpPr>
              <a:endCxn id="35" idx="3"/>
            </p:cNvCxnSpPr>
            <p:nvPr/>
          </p:nvCxnSpPr>
          <p:spPr>
            <a:xfrm flipV="1">
              <a:off x="1602790" y="4658933"/>
              <a:ext cx="1313934" cy="939775"/>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6DB149E2-3FC4-5AAA-F595-9382E6C1311C}"/>
                </a:ext>
              </a:extLst>
            </p:cNvPr>
            <p:cNvSpPr>
              <a:spLocks noRot="1" noChangeAspect="1" noMove="1" noResize="1" noEditPoints="1" noAdjustHandles="1" noChangeArrowheads="1" noChangeShapeType="1" noTextEdit="1"/>
            </p:cNvSpPr>
            <p:nvPr/>
          </p:nvSpPr>
          <p:spPr>
            <a:xfrm>
              <a:off x="1864505" y="5252928"/>
              <a:ext cx="596116" cy="461665"/>
            </a:xfrm>
            <a:prstGeom prst="rect">
              <a:avLst/>
            </a:prstGeom>
            <a:blipFill>
              <a:blip r:embed="rId8"/>
              <a:stretch>
                <a:fillRect/>
              </a:stretch>
            </a:blipFill>
          </p:spPr>
          <p:txBody>
            <a:bodyPr/>
            <a:lstStyle/>
            <a:p>
              <a:pPr>
                <a:defRPr/>
              </a:pPr>
              <a:r>
                <a:rPr lang="en-US">
                  <a:noFill/>
                </a:rPr>
                <a:t> </a:t>
              </a:r>
            </a:p>
          </p:txBody>
        </p:sp>
      </p:grpSp>
      <p:cxnSp>
        <p:nvCxnSpPr>
          <p:cNvPr id="27" name="Straight Arrow Connector 26">
            <a:extLst>
              <a:ext uri="{FF2B5EF4-FFF2-40B4-BE49-F238E27FC236}">
                <a16:creationId xmlns:a16="http://schemas.microsoft.com/office/drawing/2014/main" id="{C26D851B-30A9-EE36-071B-14FF9B6DFBCD}"/>
              </a:ext>
            </a:extLst>
          </p:cNvPr>
          <p:cNvCxnSpPr>
            <a:stCxn id="35" idx="6"/>
            <a:endCxn id="46" idx="2"/>
          </p:cNvCxnSpPr>
          <p:nvPr/>
        </p:nvCxnSpPr>
        <p:spPr>
          <a:xfrm>
            <a:off x="4570413" y="3973513"/>
            <a:ext cx="709612" cy="0"/>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8D63737-5DF7-5C7A-D02B-559EF82C1461}"/>
              </a:ext>
            </a:extLst>
          </p:cNvPr>
          <p:cNvCxnSpPr>
            <a:stCxn id="46" idx="6"/>
            <a:endCxn id="30" idx="2"/>
          </p:cNvCxnSpPr>
          <p:nvPr/>
        </p:nvCxnSpPr>
        <p:spPr>
          <a:xfrm flipV="1">
            <a:off x="7216775" y="3973513"/>
            <a:ext cx="728663" cy="0"/>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8E016D46-DF79-E15F-4D6D-10BC95091C4C}"/>
              </a:ext>
            </a:extLst>
          </p:cNvPr>
          <p:cNvGrpSpPr>
            <a:grpSpLocks/>
          </p:cNvGrpSpPr>
          <p:nvPr/>
        </p:nvGrpSpPr>
        <p:grpSpPr bwMode="auto">
          <a:xfrm>
            <a:off x="7945438" y="3489325"/>
            <a:ext cx="969962" cy="968375"/>
            <a:chOff x="7783452" y="3353125"/>
            <a:chExt cx="969540" cy="969540"/>
          </a:xfrm>
        </p:grpSpPr>
        <p:sp>
          <p:nvSpPr>
            <p:cNvPr id="30" name="Oval 29">
              <a:extLst>
                <a:ext uri="{FF2B5EF4-FFF2-40B4-BE49-F238E27FC236}">
                  <a16:creationId xmlns:a16="http://schemas.microsoft.com/office/drawing/2014/main" id="{68C4DB0D-0008-854F-112B-98AF19F78747}"/>
                </a:ext>
              </a:extLst>
            </p:cNvPr>
            <p:cNvSpPr/>
            <p:nvPr/>
          </p:nvSpPr>
          <p:spPr>
            <a:xfrm>
              <a:off x="7783452" y="3353125"/>
              <a:ext cx="969540" cy="969540"/>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21554" name="TextBox 30">
              <a:extLst>
                <a:ext uri="{FF2B5EF4-FFF2-40B4-BE49-F238E27FC236}">
                  <a16:creationId xmlns:a16="http://schemas.microsoft.com/office/drawing/2014/main" id="{02BFC930-CDED-FBE7-6DF7-AF05BEC5F609}"/>
                </a:ext>
              </a:extLst>
            </p:cNvPr>
            <p:cNvSpPr txBox="1">
              <a:spLocks noChangeArrowheads="1"/>
            </p:cNvSpPr>
            <p:nvPr/>
          </p:nvSpPr>
          <p:spPr bwMode="auto">
            <a:xfrm>
              <a:off x="7815819" y="3491440"/>
              <a:ext cx="895149"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spcAft>
                  <a:spcPts val="600"/>
                </a:spcAft>
                <a:buFontTx/>
                <a:buNone/>
              </a:pPr>
              <a:r>
                <a:rPr lang="en-US" altLang="en-US" sz="1600">
                  <a:solidFill>
                    <a:srgbClr val="00B0F0"/>
                  </a:solidFill>
                  <a:latin typeface="Arial" panose="020B0604020202020204" pitchFamily="34" charset="0"/>
                </a:rPr>
                <a:t>Yes</a:t>
              </a:r>
              <a:endParaRPr lang="id-ID" altLang="en-US" sz="1600">
                <a:solidFill>
                  <a:srgbClr val="00B0F0"/>
                </a:solidFill>
                <a:latin typeface="Arial" panose="020B0604020202020204" pitchFamily="34" charset="0"/>
              </a:endParaRPr>
            </a:p>
            <a:p>
              <a:pPr algn="ctr">
                <a:spcBef>
                  <a:spcPct val="0"/>
                </a:spcBef>
                <a:buFontTx/>
                <a:buNone/>
              </a:pPr>
              <a:r>
                <a:rPr lang="en-US" altLang="en-US" sz="1600">
                  <a:solidFill>
                    <a:srgbClr val="FF0000"/>
                  </a:solidFill>
                  <a:latin typeface="Arial" panose="020B0604020202020204" pitchFamily="34" charset="0"/>
                </a:rPr>
                <a:t>No</a:t>
              </a:r>
              <a:endParaRPr lang="id-ID" altLang="en-US" sz="1600">
                <a:solidFill>
                  <a:srgbClr val="FF0000"/>
                </a:solidFill>
                <a:latin typeface="Arial" panose="020B0604020202020204" pitchFamily="34" charset="0"/>
              </a:endParaRPr>
            </a:p>
          </p:txBody>
        </p:sp>
      </p:grpSp>
      <p:sp>
        <p:nvSpPr>
          <p:cNvPr id="32" name="TextBox 31">
            <a:extLst>
              <a:ext uri="{FF2B5EF4-FFF2-40B4-BE49-F238E27FC236}">
                <a16:creationId xmlns:a16="http://schemas.microsoft.com/office/drawing/2014/main" id="{F43730FF-A0C2-1C3B-29DD-8BD075B5047E}"/>
              </a:ext>
            </a:extLst>
          </p:cNvPr>
          <p:cNvSpPr txBox="1">
            <a:spLocks noChangeArrowheads="1"/>
          </p:cNvSpPr>
          <p:nvPr/>
        </p:nvSpPr>
        <p:spPr bwMode="auto">
          <a:xfrm>
            <a:off x="2720975" y="5183188"/>
            <a:ext cx="1762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id-ID" altLang="en-US" sz="1800">
                <a:latin typeface="Arial" panose="020B0604020202020204" pitchFamily="34" charset="0"/>
              </a:rPr>
              <a:t>Linear Function</a:t>
            </a:r>
          </a:p>
        </p:txBody>
      </p:sp>
      <p:sp>
        <p:nvSpPr>
          <p:cNvPr id="33" name="TextBox 32">
            <a:extLst>
              <a:ext uri="{FF2B5EF4-FFF2-40B4-BE49-F238E27FC236}">
                <a16:creationId xmlns:a16="http://schemas.microsoft.com/office/drawing/2014/main" id="{0705B8AA-31D2-3765-4133-5E1FB9AE3C5C}"/>
              </a:ext>
            </a:extLst>
          </p:cNvPr>
          <p:cNvSpPr txBox="1">
            <a:spLocks noChangeArrowheads="1"/>
          </p:cNvSpPr>
          <p:nvPr/>
        </p:nvSpPr>
        <p:spPr bwMode="auto">
          <a:xfrm>
            <a:off x="5551488" y="5122863"/>
            <a:ext cx="1762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id-ID" altLang="en-US" sz="1800">
                <a:latin typeface="Arial" panose="020B0604020202020204" pitchFamily="34" charset="0"/>
              </a:rPr>
              <a:t>Step Function</a:t>
            </a:r>
          </a:p>
        </p:txBody>
      </p:sp>
      <p:grpSp>
        <p:nvGrpSpPr>
          <p:cNvPr id="34" name="Group 33">
            <a:extLst>
              <a:ext uri="{FF2B5EF4-FFF2-40B4-BE49-F238E27FC236}">
                <a16:creationId xmlns:a16="http://schemas.microsoft.com/office/drawing/2014/main" id="{6F89276A-44B6-0258-3D6E-ADD19EA6D797}"/>
              </a:ext>
            </a:extLst>
          </p:cNvPr>
          <p:cNvGrpSpPr>
            <a:grpSpLocks/>
          </p:cNvGrpSpPr>
          <p:nvPr/>
        </p:nvGrpSpPr>
        <p:grpSpPr bwMode="auto">
          <a:xfrm>
            <a:off x="2633663" y="3005138"/>
            <a:ext cx="1936750" cy="1938337"/>
            <a:chOff x="2470491" y="2868856"/>
            <a:chExt cx="1938079" cy="1938079"/>
          </a:xfrm>
        </p:grpSpPr>
        <p:sp>
          <p:nvSpPr>
            <p:cNvPr id="35" name="Oval 34">
              <a:extLst>
                <a:ext uri="{FF2B5EF4-FFF2-40B4-BE49-F238E27FC236}">
                  <a16:creationId xmlns:a16="http://schemas.microsoft.com/office/drawing/2014/main" id="{03D872B0-65A5-37DF-EBB0-6CC9EADB50AE}"/>
                </a:ext>
              </a:extLst>
            </p:cNvPr>
            <p:cNvSpPr/>
            <p:nvPr/>
          </p:nvSpPr>
          <p:spPr>
            <a:xfrm>
              <a:off x="2470491" y="2868856"/>
              <a:ext cx="1938079" cy="1938079"/>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grpSp>
          <p:nvGrpSpPr>
            <p:cNvPr id="21547" name="Group 35">
              <a:extLst>
                <a:ext uri="{FF2B5EF4-FFF2-40B4-BE49-F238E27FC236}">
                  <a16:creationId xmlns:a16="http://schemas.microsoft.com/office/drawing/2014/main" id="{F11B8B87-E8FE-264E-B17D-3738F76ACE18}"/>
                </a:ext>
              </a:extLst>
            </p:cNvPr>
            <p:cNvGrpSpPr>
              <a:grpSpLocks/>
            </p:cNvGrpSpPr>
            <p:nvPr/>
          </p:nvGrpSpPr>
          <p:grpSpPr bwMode="auto">
            <a:xfrm>
              <a:off x="2804305" y="3288109"/>
              <a:ext cx="1302817" cy="1058287"/>
              <a:chOff x="2804305" y="3288109"/>
              <a:chExt cx="1302817" cy="1058287"/>
            </a:xfrm>
          </p:grpSpPr>
          <p:grpSp>
            <p:nvGrpSpPr>
              <p:cNvPr id="21548" name="Group 36">
                <a:extLst>
                  <a:ext uri="{FF2B5EF4-FFF2-40B4-BE49-F238E27FC236}">
                    <a16:creationId xmlns:a16="http://schemas.microsoft.com/office/drawing/2014/main" id="{069CD02E-8096-85E7-579D-8501BFD05BEA}"/>
                  </a:ext>
                </a:extLst>
              </p:cNvPr>
              <p:cNvGrpSpPr>
                <a:grpSpLocks/>
              </p:cNvGrpSpPr>
              <p:nvPr/>
            </p:nvGrpSpPr>
            <p:grpSpPr bwMode="auto">
              <a:xfrm>
                <a:off x="2804305" y="3288109"/>
                <a:ext cx="1302817" cy="1058287"/>
                <a:chOff x="2788121" y="3304293"/>
                <a:chExt cx="1302817" cy="1058287"/>
              </a:xfrm>
            </p:grpSpPr>
            <p:cxnSp>
              <p:nvCxnSpPr>
                <p:cNvPr id="40" name="Straight Connector 39">
                  <a:extLst>
                    <a:ext uri="{FF2B5EF4-FFF2-40B4-BE49-F238E27FC236}">
                      <a16:creationId xmlns:a16="http://schemas.microsoft.com/office/drawing/2014/main" id="{4D46A345-6C91-B816-4C56-C8DEDF90B0D0}"/>
                    </a:ext>
                  </a:extLst>
                </p:cNvPr>
                <p:cNvCxnSpPr/>
                <p:nvPr/>
              </p:nvCxnSpPr>
              <p:spPr>
                <a:xfrm>
                  <a:off x="2978542" y="3304084"/>
                  <a:ext cx="0" cy="1058721"/>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DCAF98D-3BF6-57EC-F5E4-04F69DBDBBC0}"/>
                    </a:ext>
                  </a:extLst>
                </p:cNvPr>
                <p:cNvCxnSpPr/>
                <p:nvPr/>
              </p:nvCxnSpPr>
              <p:spPr>
                <a:xfrm flipH="1">
                  <a:off x="2787911" y="4161220"/>
                  <a:ext cx="1302643" cy="0"/>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32E4F079-2016-F1FD-8A43-69698AE4F3F0}"/>
                  </a:ext>
                </a:extLst>
              </p:cNvPr>
              <p:cNvCxnSpPr/>
              <p:nvPr/>
            </p:nvCxnSpPr>
            <p:spPr>
              <a:xfrm>
                <a:off x="2864461" y="3502183"/>
                <a:ext cx="994457" cy="758724"/>
              </a:xfrm>
              <a:prstGeom prst="line">
                <a:avLst/>
              </a:prstGeom>
              <a:ln w="28575">
                <a:solidFill>
                  <a:srgbClr val="BE69CE"/>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79FE415-B4D9-EEF2-2C2B-73129FA42171}"/>
                  </a:ext>
                </a:extLst>
              </p:cNvPr>
              <p:cNvSpPr>
                <a:spLocks noRot="1" noChangeAspect="1" noMove="1" noResize="1" noEditPoints="1" noAdjustHandles="1" noChangeArrowheads="1" noChangeShapeType="1" noTextEdit="1"/>
              </p:cNvSpPr>
              <p:nvPr/>
            </p:nvSpPr>
            <p:spPr>
              <a:xfrm rot="2204496">
                <a:off x="2985646" y="3508507"/>
                <a:ext cx="1002454" cy="369332"/>
              </a:xfrm>
              <a:prstGeom prst="rect">
                <a:avLst/>
              </a:prstGeom>
              <a:blipFill>
                <a:blip r:embed="rId9"/>
                <a:stretch>
                  <a:fillRect/>
                </a:stretch>
              </a:blipFill>
            </p:spPr>
            <p:txBody>
              <a:bodyPr/>
              <a:lstStyle/>
              <a:p>
                <a:pPr>
                  <a:defRPr/>
                </a:pPr>
                <a:r>
                  <a:rPr lang="en-US">
                    <a:noFill/>
                  </a:rPr>
                  <a:t> </a:t>
                </a:r>
              </a:p>
            </p:txBody>
          </p:sp>
        </p:grpSp>
      </p:grpSp>
      <p:grpSp>
        <p:nvGrpSpPr>
          <p:cNvPr id="42" name="Group 41">
            <a:extLst>
              <a:ext uri="{FF2B5EF4-FFF2-40B4-BE49-F238E27FC236}">
                <a16:creationId xmlns:a16="http://schemas.microsoft.com/office/drawing/2014/main" id="{89FF829D-82DF-9290-48DE-61B896BA1039}"/>
              </a:ext>
            </a:extLst>
          </p:cNvPr>
          <p:cNvGrpSpPr>
            <a:grpSpLocks/>
          </p:cNvGrpSpPr>
          <p:nvPr/>
        </p:nvGrpSpPr>
        <p:grpSpPr bwMode="auto">
          <a:xfrm>
            <a:off x="889000" y="1774825"/>
            <a:ext cx="777875" cy="779463"/>
            <a:chOff x="726382" y="1639415"/>
            <a:chExt cx="778737" cy="778737"/>
          </a:xfrm>
        </p:grpSpPr>
        <p:sp>
          <p:nvSpPr>
            <p:cNvPr id="43" name="Oval 42">
              <a:extLst>
                <a:ext uri="{FF2B5EF4-FFF2-40B4-BE49-F238E27FC236}">
                  <a16:creationId xmlns:a16="http://schemas.microsoft.com/office/drawing/2014/main" id="{A7A11B98-E663-C753-9677-F9FE24E97118}"/>
                </a:ext>
              </a:extLst>
            </p:cNvPr>
            <p:cNvSpPr/>
            <p:nvPr/>
          </p:nvSpPr>
          <p:spPr>
            <a:xfrm>
              <a:off x="726382" y="1639415"/>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44" name="Rectangle 43">
              <a:extLst>
                <a:ext uri="{FF2B5EF4-FFF2-40B4-BE49-F238E27FC236}">
                  <a16:creationId xmlns:a16="http://schemas.microsoft.com/office/drawing/2014/main" id="{36478809-CFAC-C38A-0372-C66BB877337C}"/>
                </a:ext>
              </a:extLst>
            </p:cNvPr>
            <p:cNvSpPr>
              <a:spLocks noRot="1" noChangeAspect="1" noMove="1" noResize="1" noEditPoints="1" noAdjustHandles="1" noChangeArrowheads="1" noChangeShapeType="1" noTextEdit="1"/>
            </p:cNvSpPr>
            <p:nvPr/>
          </p:nvSpPr>
          <p:spPr>
            <a:xfrm>
              <a:off x="841763" y="1748261"/>
              <a:ext cx="547971" cy="461665"/>
            </a:xfrm>
            <a:prstGeom prst="rect">
              <a:avLst/>
            </a:prstGeom>
            <a:blipFill>
              <a:blip r:embed="rId10"/>
              <a:stretch>
                <a:fillRect b="-3947"/>
              </a:stretch>
            </a:blipFill>
          </p:spPr>
          <p:txBody>
            <a:bodyPr/>
            <a:lstStyle/>
            <a:p>
              <a:pPr>
                <a:defRPr/>
              </a:pPr>
              <a:r>
                <a:rPr lang="en-US">
                  <a:noFill/>
                </a:rPr>
                <a:t> </a:t>
              </a:r>
            </a:p>
          </p:txBody>
        </p:sp>
      </p:grpSp>
      <p:grpSp>
        <p:nvGrpSpPr>
          <p:cNvPr id="45" name="Group 44">
            <a:extLst>
              <a:ext uri="{FF2B5EF4-FFF2-40B4-BE49-F238E27FC236}">
                <a16:creationId xmlns:a16="http://schemas.microsoft.com/office/drawing/2014/main" id="{E6C82B06-6A31-7EE7-04B4-CCD6426BAB8F}"/>
              </a:ext>
            </a:extLst>
          </p:cNvPr>
          <p:cNvGrpSpPr>
            <a:grpSpLocks/>
          </p:cNvGrpSpPr>
          <p:nvPr/>
        </p:nvGrpSpPr>
        <p:grpSpPr bwMode="auto">
          <a:xfrm>
            <a:off x="5280025" y="3005138"/>
            <a:ext cx="1936750" cy="1938337"/>
            <a:chOff x="5117002" y="2868856"/>
            <a:chExt cx="1938079" cy="1938079"/>
          </a:xfrm>
        </p:grpSpPr>
        <p:sp>
          <p:nvSpPr>
            <p:cNvPr id="46" name="Oval 45">
              <a:extLst>
                <a:ext uri="{FF2B5EF4-FFF2-40B4-BE49-F238E27FC236}">
                  <a16:creationId xmlns:a16="http://schemas.microsoft.com/office/drawing/2014/main" id="{15D06ED8-4EBF-3674-2D3E-5E388E5BCC27}"/>
                </a:ext>
              </a:extLst>
            </p:cNvPr>
            <p:cNvSpPr/>
            <p:nvPr/>
          </p:nvSpPr>
          <p:spPr>
            <a:xfrm>
              <a:off x="5117002" y="2868856"/>
              <a:ext cx="1938079" cy="1938079"/>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grpSp>
          <p:nvGrpSpPr>
            <p:cNvPr id="21533" name="Group 46">
              <a:extLst>
                <a:ext uri="{FF2B5EF4-FFF2-40B4-BE49-F238E27FC236}">
                  <a16:creationId xmlns:a16="http://schemas.microsoft.com/office/drawing/2014/main" id="{450B792A-2CBA-443C-3C69-3E5DD530027F}"/>
                </a:ext>
              </a:extLst>
            </p:cNvPr>
            <p:cNvGrpSpPr>
              <a:grpSpLocks/>
            </p:cNvGrpSpPr>
            <p:nvPr/>
          </p:nvGrpSpPr>
          <p:grpSpPr bwMode="auto">
            <a:xfrm>
              <a:off x="5299086" y="3288109"/>
              <a:ext cx="1607469" cy="1058287"/>
              <a:chOff x="5299086" y="3288109"/>
              <a:chExt cx="1607469" cy="1058287"/>
            </a:xfrm>
          </p:grpSpPr>
          <p:grpSp>
            <p:nvGrpSpPr>
              <p:cNvPr id="21534" name="Group 47">
                <a:extLst>
                  <a:ext uri="{FF2B5EF4-FFF2-40B4-BE49-F238E27FC236}">
                    <a16:creationId xmlns:a16="http://schemas.microsoft.com/office/drawing/2014/main" id="{8DB64D0F-4673-78CC-9D3B-F50A39F15858}"/>
                  </a:ext>
                </a:extLst>
              </p:cNvPr>
              <p:cNvGrpSpPr>
                <a:grpSpLocks/>
              </p:cNvGrpSpPr>
              <p:nvPr/>
            </p:nvGrpSpPr>
            <p:grpSpPr bwMode="auto">
              <a:xfrm>
                <a:off x="5389296" y="3288109"/>
                <a:ext cx="1497026" cy="1058287"/>
                <a:chOff x="5389296" y="3288109"/>
                <a:chExt cx="1497026" cy="1058287"/>
              </a:xfrm>
            </p:grpSpPr>
            <p:grpSp>
              <p:nvGrpSpPr>
                <p:cNvPr id="21537" name="Group 50">
                  <a:extLst>
                    <a:ext uri="{FF2B5EF4-FFF2-40B4-BE49-F238E27FC236}">
                      <a16:creationId xmlns:a16="http://schemas.microsoft.com/office/drawing/2014/main" id="{7EAE1ADC-0E11-DC09-D3CB-66539D5305D4}"/>
                    </a:ext>
                  </a:extLst>
                </p:cNvPr>
                <p:cNvGrpSpPr>
                  <a:grpSpLocks/>
                </p:cNvGrpSpPr>
                <p:nvPr/>
              </p:nvGrpSpPr>
              <p:grpSpPr bwMode="auto">
                <a:xfrm>
                  <a:off x="5389296" y="3288109"/>
                  <a:ext cx="1497026" cy="1058287"/>
                  <a:chOff x="5389296" y="3288109"/>
                  <a:chExt cx="1497026" cy="1058287"/>
                </a:xfrm>
              </p:grpSpPr>
              <p:cxnSp>
                <p:nvCxnSpPr>
                  <p:cNvPr id="56" name="Straight Connector 55">
                    <a:extLst>
                      <a:ext uri="{FF2B5EF4-FFF2-40B4-BE49-F238E27FC236}">
                        <a16:creationId xmlns:a16="http://schemas.microsoft.com/office/drawing/2014/main" id="{3F767F85-D096-5A46-9705-838A4F57B901}"/>
                      </a:ext>
                    </a:extLst>
                  </p:cNvPr>
                  <p:cNvCxnSpPr/>
                  <p:nvPr/>
                </p:nvCxnSpPr>
                <p:spPr>
                  <a:xfrm>
                    <a:off x="6117813" y="3287900"/>
                    <a:ext cx="0" cy="1058721"/>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BA243D-01D9-549E-88BB-6DFDC70F6B6B}"/>
                      </a:ext>
                    </a:extLst>
                  </p:cNvPr>
                  <p:cNvCxnSpPr/>
                  <p:nvPr/>
                </p:nvCxnSpPr>
                <p:spPr>
                  <a:xfrm flipH="1">
                    <a:off x="5391829" y="4145036"/>
                    <a:ext cx="1494862" cy="0"/>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grpSp>
            <p:grpSp>
              <p:nvGrpSpPr>
                <p:cNvPr id="21538" name="Group 51">
                  <a:extLst>
                    <a:ext uri="{FF2B5EF4-FFF2-40B4-BE49-F238E27FC236}">
                      <a16:creationId xmlns:a16="http://schemas.microsoft.com/office/drawing/2014/main" id="{4E43E110-AC76-B0CF-EEDD-2123BDFACAB0}"/>
                    </a:ext>
                  </a:extLst>
                </p:cNvPr>
                <p:cNvGrpSpPr>
                  <a:grpSpLocks/>
                </p:cNvGrpSpPr>
                <p:nvPr/>
              </p:nvGrpSpPr>
              <p:grpSpPr bwMode="auto">
                <a:xfrm>
                  <a:off x="5389296" y="3777880"/>
                  <a:ext cx="1441300" cy="374307"/>
                  <a:chOff x="5389296" y="3777880"/>
                  <a:chExt cx="1441300" cy="374307"/>
                </a:xfrm>
              </p:grpSpPr>
              <p:cxnSp>
                <p:nvCxnSpPr>
                  <p:cNvPr id="53" name="Straight Connector 52">
                    <a:extLst>
                      <a:ext uri="{FF2B5EF4-FFF2-40B4-BE49-F238E27FC236}">
                        <a16:creationId xmlns:a16="http://schemas.microsoft.com/office/drawing/2014/main" id="{45B09741-1E31-9D84-0284-2CB4B8E302D8}"/>
                      </a:ext>
                    </a:extLst>
                  </p:cNvPr>
                  <p:cNvCxnSpPr/>
                  <p:nvPr/>
                </p:nvCxnSpPr>
                <p:spPr>
                  <a:xfrm>
                    <a:off x="5391829" y="4137099"/>
                    <a:ext cx="725985" cy="0"/>
                  </a:xfrm>
                  <a:prstGeom prst="line">
                    <a:avLst/>
                  </a:prstGeom>
                  <a:ln w="38100">
                    <a:solidFill>
                      <a:srgbClr val="BE69C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A73F380-01CD-37A9-E1A7-07A50891B39D}"/>
                      </a:ext>
                    </a:extLst>
                  </p:cNvPr>
                  <p:cNvCxnSpPr/>
                  <p:nvPr/>
                </p:nvCxnSpPr>
                <p:spPr>
                  <a:xfrm flipV="1">
                    <a:off x="6117813" y="3778372"/>
                    <a:ext cx="0" cy="374600"/>
                  </a:xfrm>
                  <a:prstGeom prst="line">
                    <a:avLst/>
                  </a:prstGeom>
                  <a:ln w="38100">
                    <a:solidFill>
                      <a:srgbClr val="BE69CE"/>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41C208-F17E-41BA-201C-EC609570F82C}"/>
                      </a:ext>
                    </a:extLst>
                  </p:cNvPr>
                  <p:cNvCxnSpPr/>
                  <p:nvPr/>
                </p:nvCxnSpPr>
                <p:spPr>
                  <a:xfrm>
                    <a:off x="6103517" y="3786309"/>
                    <a:ext cx="727574" cy="0"/>
                  </a:xfrm>
                  <a:prstGeom prst="line">
                    <a:avLst/>
                  </a:prstGeom>
                  <a:ln w="38100">
                    <a:solidFill>
                      <a:srgbClr val="BE69CE"/>
                    </a:solidFill>
                  </a:ln>
                </p:spPr>
                <p:style>
                  <a:lnRef idx="1">
                    <a:schemeClr val="accent1"/>
                  </a:lnRef>
                  <a:fillRef idx="0">
                    <a:schemeClr val="accent1"/>
                  </a:fillRef>
                  <a:effectRef idx="0">
                    <a:schemeClr val="accent1"/>
                  </a:effectRef>
                  <a:fontRef idx="minor">
                    <a:schemeClr val="tx1"/>
                  </a:fontRef>
                </p:style>
              </p:cxnSp>
            </p:grpSp>
          </p:grpSp>
          <p:sp>
            <p:nvSpPr>
              <p:cNvPr id="49" name="Rectangle 48">
                <a:extLst>
                  <a:ext uri="{FF2B5EF4-FFF2-40B4-BE49-F238E27FC236}">
                    <a16:creationId xmlns:a16="http://schemas.microsoft.com/office/drawing/2014/main" id="{AFFCBCB1-DF6E-41E9-5074-6FF2FE736AE0}"/>
                  </a:ext>
                </a:extLst>
              </p:cNvPr>
              <p:cNvSpPr>
                <a:spLocks noRot="1" noChangeAspect="1" noMove="1" noResize="1" noEditPoints="1" noAdjustHandles="1" noChangeArrowheads="1" noChangeShapeType="1" noTextEdit="1"/>
              </p:cNvSpPr>
              <p:nvPr/>
            </p:nvSpPr>
            <p:spPr>
              <a:xfrm>
                <a:off x="5299086" y="3777880"/>
                <a:ext cx="364202" cy="369332"/>
              </a:xfrm>
              <a:prstGeom prst="rect">
                <a:avLst/>
              </a:prstGeom>
              <a:blipFill>
                <a:blip r:embed="rId11"/>
                <a:stretch>
                  <a:fillRect/>
                </a:stretch>
              </a:blipFill>
            </p:spPr>
            <p:txBody>
              <a:bodyPr/>
              <a:lstStyle/>
              <a:p>
                <a:pPr>
                  <a:defRPr/>
                </a:pPr>
                <a:r>
                  <a:rPr lang="en-US">
                    <a:noFill/>
                  </a:rPr>
                  <a:t> </a:t>
                </a:r>
              </a:p>
            </p:txBody>
          </p:sp>
          <p:sp>
            <p:nvSpPr>
              <p:cNvPr id="50" name="Rectangle 49">
                <a:extLst>
                  <a:ext uri="{FF2B5EF4-FFF2-40B4-BE49-F238E27FC236}">
                    <a16:creationId xmlns:a16="http://schemas.microsoft.com/office/drawing/2014/main" id="{BA231336-2304-6326-8F13-5A9F2065152E}"/>
                  </a:ext>
                </a:extLst>
              </p:cNvPr>
              <p:cNvSpPr>
                <a:spLocks noRot="1" noChangeAspect="1" noMove="1" noResize="1" noEditPoints="1" noAdjustHandles="1" noChangeArrowheads="1" noChangeShapeType="1" noTextEdit="1"/>
              </p:cNvSpPr>
              <p:nvPr/>
            </p:nvSpPr>
            <p:spPr>
              <a:xfrm>
                <a:off x="6542353" y="3432448"/>
                <a:ext cx="364202" cy="369332"/>
              </a:xfrm>
              <a:prstGeom prst="rect">
                <a:avLst/>
              </a:prstGeom>
              <a:blipFill>
                <a:blip r:embed="rId12"/>
                <a:stretch>
                  <a:fillRect/>
                </a:stretch>
              </a:blipFill>
            </p:spPr>
            <p:txBody>
              <a:bodyPr/>
              <a:lstStyle/>
              <a:p>
                <a:pPr>
                  <a:defRPr/>
                </a:pPr>
                <a:r>
                  <a:rPr lang="en-US">
                    <a:noFill/>
                  </a:rPr>
                  <a:t> </a:t>
                </a:r>
              </a:p>
            </p:txBody>
          </p:sp>
        </p:grpSp>
      </p:grpSp>
      <p:sp>
        <p:nvSpPr>
          <p:cNvPr id="3" name="TextBox 2">
            <a:extLst>
              <a:ext uri="{FF2B5EF4-FFF2-40B4-BE49-F238E27FC236}">
                <a16:creationId xmlns:a16="http://schemas.microsoft.com/office/drawing/2014/main" id="{2F96AB8C-ECCB-1C0E-AAA0-179D453F278E}"/>
              </a:ext>
            </a:extLst>
          </p:cNvPr>
          <p:cNvSpPr txBox="1">
            <a:spLocks noChangeArrowheads="1"/>
          </p:cNvSpPr>
          <p:nvPr/>
        </p:nvSpPr>
        <p:spPr bwMode="auto">
          <a:xfrm>
            <a:off x="3079750" y="1677988"/>
            <a:ext cx="28654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rgbClr val="FF0000"/>
                </a:solidFill>
              </a:rPr>
              <a:t>Learning Function</a:t>
            </a:r>
          </a:p>
        </p:txBody>
      </p:sp>
      <p:cxnSp>
        <p:nvCxnSpPr>
          <p:cNvPr id="31" name="Straight Arrow Connector 30">
            <a:extLst>
              <a:ext uri="{FF2B5EF4-FFF2-40B4-BE49-F238E27FC236}">
                <a16:creationId xmlns:a16="http://schemas.microsoft.com/office/drawing/2014/main" id="{250A283D-613E-14D2-85F5-3480BDBB255F}"/>
              </a:ext>
            </a:extLst>
          </p:cNvPr>
          <p:cNvCxnSpPr/>
          <p:nvPr/>
        </p:nvCxnSpPr>
        <p:spPr>
          <a:xfrm flipV="1">
            <a:off x="3733800" y="2163763"/>
            <a:ext cx="534988" cy="11017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774136E-5D10-7187-0BC1-180B2B6A2AAD}"/>
              </a:ext>
            </a:extLst>
          </p:cNvPr>
          <p:cNvSpPr txBox="1">
            <a:spLocks noChangeArrowheads="1"/>
          </p:cNvSpPr>
          <p:nvPr/>
        </p:nvSpPr>
        <p:spPr bwMode="auto">
          <a:xfrm>
            <a:off x="5784850" y="2079625"/>
            <a:ext cx="3052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rgbClr val="FF0000"/>
                </a:solidFill>
              </a:rPr>
              <a:t>Activation Function</a:t>
            </a:r>
          </a:p>
        </p:txBody>
      </p:sp>
      <p:cxnSp>
        <p:nvCxnSpPr>
          <p:cNvPr id="61" name="Straight Arrow Connector 60">
            <a:extLst>
              <a:ext uri="{FF2B5EF4-FFF2-40B4-BE49-F238E27FC236}">
                <a16:creationId xmlns:a16="http://schemas.microsoft.com/office/drawing/2014/main" id="{C4E9563A-97BB-92B5-CA2A-160DA7563B8E}"/>
              </a:ext>
            </a:extLst>
          </p:cNvPr>
          <p:cNvCxnSpPr>
            <a:cxnSpLocks/>
          </p:cNvCxnSpPr>
          <p:nvPr/>
        </p:nvCxnSpPr>
        <p:spPr>
          <a:xfrm flipV="1">
            <a:off x="6704013" y="2473325"/>
            <a:ext cx="512762" cy="9159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887C2537-5C83-90BD-B18A-A79D13575944}"/>
              </a:ext>
            </a:extLst>
          </p:cNvPr>
          <p:cNvSpPr txBox="1">
            <a:spLocks noChangeArrowheads="1"/>
          </p:cNvSpPr>
          <p:nvPr/>
        </p:nvSpPr>
        <p:spPr bwMode="auto">
          <a:xfrm>
            <a:off x="3581400" y="6532563"/>
            <a:ext cx="2479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direction: feed-forward</a:t>
            </a:r>
          </a:p>
        </p:txBody>
      </p:sp>
      <p:sp>
        <p:nvSpPr>
          <p:cNvPr id="51" name="TextBox 50">
            <a:extLst>
              <a:ext uri="{FF2B5EF4-FFF2-40B4-BE49-F238E27FC236}">
                <a16:creationId xmlns:a16="http://schemas.microsoft.com/office/drawing/2014/main" id="{21DFB924-598C-5617-20B5-9882F0CA9F6B}"/>
              </a:ext>
            </a:extLst>
          </p:cNvPr>
          <p:cNvSpPr txBox="1">
            <a:spLocks noChangeArrowheads="1"/>
          </p:cNvSpPr>
          <p:nvPr/>
        </p:nvSpPr>
        <p:spPr bwMode="auto">
          <a:xfrm>
            <a:off x="2632075" y="5813425"/>
            <a:ext cx="61039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solidFill>
                  <a:srgbClr val="FF0000"/>
                </a:solidFill>
              </a:rPr>
              <a:t>Bias</a:t>
            </a:r>
            <a:r>
              <a:rPr lang="en-US" altLang="en-US" sz="1400"/>
              <a:t>, to move the output value to get closer to the expected target value</a:t>
            </a:r>
          </a:p>
        </p:txBody>
      </p:sp>
      <p:cxnSp>
        <p:nvCxnSpPr>
          <p:cNvPr id="58" name="Straight Arrow Connector 57">
            <a:extLst>
              <a:ext uri="{FF2B5EF4-FFF2-40B4-BE49-F238E27FC236}">
                <a16:creationId xmlns:a16="http://schemas.microsoft.com/office/drawing/2014/main" id="{E4FB4AC1-3C76-062A-999E-FFE2403AB8C0}"/>
              </a:ext>
            </a:extLst>
          </p:cNvPr>
          <p:cNvCxnSpPr>
            <a:endCxn id="51" idx="1"/>
          </p:cNvCxnSpPr>
          <p:nvPr/>
        </p:nvCxnSpPr>
        <p:spPr>
          <a:xfrm>
            <a:off x="2422525" y="5740400"/>
            <a:ext cx="209550" cy="22701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Arrow: Right 58">
            <a:extLst>
              <a:ext uri="{FF2B5EF4-FFF2-40B4-BE49-F238E27FC236}">
                <a16:creationId xmlns:a16="http://schemas.microsoft.com/office/drawing/2014/main" id="{A8003662-643A-DA6D-87A0-4C7578B45985}"/>
              </a:ext>
            </a:extLst>
          </p:cNvPr>
          <p:cNvSpPr/>
          <p:nvPr/>
        </p:nvSpPr>
        <p:spPr>
          <a:xfrm>
            <a:off x="889000" y="6400800"/>
            <a:ext cx="7686675" cy="2524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5395C614-72EE-C4B3-2A35-BCE3D6691BFD}"/>
              </a:ext>
            </a:extLst>
          </p:cNvPr>
          <p:cNvSpPr>
            <a:spLocks noRot="1" noChangeAspect="1" noMove="1" noResize="1" noEditPoints="1" noAdjustHandles="1" noChangeArrowheads="1" noChangeShapeType="1" noTextEdit="1"/>
          </p:cNvSpPr>
          <p:nvPr/>
        </p:nvSpPr>
        <p:spPr>
          <a:xfrm>
            <a:off x="1104070" y="3753227"/>
            <a:ext cx="348172" cy="461665"/>
          </a:xfrm>
          <a:prstGeom prst="rect">
            <a:avLst/>
          </a:prstGeom>
          <a:blipFill>
            <a:blip r:embed="rId13"/>
            <a:stretch>
              <a:fillRect/>
            </a:stretch>
          </a:blipFill>
        </p:spPr>
        <p:txBody>
          <a:bodyPr/>
          <a:lstStyle/>
          <a:p>
            <a:pPr>
              <a:defRPr/>
            </a:pPr>
            <a:r>
              <a:rPr lang="en-US" dirty="0">
                <a:noFill/>
              </a:rPr>
              <a:t> </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75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100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par>
                                <p:cTn id="35" presetID="22" presetClass="entr" presetSubtype="8" fill="hold" nodeType="withEffect">
                                  <p:stCondLst>
                                    <p:cond delay="25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38" presetID="22" presetClass="entr" presetSubtype="8" fill="hold" nodeType="withEffect">
                                  <p:stCondLst>
                                    <p:cond delay="50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par>
                                <p:cTn id="41" presetID="22" presetClass="entr" presetSubtype="8" fill="hold" nodeType="withEffect">
                                  <p:stCondLst>
                                    <p:cond delay="75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500"/>
                                        <p:tgtEl>
                                          <p:spTgt spid="2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p:cTn id="48" dur="500" fill="hold"/>
                                        <p:tgtEl>
                                          <p:spTgt spid="34"/>
                                        </p:tgtEl>
                                        <p:attrNameLst>
                                          <p:attrName>ppt_w</p:attrName>
                                        </p:attrNameLst>
                                      </p:cBhvr>
                                      <p:tavLst>
                                        <p:tav tm="0">
                                          <p:val>
                                            <p:fltVal val="0"/>
                                          </p:val>
                                        </p:tav>
                                        <p:tav tm="100000">
                                          <p:val>
                                            <p:strVal val="#ppt_w"/>
                                          </p:val>
                                        </p:tav>
                                      </p:tavLst>
                                    </p:anim>
                                    <p:anim calcmode="lin" valueType="num">
                                      <p:cBhvr>
                                        <p:cTn id="49" dur="500" fill="hold"/>
                                        <p:tgtEl>
                                          <p:spTgt spid="34"/>
                                        </p:tgtEl>
                                        <p:attrNameLst>
                                          <p:attrName>ppt_h</p:attrName>
                                        </p:attrNameLst>
                                      </p:cBhvr>
                                      <p:tavLst>
                                        <p:tav tm="0">
                                          <p:val>
                                            <p:fltVal val="0"/>
                                          </p:val>
                                        </p:tav>
                                        <p:tav tm="100000">
                                          <p:val>
                                            <p:strVal val="#ppt_h"/>
                                          </p:val>
                                        </p:tav>
                                      </p:tavLst>
                                    </p:anim>
                                  </p:childTnLst>
                                </p:cTn>
                              </p:par>
                            </p:childTnLst>
                          </p:cTn>
                        </p:par>
                        <p:par>
                          <p:cTn id="50" fill="hold" nodeType="afterGroup">
                            <p:stCondLst>
                              <p:cond delay="500"/>
                            </p:stCondLst>
                            <p:childTnLst>
                              <p:par>
                                <p:cTn id="51" presetID="10" presetClass="entr" presetSubtype="0" fill="hold"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250"/>
                                        <p:tgtEl>
                                          <p:spTgt spid="3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left)">
                                      <p:cBhvr>
                                        <p:cTn id="58" dur="500"/>
                                        <p:tgtEl>
                                          <p:spTgt spid="27"/>
                                        </p:tgtEl>
                                      </p:cBhvr>
                                    </p:animEffect>
                                  </p:childTnLst>
                                </p:cTn>
                              </p:par>
                            </p:childTnLst>
                          </p:cTn>
                        </p:par>
                        <p:par>
                          <p:cTn id="59" fill="hold" nodeType="afterGroup">
                            <p:stCondLst>
                              <p:cond delay="500"/>
                            </p:stCondLst>
                            <p:childTnLst>
                              <p:par>
                                <p:cTn id="60" presetID="23" presetClass="entr" presetSubtype="16" fill="hold" nodeType="afterEffect">
                                  <p:stCondLst>
                                    <p:cond delay="0"/>
                                  </p:stCondLst>
                                  <p:childTnLst>
                                    <p:set>
                                      <p:cBhvr>
                                        <p:cTn id="61" dur="1" fill="hold">
                                          <p:stCondLst>
                                            <p:cond delay="0"/>
                                          </p:stCondLst>
                                        </p:cTn>
                                        <p:tgtEl>
                                          <p:spTgt spid="45"/>
                                        </p:tgtEl>
                                        <p:attrNameLst>
                                          <p:attrName>style.visibility</p:attrName>
                                        </p:attrNameLst>
                                      </p:cBhvr>
                                      <p:to>
                                        <p:strVal val="visible"/>
                                      </p:to>
                                    </p:set>
                                    <p:anim calcmode="lin" valueType="num">
                                      <p:cBhvr>
                                        <p:cTn id="62" dur="500" fill="hold"/>
                                        <p:tgtEl>
                                          <p:spTgt spid="45"/>
                                        </p:tgtEl>
                                        <p:attrNameLst>
                                          <p:attrName>ppt_w</p:attrName>
                                        </p:attrNameLst>
                                      </p:cBhvr>
                                      <p:tavLst>
                                        <p:tav tm="0">
                                          <p:val>
                                            <p:fltVal val="0"/>
                                          </p:val>
                                        </p:tav>
                                        <p:tav tm="100000">
                                          <p:val>
                                            <p:strVal val="#ppt_w"/>
                                          </p:val>
                                        </p:tav>
                                      </p:tavLst>
                                    </p:anim>
                                    <p:anim calcmode="lin" valueType="num">
                                      <p:cBhvr>
                                        <p:cTn id="63" dur="500" fill="hold"/>
                                        <p:tgtEl>
                                          <p:spTgt spid="45"/>
                                        </p:tgtEl>
                                        <p:attrNameLst>
                                          <p:attrName>ppt_h</p:attrName>
                                        </p:attrNameLst>
                                      </p:cBhvr>
                                      <p:tavLst>
                                        <p:tav tm="0">
                                          <p:val>
                                            <p:fltVal val="0"/>
                                          </p:val>
                                        </p:tav>
                                        <p:tav tm="100000">
                                          <p:val>
                                            <p:strVal val="#ppt_h"/>
                                          </p:val>
                                        </p:tav>
                                      </p:tavLst>
                                    </p:anim>
                                  </p:childTnLst>
                                </p:cTn>
                              </p:par>
                            </p:childTnLst>
                          </p:cTn>
                        </p:par>
                        <p:par>
                          <p:cTn id="64" fill="hold" nodeType="afterGroup">
                            <p:stCondLst>
                              <p:cond delay="1000"/>
                            </p:stCondLst>
                            <p:childTnLst>
                              <p:par>
                                <p:cTn id="65" presetID="10" presetClass="entr" presetSubtype="0" fill="hold"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250"/>
                                        <p:tgtEl>
                                          <p:spTgt spid="3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left)">
                                      <p:cBhvr>
                                        <p:cTn id="72" dur="500"/>
                                        <p:tgtEl>
                                          <p:spTgt spid="28"/>
                                        </p:tgtEl>
                                      </p:cBhvr>
                                    </p:animEffect>
                                  </p:childTnLst>
                                </p:cTn>
                              </p:par>
                            </p:childTnLst>
                          </p:cTn>
                        </p:par>
                        <p:par>
                          <p:cTn id="73" fill="hold" nodeType="afterGroup">
                            <p:stCondLst>
                              <p:cond delay="500"/>
                            </p:stCondLst>
                            <p:childTnLst>
                              <p:par>
                                <p:cTn id="74" presetID="23" presetClass="entr" presetSubtype="16" fill="hold" nodeType="after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p:cTn id="76" dur="500" fill="hold"/>
                                        <p:tgtEl>
                                          <p:spTgt spid="29"/>
                                        </p:tgtEl>
                                        <p:attrNameLst>
                                          <p:attrName>ppt_w</p:attrName>
                                        </p:attrNameLst>
                                      </p:cBhvr>
                                      <p:tavLst>
                                        <p:tav tm="0">
                                          <p:val>
                                            <p:fltVal val="0"/>
                                          </p:val>
                                        </p:tav>
                                        <p:tav tm="100000">
                                          <p:val>
                                            <p:strVal val="#ppt_w"/>
                                          </p:val>
                                        </p:tav>
                                      </p:tavLst>
                                    </p:anim>
                                    <p:anim calcmode="lin" valueType="num">
                                      <p:cBhvr>
                                        <p:cTn id="77"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ntr" presetSubtype="0" fill="hold" nodeType="click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500"/>
                                        <p:tgtEl>
                                          <p:spTgt spid="58"/>
                                        </p:tgtEl>
                                      </p:cBhvr>
                                    </p:animEffect>
                                  </p:childTnLst>
                                </p:cTn>
                              </p:par>
                              <p:par>
                                <p:cTn id="83" presetID="10" presetClass="entr" presetSubtype="0" fill="hold"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0" presetClass="entr" presetSubtype="0" fill="hold"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fade">
                                      <p:cBhvr>
                                        <p:cTn id="90" dur="500"/>
                                        <p:tgtEl>
                                          <p:spTgt spid="3"/>
                                        </p:tgtEl>
                                      </p:cBhvr>
                                    </p:animEffect>
                                  </p:childTnLst>
                                </p:cTn>
                              </p:par>
                              <p:par>
                                <p:cTn id="91" presetID="10" presetClass="entr" presetSubtype="0" fill="hold"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nodeType="with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fade">
                                      <p:cBhvr>
                                        <p:cTn id="96" dur="500"/>
                                        <p:tgtEl>
                                          <p:spTgt spid="60"/>
                                        </p:tgtEl>
                                      </p:cBhvr>
                                    </p:animEffect>
                                  </p:childTnLst>
                                </p:cTn>
                              </p:par>
                              <p:par>
                                <p:cTn id="97" presetID="10" presetClass="entr" presetSubtype="0" fill="hold" nodeType="withEffect">
                                  <p:stCondLst>
                                    <p:cond delay="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0" presetClass="entr" presetSubtype="0" fill="hold" nodeType="clickEffect">
                                  <p:stCondLst>
                                    <p:cond delay="0"/>
                                  </p:stCondLst>
                                  <p:childTnLst>
                                    <p:set>
                                      <p:cBhvr>
                                        <p:cTn id="103" dur="1" fill="hold">
                                          <p:stCondLst>
                                            <p:cond delay="0"/>
                                          </p:stCondLst>
                                        </p:cTn>
                                        <p:tgtEl>
                                          <p:spTgt spid="48"/>
                                        </p:tgtEl>
                                        <p:attrNameLst>
                                          <p:attrName>style.visibility</p:attrName>
                                        </p:attrNameLst>
                                      </p:cBhvr>
                                      <p:to>
                                        <p:strVal val="visible"/>
                                      </p:to>
                                    </p:set>
                                    <p:animEffect transition="in" filter="fade">
                                      <p:cBhvr>
                                        <p:cTn id="104" dur="500"/>
                                        <p:tgtEl>
                                          <p:spTgt spid="48"/>
                                        </p:tgtEl>
                                      </p:cBhvr>
                                    </p:animEffect>
                                  </p:childTnLst>
                                </p:cTn>
                              </p:par>
                              <p:par>
                                <p:cTn id="105" presetID="10" presetClass="entr" presetSubtype="0" fill="hold" nodeType="withEffect">
                                  <p:stCondLst>
                                    <p:cond delay="0"/>
                                  </p:stCondLst>
                                  <p:childTnLst>
                                    <p:set>
                                      <p:cBhvr>
                                        <p:cTn id="106" dur="1" fill="hold">
                                          <p:stCondLst>
                                            <p:cond delay="0"/>
                                          </p:stCondLst>
                                        </p:cTn>
                                        <p:tgtEl>
                                          <p:spTgt spid="59"/>
                                        </p:tgtEl>
                                        <p:attrNameLst>
                                          <p:attrName>style.visibility</p:attrName>
                                        </p:attrNameLst>
                                      </p:cBhvr>
                                      <p:to>
                                        <p:strVal val="visible"/>
                                      </p:to>
                                    </p:set>
                                    <p:animEffect transition="in" filter="fade">
                                      <p:cBhvr>
                                        <p:cTn id="10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 grpId="0"/>
      <p:bldP spid="60" grpId="0"/>
      <p:bldP spid="48" grpId="0"/>
      <p:bldP spid="51" grpId="0"/>
      <p:bldP spid="5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9996DF-187D-BADA-27EE-3C3212509071}"/>
              </a:ext>
            </a:extLst>
          </p:cNvPr>
          <p:cNvSpPr>
            <a:spLocks noGrp="1"/>
          </p:cNvSpPr>
          <p:nvPr>
            <p:ph type="title"/>
          </p:nvPr>
        </p:nvSpPr>
        <p:spPr>
          <a:xfrm>
            <a:off x="914400" y="2895600"/>
            <a:ext cx="7772400" cy="1362075"/>
          </a:xfrm>
        </p:spPr>
        <p:txBody>
          <a:bodyPr/>
          <a:lstStyle/>
          <a:p>
            <a:pPr algn="ctr">
              <a:defRPr/>
            </a:pPr>
            <a:r>
              <a:rPr lang="en-US" dirty="0"/>
              <a:t>ANN Architecture</a:t>
            </a:r>
          </a:p>
        </p:txBody>
      </p:sp>
      <p:sp>
        <p:nvSpPr>
          <p:cNvPr id="22531" name="Slide Number Placeholder 3">
            <a:extLst>
              <a:ext uri="{FF2B5EF4-FFF2-40B4-BE49-F238E27FC236}">
                <a16:creationId xmlns:a16="http://schemas.microsoft.com/office/drawing/2014/main" id="{322E0101-9BAA-4251-D935-F270423E800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3D6BFBC-A654-40D7-9E9E-7ECA621ABF36}" type="slidenum">
              <a:rPr lang="en-US" altLang="en-US" smtClean="0">
                <a:solidFill>
                  <a:srgbClr val="898989"/>
                </a:solidFill>
                <a:latin typeface="Calibri" panose="020F0502020204030204" pitchFamily="34" charset="0"/>
              </a:rPr>
              <a:pPr/>
              <a:t>16</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0E5243-D9E8-947F-45CD-FC2A907E1D87}"/>
              </a:ext>
            </a:extLst>
          </p:cNvPr>
          <p:cNvSpPr>
            <a:spLocks noGrp="1"/>
          </p:cNvSpPr>
          <p:nvPr>
            <p:ph type="title"/>
          </p:nvPr>
        </p:nvSpPr>
        <p:spPr/>
        <p:txBody>
          <a:bodyPr>
            <a:normAutofit fontScale="90000"/>
          </a:bodyPr>
          <a:lstStyle/>
          <a:p>
            <a:pPr>
              <a:defRPr/>
            </a:pPr>
            <a:r>
              <a:rPr lang="en-US" dirty="0"/>
              <a:t>1. Single-Layer Feedforward Network</a:t>
            </a:r>
          </a:p>
        </p:txBody>
      </p:sp>
      <p:sp>
        <p:nvSpPr>
          <p:cNvPr id="23555" name="Slide Number Placeholder 3">
            <a:extLst>
              <a:ext uri="{FF2B5EF4-FFF2-40B4-BE49-F238E27FC236}">
                <a16:creationId xmlns:a16="http://schemas.microsoft.com/office/drawing/2014/main" id="{7D80A1DC-19F7-8143-74B2-E7886AD850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A319A1-E6C3-4748-A7D5-CEE97E786C1D}" type="slidenum">
              <a:rPr lang="en-US" altLang="en-US" smtClean="0">
                <a:solidFill>
                  <a:srgbClr val="898989"/>
                </a:solidFill>
                <a:latin typeface="Calibri" panose="020F0502020204030204" pitchFamily="34" charset="0"/>
              </a:rPr>
              <a:pPr/>
              <a:t>17</a:t>
            </a:fld>
            <a:endParaRPr lang="en-US" altLang="en-US">
              <a:solidFill>
                <a:srgbClr val="898989"/>
              </a:solidFill>
              <a:latin typeface="Calibri" panose="020F0502020204030204" pitchFamily="34" charset="0"/>
            </a:endParaRPr>
          </a:p>
        </p:txBody>
      </p:sp>
      <p:pic>
        <p:nvPicPr>
          <p:cNvPr id="23556" name="Picture 7">
            <a:extLst>
              <a:ext uri="{FF2B5EF4-FFF2-40B4-BE49-F238E27FC236}">
                <a16:creationId xmlns:a16="http://schemas.microsoft.com/office/drawing/2014/main" id="{498D7A4C-2108-D6B1-73D4-7886A8CA5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8382000"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TextBox 8">
            <a:extLst>
              <a:ext uri="{FF2B5EF4-FFF2-40B4-BE49-F238E27FC236}">
                <a16:creationId xmlns:a16="http://schemas.microsoft.com/office/drawing/2014/main" id="{3277313B-00E7-B5ED-1912-15944CB2CD15}"/>
              </a:ext>
            </a:extLst>
          </p:cNvPr>
          <p:cNvSpPr txBox="1">
            <a:spLocks noChangeArrowheads="1"/>
          </p:cNvSpPr>
          <p:nvPr/>
        </p:nvSpPr>
        <p:spPr bwMode="auto">
          <a:xfrm>
            <a:off x="554038" y="5181600"/>
            <a:ext cx="8255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Arial" panose="020B0604020202020204" pitchFamily="34" charset="0"/>
              <a:buChar char="•"/>
            </a:pPr>
            <a:r>
              <a:rPr lang="en-US" altLang="en-US" sz="2800">
                <a:latin typeface="Open Sans" panose="020B0606030504020204" pitchFamily="34" charset="0"/>
              </a:rPr>
              <a:t>No hidden layer.</a:t>
            </a:r>
          </a:p>
          <a:p>
            <a:pPr>
              <a:buFont typeface="Arial" panose="020B0604020202020204" pitchFamily="34" charset="0"/>
              <a:buChar char="•"/>
            </a:pPr>
            <a:r>
              <a:rPr lang="en-US" altLang="en-US" sz="2800">
                <a:latin typeface="Open Sans" panose="020B0606030504020204" pitchFamily="34" charset="0"/>
              </a:rPr>
              <a:t>Number of output values is usually 1.</a:t>
            </a:r>
          </a:p>
          <a:p>
            <a:pPr>
              <a:buFont typeface="Arial" panose="020B0604020202020204" pitchFamily="34" charset="0"/>
              <a:buChar char="•"/>
            </a:pPr>
            <a:r>
              <a:rPr lang="en-US" altLang="en-US" sz="2800">
                <a:latin typeface="Open Sans" panose="020B0606030504020204" pitchFamily="34" charset="0"/>
              </a:rPr>
              <a:t>It is good to solve </a:t>
            </a:r>
            <a:r>
              <a:rPr lang="en-US" altLang="en-US" sz="2800" b="1">
                <a:latin typeface="Open Sans" panose="020B0606030504020204" pitchFamily="34" charset="0"/>
              </a:rPr>
              <a:t>linearly-separable</a:t>
            </a:r>
            <a:r>
              <a:rPr lang="en-US" altLang="en-US" sz="2800">
                <a:latin typeface="Open Sans" panose="020B0606030504020204" pitchFamily="34" charset="0"/>
              </a:rPr>
              <a:t> problems.</a:t>
            </a:r>
          </a:p>
        </p:txBody>
      </p:sp>
    </p:spTree>
  </p:cSld>
  <p:clrMapOvr>
    <a:masterClrMapping/>
  </p:clrMapOvr>
  <p:transition spd="slow">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6E16B792-4FF9-87CC-943F-242798719959}"/>
              </a:ext>
            </a:extLst>
          </p:cNvPr>
          <p:cNvSpPr>
            <a:spLocks noGrp="1"/>
          </p:cNvSpPr>
          <p:nvPr>
            <p:ph type="title"/>
          </p:nvPr>
        </p:nvSpPr>
        <p:spPr/>
        <p:txBody>
          <a:bodyPr/>
          <a:lstStyle/>
          <a:p>
            <a:r>
              <a:rPr lang="en-US" altLang="en-US">
                <a:latin typeface="Open Sans" panose="020B0606030504020204" pitchFamily="34" charset="0"/>
              </a:rPr>
              <a:t>Decision Boundary</a:t>
            </a:r>
          </a:p>
        </p:txBody>
      </p:sp>
      <p:sp>
        <p:nvSpPr>
          <p:cNvPr id="24579" name="Slide Number Placeholder 3">
            <a:extLst>
              <a:ext uri="{FF2B5EF4-FFF2-40B4-BE49-F238E27FC236}">
                <a16:creationId xmlns:a16="http://schemas.microsoft.com/office/drawing/2014/main" id="{C7EF54AE-513C-7C0A-7FB2-EBA0E9872F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EF3986-99F7-4A87-9D9D-707E3734D269}" type="slidenum">
              <a:rPr lang="en-US" altLang="en-US" smtClean="0">
                <a:solidFill>
                  <a:srgbClr val="898989"/>
                </a:solidFill>
                <a:latin typeface="Calibri" panose="020F0502020204030204" pitchFamily="34" charset="0"/>
              </a:rPr>
              <a:pPr/>
              <a:t>18</a:t>
            </a:fld>
            <a:endParaRPr lang="en-US" altLang="en-US">
              <a:solidFill>
                <a:srgbClr val="898989"/>
              </a:solidFill>
              <a:latin typeface="Calibri" panose="020F0502020204030204" pitchFamily="34" charset="0"/>
            </a:endParaRPr>
          </a:p>
        </p:txBody>
      </p:sp>
      <p:pic>
        <p:nvPicPr>
          <p:cNvPr id="24580" name="Picture 5">
            <a:extLst>
              <a:ext uri="{FF2B5EF4-FFF2-40B4-BE49-F238E27FC236}">
                <a16:creationId xmlns:a16="http://schemas.microsoft.com/office/drawing/2014/main" id="{580D36BE-AFE0-C674-285D-AEDBDC6E2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1641475"/>
            <a:ext cx="6777038" cy="407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6">
            <a:extLst>
              <a:ext uri="{FF2B5EF4-FFF2-40B4-BE49-F238E27FC236}">
                <a16:creationId xmlns:a16="http://schemas.microsoft.com/office/drawing/2014/main" id="{A2426077-8AEA-9938-AAEF-41B7C095EF37}"/>
              </a:ext>
            </a:extLst>
          </p:cNvPr>
          <p:cNvSpPr txBox="1">
            <a:spLocks noChangeArrowheads="1"/>
          </p:cNvSpPr>
          <p:nvPr/>
        </p:nvSpPr>
        <p:spPr bwMode="auto">
          <a:xfrm>
            <a:off x="2209800" y="6183313"/>
            <a:ext cx="5557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(a). Linearly separable vs (b). Non-linearly separable</a:t>
            </a:r>
          </a:p>
        </p:txBody>
      </p:sp>
    </p:spTree>
  </p:cSld>
  <p:clrMapOvr>
    <a:masterClrMapping/>
  </p:clrMapOvr>
  <p:transition spd="slow">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38FB2-FA33-F50A-C22E-808271197279}"/>
              </a:ext>
            </a:extLst>
          </p:cNvPr>
          <p:cNvSpPr>
            <a:spLocks noGrp="1"/>
          </p:cNvSpPr>
          <p:nvPr>
            <p:ph type="title"/>
          </p:nvPr>
        </p:nvSpPr>
        <p:spPr>
          <a:xfrm>
            <a:off x="1981200" y="304800"/>
            <a:ext cx="7086600" cy="1143000"/>
          </a:xfrm>
        </p:spPr>
        <p:txBody>
          <a:bodyPr>
            <a:normAutofit fontScale="90000"/>
          </a:bodyPr>
          <a:lstStyle/>
          <a:p>
            <a:pPr>
              <a:defRPr/>
            </a:pPr>
            <a:r>
              <a:rPr lang="en-US" dirty="0"/>
              <a:t>2. Multilayer Feedforward Network</a:t>
            </a:r>
          </a:p>
        </p:txBody>
      </p:sp>
      <p:sp>
        <p:nvSpPr>
          <p:cNvPr id="25603" name="Slide Number Placeholder 3">
            <a:extLst>
              <a:ext uri="{FF2B5EF4-FFF2-40B4-BE49-F238E27FC236}">
                <a16:creationId xmlns:a16="http://schemas.microsoft.com/office/drawing/2014/main" id="{CE941DC4-9A29-ABC4-894E-C090050D8B3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984CCA-B6B1-4FF3-9D08-5B1673E72AAF}" type="slidenum">
              <a:rPr lang="en-US" altLang="en-US" smtClean="0">
                <a:solidFill>
                  <a:srgbClr val="898989"/>
                </a:solidFill>
                <a:latin typeface="Calibri" panose="020F0502020204030204" pitchFamily="34" charset="0"/>
              </a:rPr>
              <a:pPr/>
              <a:t>19</a:t>
            </a:fld>
            <a:endParaRPr lang="en-US" altLang="en-US">
              <a:solidFill>
                <a:srgbClr val="898989"/>
              </a:solidFill>
              <a:latin typeface="Calibri" panose="020F0502020204030204" pitchFamily="34" charset="0"/>
            </a:endParaRPr>
          </a:p>
        </p:txBody>
      </p:sp>
      <p:pic>
        <p:nvPicPr>
          <p:cNvPr id="25604" name="Picture 5">
            <a:extLst>
              <a:ext uri="{FF2B5EF4-FFF2-40B4-BE49-F238E27FC236}">
                <a16:creationId xmlns:a16="http://schemas.microsoft.com/office/drawing/2014/main" id="{966014C1-218D-DB8D-0AE6-20941005F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913" y="1447800"/>
            <a:ext cx="85740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TextBox 6">
            <a:extLst>
              <a:ext uri="{FF2B5EF4-FFF2-40B4-BE49-F238E27FC236}">
                <a16:creationId xmlns:a16="http://schemas.microsoft.com/office/drawing/2014/main" id="{68262E5B-0593-362F-C9D9-6FEC6B61329C}"/>
              </a:ext>
            </a:extLst>
          </p:cNvPr>
          <p:cNvSpPr txBox="1">
            <a:spLocks noChangeArrowheads="1"/>
          </p:cNvSpPr>
          <p:nvPr/>
        </p:nvSpPr>
        <p:spPr bwMode="auto">
          <a:xfrm>
            <a:off x="554038" y="5029200"/>
            <a:ext cx="8208962"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Arial" panose="020B0604020202020204" pitchFamily="34" charset="0"/>
              <a:buChar char="•"/>
            </a:pPr>
            <a:r>
              <a:rPr lang="en-US" altLang="en-US" sz="2000">
                <a:latin typeface="Open Sans" panose="020B0606030504020204" pitchFamily="34" charset="0"/>
              </a:rPr>
              <a:t>It has at least 1 hidden layer.</a:t>
            </a:r>
          </a:p>
          <a:p>
            <a:pPr>
              <a:buFont typeface="Arial" panose="020B0604020202020204" pitchFamily="34" charset="0"/>
              <a:buChar char="•"/>
            </a:pPr>
            <a:r>
              <a:rPr lang="en-US" altLang="en-US" sz="2000">
                <a:solidFill>
                  <a:srgbClr val="0070C0"/>
                </a:solidFill>
                <a:latin typeface="Open Sans" panose="020B0606030504020204" pitchFamily="34" charset="0"/>
              </a:rPr>
              <a:t>Hidden layer</a:t>
            </a:r>
            <a:r>
              <a:rPr lang="en-US" altLang="en-US" sz="2000">
                <a:latin typeface="Open Sans" panose="020B0606030504020204" pitchFamily="34" charset="0"/>
              </a:rPr>
              <a:t> also consists of several neurons, but the number of neurons in this layer doesn’t have to be equal the number of neurons in the input layer.</a:t>
            </a:r>
          </a:p>
          <a:p>
            <a:pPr>
              <a:buFont typeface="Arial" panose="020B0604020202020204" pitchFamily="34" charset="0"/>
              <a:buChar char="•"/>
            </a:pPr>
            <a:r>
              <a:rPr lang="en-US" altLang="en-US" sz="2000">
                <a:latin typeface="Open Sans" panose="020B0606030504020204" pitchFamily="34" charset="0"/>
              </a:rPr>
              <a:t>This can be used to solve multi-class problem.</a:t>
            </a:r>
          </a:p>
        </p:txBody>
      </p:sp>
    </p:spTree>
  </p:cSld>
  <p:clrMapOvr>
    <a:masterClrMapping/>
  </p:clrMapOvr>
  <p:transition spd="slow">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D3A863E0-B046-B3EC-46D5-A9D786234C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B35C339-7935-480F-9CF6-95D0BF33D666}" type="slidenum">
              <a:rPr lang="en-US" altLang="en-US" sz="1100" smtClean="0">
                <a:latin typeface="Tahoma" panose="020B0604030504040204" pitchFamily="34" charset="0"/>
                <a:ea typeface="MS PGothic" panose="020B0600070205080204" pitchFamily="34" charset="-128"/>
              </a:rPr>
              <a:pPr>
                <a:spcBef>
                  <a:spcPct val="0"/>
                </a:spcBef>
                <a:buFontTx/>
                <a:buNone/>
              </a:pPr>
              <a:t>20</a:t>
            </a:fld>
            <a:endParaRPr lang="en-US" altLang="en-US" sz="1100">
              <a:latin typeface="Tahoma" panose="020B0604030504040204" pitchFamily="34" charset="0"/>
              <a:ea typeface="MS PGothic" panose="020B0600070205080204" pitchFamily="34" charset="-128"/>
            </a:endParaRPr>
          </a:p>
        </p:txBody>
      </p:sp>
      <p:sp>
        <p:nvSpPr>
          <p:cNvPr id="26627" name="Rectangle 2">
            <a:extLst>
              <a:ext uri="{FF2B5EF4-FFF2-40B4-BE49-F238E27FC236}">
                <a16:creationId xmlns:a16="http://schemas.microsoft.com/office/drawing/2014/main" id="{EC5ACDF0-EABB-B622-9153-E7979525BD6C}"/>
              </a:ext>
            </a:extLst>
          </p:cNvPr>
          <p:cNvSpPr>
            <a:spLocks noGrp="1"/>
          </p:cNvSpPr>
          <p:nvPr>
            <p:ph type="title"/>
          </p:nvPr>
        </p:nvSpPr>
        <p:spPr>
          <a:xfrm>
            <a:off x="762000" y="381000"/>
            <a:ext cx="8626475" cy="762000"/>
          </a:xfrm>
        </p:spPr>
        <p:txBody>
          <a:bodyPr lIns="89018" tIns="44510" rIns="89018" bIns="44510"/>
          <a:lstStyle/>
          <a:p>
            <a:pPr eaLnBrk="1" hangingPunct="1"/>
            <a:r>
              <a:rPr lang="en-US" altLang="en-US" sz="3100">
                <a:latin typeface="Open Sans" panose="020B0606030504020204" pitchFamily="34" charset="0"/>
              </a:rPr>
              <a:t>How a Multi-Layer ANN Works</a:t>
            </a:r>
          </a:p>
        </p:txBody>
      </p:sp>
      <p:sp>
        <p:nvSpPr>
          <p:cNvPr id="26628" name="Rectangle 3">
            <a:extLst>
              <a:ext uri="{FF2B5EF4-FFF2-40B4-BE49-F238E27FC236}">
                <a16:creationId xmlns:a16="http://schemas.microsoft.com/office/drawing/2014/main" id="{7AEC551D-542D-3D82-F90D-C4E3F83EAB8A}"/>
              </a:ext>
            </a:extLst>
          </p:cNvPr>
          <p:cNvSpPr>
            <a:spLocks noGrp="1"/>
          </p:cNvSpPr>
          <p:nvPr>
            <p:ph type="body" idx="1"/>
          </p:nvPr>
        </p:nvSpPr>
        <p:spPr>
          <a:xfrm>
            <a:off x="617538" y="1447800"/>
            <a:ext cx="7835900" cy="5029200"/>
          </a:xfrm>
        </p:spPr>
        <p:txBody>
          <a:bodyPr lIns="89018" tIns="44510" rIns="89018" bIns="44510">
            <a:normAutofit fontScale="92500"/>
          </a:bodyPr>
          <a:lstStyle/>
          <a:p>
            <a:pPr eaLnBrk="1" hangingPunct="1">
              <a:lnSpc>
                <a:spcPct val="120000"/>
              </a:lnSpc>
            </a:pPr>
            <a:r>
              <a:rPr lang="en-US" altLang="en-US" sz="1900">
                <a:latin typeface="Open Sans" panose="020B0606030504020204" pitchFamily="34" charset="0"/>
              </a:rPr>
              <a:t>The </a:t>
            </a:r>
            <a:r>
              <a:rPr lang="en-US" altLang="en-US" sz="1900" b="1">
                <a:latin typeface="Open Sans" panose="020B0606030504020204" pitchFamily="34" charset="0"/>
              </a:rPr>
              <a:t>inputs</a:t>
            </a:r>
            <a:r>
              <a:rPr lang="en-US" altLang="en-US" sz="1900">
                <a:latin typeface="Open Sans" panose="020B0606030504020204" pitchFamily="34" charset="0"/>
              </a:rPr>
              <a:t> to the network correspond to the attributes measured for each training tuple.</a:t>
            </a:r>
          </a:p>
          <a:p>
            <a:pPr eaLnBrk="1" hangingPunct="1">
              <a:lnSpc>
                <a:spcPct val="120000"/>
              </a:lnSpc>
            </a:pPr>
            <a:r>
              <a:rPr lang="en-US" altLang="en-US" sz="1900">
                <a:latin typeface="Open Sans" panose="020B0606030504020204" pitchFamily="34" charset="0"/>
              </a:rPr>
              <a:t>Inputs are fed simultaneously into the units making up the </a:t>
            </a:r>
            <a:r>
              <a:rPr lang="en-US" altLang="en-US" sz="1900" b="1">
                <a:latin typeface="Open Sans" panose="020B0606030504020204" pitchFamily="34" charset="0"/>
              </a:rPr>
              <a:t>input layer</a:t>
            </a:r>
            <a:r>
              <a:rPr lang="en-US" altLang="en-US" sz="1900">
                <a:latin typeface="Open Sans" panose="020B0606030504020204" pitchFamily="34" charset="0"/>
              </a:rPr>
              <a:t>.</a:t>
            </a:r>
          </a:p>
          <a:p>
            <a:pPr eaLnBrk="1" hangingPunct="1">
              <a:lnSpc>
                <a:spcPct val="120000"/>
              </a:lnSpc>
            </a:pPr>
            <a:r>
              <a:rPr lang="en-US" altLang="en-US" sz="1900">
                <a:latin typeface="Open Sans" panose="020B0606030504020204" pitchFamily="34" charset="0"/>
              </a:rPr>
              <a:t>They are then weighted and fed simultaneously to a </a:t>
            </a:r>
            <a:r>
              <a:rPr lang="en-US" altLang="en-US" sz="1900" b="1">
                <a:latin typeface="Open Sans" panose="020B0606030504020204" pitchFamily="34" charset="0"/>
              </a:rPr>
              <a:t>hidden layer</a:t>
            </a:r>
            <a:r>
              <a:rPr lang="en-US" altLang="en-US" sz="1900">
                <a:latin typeface="Open Sans" panose="020B0606030504020204" pitchFamily="34" charset="0"/>
              </a:rPr>
              <a:t>.</a:t>
            </a:r>
            <a:endParaRPr lang="en-US" altLang="en-US" sz="1900" b="1">
              <a:latin typeface="Open Sans" panose="020B0606030504020204" pitchFamily="34" charset="0"/>
            </a:endParaRPr>
          </a:p>
          <a:p>
            <a:pPr eaLnBrk="1" hangingPunct="1">
              <a:lnSpc>
                <a:spcPct val="120000"/>
              </a:lnSpc>
            </a:pPr>
            <a:r>
              <a:rPr lang="en-US" altLang="en-US" sz="1900">
                <a:latin typeface="Open Sans" panose="020B0606030504020204" pitchFamily="34" charset="0"/>
              </a:rPr>
              <a:t>The number of hidden layers is arbitrary, although usually only one.</a:t>
            </a:r>
          </a:p>
          <a:p>
            <a:pPr eaLnBrk="1" hangingPunct="1">
              <a:lnSpc>
                <a:spcPct val="120000"/>
              </a:lnSpc>
            </a:pPr>
            <a:r>
              <a:rPr lang="en-US" altLang="en-US" sz="1900">
                <a:latin typeface="Open Sans" panose="020B0606030504020204" pitchFamily="34" charset="0"/>
              </a:rPr>
              <a:t>The weighted outputs of the last hidden layer are input to units making up the </a:t>
            </a:r>
            <a:r>
              <a:rPr lang="en-US" altLang="en-US" sz="1900" b="1">
                <a:latin typeface="Open Sans" panose="020B0606030504020204" pitchFamily="34" charset="0"/>
              </a:rPr>
              <a:t>output layer</a:t>
            </a:r>
            <a:r>
              <a:rPr lang="en-US" altLang="en-US" sz="1900">
                <a:latin typeface="Open Sans" panose="020B0606030504020204" pitchFamily="34" charset="0"/>
              </a:rPr>
              <a:t>, which emits the network's prediction.</a:t>
            </a:r>
          </a:p>
          <a:p>
            <a:pPr eaLnBrk="1" hangingPunct="1">
              <a:lnSpc>
                <a:spcPct val="120000"/>
              </a:lnSpc>
            </a:pPr>
            <a:r>
              <a:rPr lang="en-US" altLang="en-US" sz="1900">
                <a:latin typeface="Open Sans" panose="020B0606030504020204" pitchFamily="34" charset="0"/>
              </a:rPr>
              <a:t>The network is </a:t>
            </a:r>
            <a:r>
              <a:rPr lang="en-US" altLang="en-US" sz="1900" b="1">
                <a:latin typeface="Open Sans" panose="020B0606030504020204" pitchFamily="34" charset="0"/>
              </a:rPr>
              <a:t>feed-forward</a:t>
            </a:r>
            <a:r>
              <a:rPr lang="en-US" altLang="en-US" sz="1900">
                <a:latin typeface="Open Sans" panose="020B0606030504020204" pitchFamily="34" charset="0"/>
              </a:rPr>
              <a:t>: None of the weights cycles back to an input unit or to an output unit of a previous layer.</a:t>
            </a:r>
          </a:p>
          <a:p>
            <a:pPr eaLnBrk="1" hangingPunct="1">
              <a:lnSpc>
                <a:spcPct val="120000"/>
              </a:lnSpc>
            </a:pPr>
            <a:r>
              <a:rPr lang="en-US" altLang="en-US" sz="1900">
                <a:latin typeface="Open Sans" panose="020B0606030504020204" pitchFamily="34" charset="0"/>
              </a:rPr>
              <a:t>From a statistical point of view, networks perform </a:t>
            </a:r>
            <a:r>
              <a:rPr lang="en-US" altLang="en-US" sz="1900" b="1">
                <a:latin typeface="Open Sans" panose="020B0606030504020204" pitchFamily="34" charset="0"/>
              </a:rPr>
              <a:t>nonlinear regression</a:t>
            </a:r>
            <a:r>
              <a:rPr lang="en-US" altLang="en-US" sz="1900">
                <a:latin typeface="Open Sans" panose="020B0606030504020204" pitchFamily="34" charset="0"/>
              </a:rPr>
              <a:t>: Given enough hidden units and enough training samples, they can closely approximate any function.</a:t>
            </a:r>
          </a:p>
        </p:txBody>
      </p:sp>
    </p:spTree>
  </p:cSld>
  <p:clrMapOvr>
    <a:masterClrMapping/>
  </p:clrMapOvr>
  <p:transition spd="slow">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4DAC-12EF-72AF-9A49-6AC5D153AF19}"/>
              </a:ext>
            </a:extLst>
          </p:cNvPr>
          <p:cNvSpPr>
            <a:spLocks noGrp="1"/>
          </p:cNvSpPr>
          <p:nvPr>
            <p:ph type="title"/>
          </p:nvPr>
        </p:nvSpPr>
        <p:spPr>
          <a:xfrm>
            <a:off x="1981200" y="152400"/>
            <a:ext cx="7054850" cy="1143000"/>
          </a:xfrm>
        </p:spPr>
        <p:txBody>
          <a:bodyPr>
            <a:normAutofit fontScale="90000"/>
          </a:bodyPr>
          <a:lstStyle/>
          <a:p>
            <a:pPr>
              <a:defRPr/>
            </a:pPr>
            <a:r>
              <a:rPr lang="en-US" dirty="0"/>
              <a:t>3. Recurrent Neural Network (RNN)</a:t>
            </a:r>
          </a:p>
        </p:txBody>
      </p:sp>
      <p:sp>
        <p:nvSpPr>
          <p:cNvPr id="28675" name="Slide Number Placeholder 3">
            <a:extLst>
              <a:ext uri="{FF2B5EF4-FFF2-40B4-BE49-F238E27FC236}">
                <a16:creationId xmlns:a16="http://schemas.microsoft.com/office/drawing/2014/main" id="{CD741ACF-E443-D1AD-ADC2-3B3B6D54C9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DB3A1E2-F5DF-4B9B-9EF7-139C6DB9CB98}" type="slidenum">
              <a:rPr lang="en-US" altLang="en-US" smtClean="0">
                <a:solidFill>
                  <a:srgbClr val="898989"/>
                </a:solidFill>
                <a:latin typeface="Calibri" panose="020F0502020204030204" pitchFamily="34" charset="0"/>
              </a:rPr>
              <a:pPr/>
              <a:t>21</a:t>
            </a:fld>
            <a:endParaRPr lang="en-US" altLang="en-US">
              <a:solidFill>
                <a:srgbClr val="898989"/>
              </a:solidFill>
              <a:latin typeface="Calibri" panose="020F0502020204030204" pitchFamily="34" charset="0"/>
            </a:endParaRPr>
          </a:p>
        </p:txBody>
      </p:sp>
      <p:pic>
        <p:nvPicPr>
          <p:cNvPr id="28676" name="Picture 5">
            <a:extLst>
              <a:ext uri="{FF2B5EF4-FFF2-40B4-BE49-F238E27FC236}">
                <a16:creationId xmlns:a16="http://schemas.microsoft.com/office/drawing/2014/main" id="{4CE4F9AD-5ADC-99D4-2669-4426B9107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75" y="1535113"/>
            <a:ext cx="8310563" cy="480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Content Placeholder 2">
            <a:extLst>
              <a:ext uri="{FF2B5EF4-FFF2-40B4-BE49-F238E27FC236}">
                <a16:creationId xmlns:a16="http://schemas.microsoft.com/office/drawing/2014/main" id="{A27593BD-958A-7E04-4769-BD0861E4A5E5}"/>
              </a:ext>
            </a:extLst>
          </p:cNvPr>
          <p:cNvSpPr>
            <a:spLocks noGrp="1"/>
          </p:cNvSpPr>
          <p:nvPr>
            <p:ph idx="1"/>
          </p:nvPr>
        </p:nvSpPr>
        <p:spPr>
          <a:xfrm>
            <a:off x="6751638" y="4803775"/>
            <a:ext cx="2222500" cy="1036638"/>
          </a:xfrm>
        </p:spPr>
        <p:txBody>
          <a:bodyPr>
            <a:normAutofit fontScale="92500"/>
          </a:bodyPr>
          <a:lstStyle/>
          <a:p>
            <a:pPr marL="0" indent="0" algn="r">
              <a:buFont typeface="Arial" panose="020B0604020202020204" pitchFamily="34" charset="0"/>
              <a:buNone/>
            </a:pPr>
            <a:r>
              <a:rPr lang="en-US" altLang="en-US" sz="1800">
                <a:solidFill>
                  <a:srgbClr val="0070C0"/>
                </a:solidFill>
                <a:latin typeface="Open Sans" panose="020B0606030504020204" pitchFamily="34" charset="0"/>
              </a:rPr>
              <a:t>RNN Characteristic:</a:t>
            </a:r>
          </a:p>
          <a:p>
            <a:pPr marL="0" indent="0" algn="r">
              <a:buFont typeface="Arial" panose="020B0604020202020204" pitchFamily="34" charset="0"/>
              <a:buNone/>
            </a:pPr>
            <a:r>
              <a:rPr lang="en-US" altLang="en-US" sz="1800">
                <a:solidFill>
                  <a:srgbClr val="0070C0"/>
                </a:solidFill>
                <a:latin typeface="Open Sans" panose="020B0606030504020204" pitchFamily="34" charset="0"/>
              </a:rPr>
              <a:t>There is at least </a:t>
            </a:r>
            <a:r>
              <a:rPr lang="en-US" altLang="en-US" sz="1800" u="sng">
                <a:solidFill>
                  <a:srgbClr val="0070C0"/>
                </a:solidFill>
                <a:latin typeface="Open Sans" panose="020B0606030504020204" pitchFamily="34" charset="0"/>
              </a:rPr>
              <a:t>one</a:t>
            </a:r>
            <a:r>
              <a:rPr lang="en-US" altLang="en-US" sz="1800">
                <a:solidFill>
                  <a:srgbClr val="0070C0"/>
                </a:solidFill>
                <a:latin typeface="Open Sans" panose="020B0606030504020204" pitchFamily="34" charset="0"/>
              </a:rPr>
              <a:t> feedback loop.</a:t>
            </a:r>
          </a:p>
        </p:txBody>
      </p:sp>
      <p:sp>
        <p:nvSpPr>
          <p:cNvPr id="28678" name="TextBox 6">
            <a:extLst>
              <a:ext uri="{FF2B5EF4-FFF2-40B4-BE49-F238E27FC236}">
                <a16:creationId xmlns:a16="http://schemas.microsoft.com/office/drawing/2014/main" id="{71D707A2-A67B-1B4C-28D1-00833549E3B7}"/>
              </a:ext>
            </a:extLst>
          </p:cNvPr>
          <p:cNvSpPr txBox="1">
            <a:spLocks noChangeArrowheads="1"/>
          </p:cNvSpPr>
          <p:nvPr/>
        </p:nvSpPr>
        <p:spPr bwMode="auto">
          <a:xfrm>
            <a:off x="4114800" y="1220788"/>
            <a:ext cx="162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FF0000"/>
                </a:solidFill>
              </a:rPr>
              <a:t>feedback loop</a:t>
            </a:r>
          </a:p>
        </p:txBody>
      </p:sp>
      <p:cxnSp>
        <p:nvCxnSpPr>
          <p:cNvPr id="9" name="Straight Arrow Connector 8">
            <a:extLst>
              <a:ext uri="{FF2B5EF4-FFF2-40B4-BE49-F238E27FC236}">
                <a16:creationId xmlns:a16="http://schemas.microsoft.com/office/drawing/2014/main" id="{C767874A-6EF3-1662-C6F9-530F661C236A}"/>
              </a:ext>
            </a:extLst>
          </p:cNvPr>
          <p:cNvCxnSpPr/>
          <p:nvPr/>
        </p:nvCxnSpPr>
        <p:spPr>
          <a:xfrm flipV="1">
            <a:off x="3505200" y="1535113"/>
            <a:ext cx="609600" cy="2174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8364C28-AFE0-190F-66B0-9A20DC857EFC}"/>
              </a:ext>
            </a:extLst>
          </p:cNvPr>
          <p:cNvCxnSpPr>
            <a:cxnSpLocks/>
          </p:cNvCxnSpPr>
          <p:nvPr/>
        </p:nvCxnSpPr>
        <p:spPr>
          <a:xfrm flipH="1" flipV="1">
            <a:off x="5703888" y="1524000"/>
            <a:ext cx="414337" cy="2746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45CDA-65B8-295A-D56C-EA9515CA8B7C}"/>
              </a:ext>
            </a:extLst>
          </p:cNvPr>
          <p:cNvSpPr>
            <a:spLocks noGrp="1"/>
          </p:cNvSpPr>
          <p:nvPr>
            <p:ph type="title"/>
          </p:nvPr>
        </p:nvSpPr>
        <p:spPr>
          <a:xfrm>
            <a:off x="2133600" y="228600"/>
            <a:ext cx="6781800" cy="1143000"/>
          </a:xfrm>
        </p:spPr>
        <p:txBody>
          <a:bodyPr>
            <a:normAutofit fontScale="90000"/>
          </a:bodyPr>
          <a:lstStyle/>
          <a:p>
            <a:pPr>
              <a:defRPr/>
            </a:pPr>
            <a:r>
              <a:rPr lang="en-US" dirty="0"/>
              <a:t>Example 1: ANN Implementation</a:t>
            </a:r>
          </a:p>
        </p:txBody>
      </p:sp>
      <p:sp>
        <p:nvSpPr>
          <p:cNvPr id="3" name="Content Placeholder 2">
            <a:extLst>
              <a:ext uri="{FF2B5EF4-FFF2-40B4-BE49-F238E27FC236}">
                <a16:creationId xmlns:a16="http://schemas.microsoft.com/office/drawing/2014/main" id="{14C89F9D-FD12-024F-D134-C1B50948F42D}"/>
              </a:ext>
            </a:extLst>
          </p:cNvPr>
          <p:cNvSpPr>
            <a:spLocks noGrp="1"/>
          </p:cNvSpPr>
          <p:nvPr>
            <p:ph idx="1"/>
          </p:nvPr>
        </p:nvSpPr>
        <p:spPr/>
        <p:txBody>
          <a:bodyPr/>
          <a:lstStyle/>
          <a:p>
            <a:pPr>
              <a:defRPr/>
            </a:pPr>
            <a:r>
              <a:rPr lang="en-US" sz="2000" dirty="0"/>
              <a:t>Assume we want to classify two kinds of animals, namely mammal and non-mammal. To identify this kind of animal, we use features:</a:t>
            </a:r>
          </a:p>
          <a:p>
            <a:pPr marL="862013" indent="-514350">
              <a:buFont typeface="Arial" panose="020B0604020202020204" pitchFamily="34" charset="0"/>
              <a:buAutoNum type="alphaLcPeriod"/>
              <a:defRPr/>
            </a:pPr>
            <a:r>
              <a:rPr lang="en-US" sz="2000" dirty="0"/>
              <a:t>Are vertebrates? (yes/no)</a:t>
            </a:r>
          </a:p>
          <a:p>
            <a:pPr marL="862013" indent="-514350">
              <a:buFont typeface="Arial" panose="020B0604020202020204" pitchFamily="34" charset="0"/>
              <a:buAutoNum type="alphaLcPeriod"/>
              <a:defRPr/>
            </a:pPr>
            <a:r>
              <a:rPr lang="en-US" sz="2000" dirty="0"/>
              <a:t>Are warm-blooded? (yes/no)</a:t>
            </a:r>
          </a:p>
          <a:p>
            <a:pPr marL="862013" indent="-514350">
              <a:buFont typeface="Arial" panose="020B0604020202020204" pitchFamily="34" charset="0"/>
              <a:buAutoNum type="alphaLcPeriod"/>
              <a:defRPr/>
            </a:pPr>
            <a:r>
              <a:rPr lang="en-US" sz="2000" dirty="0"/>
              <a:t>Have hair on their bodies? (yes/no)</a:t>
            </a:r>
          </a:p>
          <a:p>
            <a:pPr marL="862013" indent="-514350">
              <a:buFont typeface="Arial" panose="020B0604020202020204" pitchFamily="34" charset="0"/>
              <a:buAutoNum type="alphaLcPeriod"/>
              <a:defRPr/>
            </a:pPr>
            <a:r>
              <a:rPr lang="en-US" sz="2000" dirty="0"/>
              <a:t>Produce milk? (yes/no)</a:t>
            </a:r>
          </a:p>
          <a:p>
            <a:pPr marL="347663" indent="0">
              <a:buFont typeface="Arial" panose="020B0604020202020204" pitchFamily="34" charset="0"/>
              <a:buNone/>
              <a:defRPr/>
            </a:pPr>
            <a:r>
              <a:rPr lang="en-US" sz="2000" dirty="0"/>
              <a:t>Assume we have the data as follows:</a:t>
            </a:r>
          </a:p>
        </p:txBody>
      </p:sp>
      <p:sp>
        <p:nvSpPr>
          <p:cNvPr id="29700" name="Slide Number Placeholder 3">
            <a:extLst>
              <a:ext uri="{FF2B5EF4-FFF2-40B4-BE49-F238E27FC236}">
                <a16:creationId xmlns:a16="http://schemas.microsoft.com/office/drawing/2014/main" id="{D5483730-D39B-FBFF-1396-B6BDF7BB86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1C0A38-AC66-4181-8F81-7ED1B57265B5}" type="slidenum">
              <a:rPr lang="en-US" altLang="en-US" smtClean="0">
                <a:solidFill>
                  <a:srgbClr val="898989"/>
                </a:solidFill>
                <a:latin typeface="Calibri" panose="020F0502020204030204" pitchFamily="34" charset="0"/>
              </a:rPr>
              <a:pPr/>
              <a:t>22</a:t>
            </a:fld>
            <a:endParaRPr lang="en-US" altLang="en-US">
              <a:solidFill>
                <a:srgbClr val="898989"/>
              </a:solidFill>
              <a:latin typeface="Calibri" panose="020F0502020204030204" pitchFamily="34" charset="0"/>
            </a:endParaRPr>
          </a:p>
        </p:txBody>
      </p:sp>
      <p:pic>
        <p:nvPicPr>
          <p:cNvPr id="29701" name="Picture 6">
            <a:extLst>
              <a:ext uri="{FF2B5EF4-FFF2-40B4-BE49-F238E27FC236}">
                <a16:creationId xmlns:a16="http://schemas.microsoft.com/office/drawing/2014/main" id="{1D9E03DD-E251-5958-E4F7-D6F9BD0B7B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4213225"/>
            <a:ext cx="7543800"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4C74198-BBC6-2F2A-902F-3EC62B4B7168}"/>
              </a:ext>
            </a:extLst>
          </p:cNvPr>
          <p:cNvSpPr txBox="1"/>
          <p:nvPr/>
        </p:nvSpPr>
        <p:spPr>
          <a:xfrm>
            <a:off x="6528007" y="3894870"/>
            <a:ext cx="2595582" cy="369332"/>
          </a:xfrm>
          <a:prstGeom prst="rect">
            <a:avLst/>
          </a:prstGeom>
          <a:noFill/>
        </p:spPr>
        <p:txBody>
          <a:bodyPr wrap="none">
            <a:spAutoFit/>
          </a:bodyPr>
          <a:lstStyle/>
          <a:p>
            <a:pPr>
              <a:defRPr/>
            </a:pPr>
            <a:r>
              <a:rPr lang="en-US" dirty="0">
                <a:solidFill>
                  <a:srgbClr val="C00000"/>
                </a:solidFill>
                <a:highlight>
                  <a:srgbClr val="FFFF00"/>
                </a:highlight>
              </a:rPr>
              <a:t>convert data to numeric</a:t>
            </a:r>
          </a:p>
        </p:txBody>
      </p:sp>
    </p:spTree>
  </p:cSld>
  <p:clrMapOvr>
    <a:masterClrMapping/>
  </p:clrMapOvr>
  <p:transition spd="slow">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72B61-A150-0840-4F73-9E91C0E7FC95}"/>
              </a:ext>
            </a:extLst>
          </p:cNvPr>
          <p:cNvSpPr>
            <a:spLocks noGrp="1"/>
          </p:cNvSpPr>
          <p:nvPr>
            <p:ph type="title"/>
          </p:nvPr>
        </p:nvSpPr>
        <p:spPr>
          <a:xfrm>
            <a:off x="2133600" y="228600"/>
            <a:ext cx="6781800" cy="1143000"/>
          </a:xfrm>
        </p:spPr>
        <p:txBody>
          <a:bodyPr>
            <a:normAutofit fontScale="90000"/>
          </a:bodyPr>
          <a:lstStyle/>
          <a:p>
            <a:pPr>
              <a:defRPr/>
            </a:pPr>
            <a:r>
              <a:rPr lang="en-US" dirty="0"/>
              <a:t>Example 1: ANN Implementation (cont.)</a:t>
            </a:r>
          </a:p>
        </p:txBody>
      </p:sp>
      <p:sp>
        <p:nvSpPr>
          <p:cNvPr id="30723" name="Content Placeholder 2">
            <a:extLst>
              <a:ext uri="{FF2B5EF4-FFF2-40B4-BE49-F238E27FC236}">
                <a16:creationId xmlns:a16="http://schemas.microsoft.com/office/drawing/2014/main" id="{35B3D1D9-11BD-46D8-FA81-331C5EA65FE6}"/>
              </a:ext>
            </a:extLst>
          </p:cNvPr>
          <p:cNvSpPr>
            <a:spLocks noGrp="1"/>
          </p:cNvSpPr>
          <p:nvPr>
            <p:ph idx="1"/>
          </p:nvPr>
        </p:nvSpPr>
        <p:spPr/>
        <p:txBody>
          <a:bodyPr/>
          <a:lstStyle/>
          <a:p>
            <a:r>
              <a:rPr lang="en-US" altLang="en-US" sz="2000">
                <a:latin typeface="Open Sans" panose="020B0606030504020204" pitchFamily="34" charset="0"/>
              </a:rPr>
              <a:t>This data consists of features value and target that we obtain from observation.</a:t>
            </a:r>
          </a:p>
          <a:p>
            <a:r>
              <a:rPr lang="en-US" altLang="en-US" sz="2000">
                <a:latin typeface="Open Sans" panose="020B0606030504020204" pitchFamily="34" charset="0"/>
              </a:rPr>
              <a:t>If features have value = 1, it means </a:t>
            </a:r>
            <a:r>
              <a:rPr lang="en-US" altLang="en-US" sz="2000" b="1">
                <a:latin typeface="Open Sans" panose="020B0606030504020204" pitchFamily="34" charset="0"/>
              </a:rPr>
              <a:t>yes</a:t>
            </a:r>
            <a:r>
              <a:rPr lang="en-US" altLang="en-US" sz="2000">
                <a:latin typeface="Open Sans" panose="020B0606030504020204" pitchFamily="34" charset="0"/>
              </a:rPr>
              <a:t>, and 0 otherwise.</a:t>
            </a:r>
          </a:p>
          <a:p>
            <a:r>
              <a:rPr lang="en-US" altLang="en-US" sz="2000">
                <a:latin typeface="Open Sans" panose="020B0606030504020204" pitchFamily="34" charset="0"/>
              </a:rPr>
              <a:t>Target =1, it means </a:t>
            </a:r>
            <a:r>
              <a:rPr lang="en-US" altLang="en-US" sz="2000" b="1">
                <a:latin typeface="Open Sans" panose="020B0606030504020204" pitchFamily="34" charset="0"/>
              </a:rPr>
              <a:t>mammal </a:t>
            </a:r>
            <a:r>
              <a:rPr lang="en-US" altLang="en-US" sz="2000">
                <a:latin typeface="Open Sans" panose="020B0606030504020204" pitchFamily="34" charset="0"/>
              </a:rPr>
              <a:t>and 0 otherwise.</a:t>
            </a:r>
          </a:p>
        </p:txBody>
      </p:sp>
      <p:sp>
        <p:nvSpPr>
          <p:cNvPr id="30724" name="Slide Number Placeholder 3">
            <a:extLst>
              <a:ext uri="{FF2B5EF4-FFF2-40B4-BE49-F238E27FC236}">
                <a16:creationId xmlns:a16="http://schemas.microsoft.com/office/drawing/2014/main" id="{F3D4CEDF-5893-6190-C53E-E39C7E81E9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736DA3-1CE7-44FC-8181-C286299CB03C}" type="slidenum">
              <a:rPr lang="en-US" altLang="en-US" smtClean="0">
                <a:solidFill>
                  <a:srgbClr val="898989"/>
                </a:solidFill>
                <a:latin typeface="Calibri" panose="020F0502020204030204" pitchFamily="34" charset="0"/>
              </a:rPr>
              <a:pPr/>
              <a:t>23</a:t>
            </a:fld>
            <a:endParaRPr lang="en-US" altLang="en-US">
              <a:solidFill>
                <a:srgbClr val="898989"/>
              </a:solidFill>
              <a:latin typeface="Calibri" panose="020F0502020204030204" pitchFamily="34" charset="0"/>
            </a:endParaRPr>
          </a:p>
        </p:txBody>
      </p:sp>
      <p:pic>
        <p:nvPicPr>
          <p:cNvPr id="30725" name="Picture 5">
            <a:extLst>
              <a:ext uri="{FF2B5EF4-FFF2-40B4-BE49-F238E27FC236}">
                <a16:creationId xmlns:a16="http://schemas.microsoft.com/office/drawing/2014/main" id="{B4644D24-DABD-77BF-3DCB-C1EC668F4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3488" y="3048000"/>
            <a:ext cx="4024312"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Content Placeholder 2">
            <a:extLst>
              <a:ext uri="{FF2B5EF4-FFF2-40B4-BE49-F238E27FC236}">
                <a16:creationId xmlns:a16="http://schemas.microsoft.com/office/drawing/2014/main" id="{418D721B-7C92-16AB-85F8-45B872AB0BCC}"/>
              </a:ext>
            </a:extLst>
          </p:cNvPr>
          <p:cNvSpPr txBox="1">
            <a:spLocks/>
          </p:cNvSpPr>
          <p:nvPr/>
        </p:nvSpPr>
        <p:spPr bwMode="auto">
          <a:xfrm>
            <a:off x="685800" y="3440113"/>
            <a:ext cx="4495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2000">
                <a:latin typeface="Open Sans" panose="020B0606030504020204" pitchFamily="34" charset="0"/>
              </a:rPr>
              <a:t>From this data, we represent each feature as a neuron in input layer and a neuron output layer, since this is linearly-separable case. Representation of this case in ANN as follows:</a:t>
            </a:r>
          </a:p>
        </p:txBody>
      </p:sp>
    </p:spTree>
  </p:cSld>
  <p:clrMapOvr>
    <a:masterClrMapping/>
  </p:clrMapOvr>
  <p:transition spd="slow">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6CC5F7-5D2D-B2C7-6C6A-1D7900B415E8}"/>
              </a:ext>
            </a:extLst>
          </p:cNvPr>
          <p:cNvSpPr>
            <a:spLocks noGrp="1"/>
          </p:cNvSpPr>
          <p:nvPr>
            <p:ph type="title"/>
          </p:nvPr>
        </p:nvSpPr>
        <p:spPr>
          <a:xfrm>
            <a:off x="914400" y="2895600"/>
            <a:ext cx="7772400" cy="1362075"/>
          </a:xfrm>
        </p:spPr>
        <p:txBody>
          <a:bodyPr/>
          <a:lstStyle/>
          <a:p>
            <a:pPr algn="ctr">
              <a:defRPr/>
            </a:pPr>
            <a:r>
              <a:rPr lang="en-US" dirty="0"/>
              <a:t>Network Training</a:t>
            </a:r>
          </a:p>
        </p:txBody>
      </p:sp>
      <p:sp>
        <p:nvSpPr>
          <p:cNvPr id="31747" name="Slide Number Placeholder 3">
            <a:extLst>
              <a:ext uri="{FF2B5EF4-FFF2-40B4-BE49-F238E27FC236}">
                <a16:creationId xmlns:a16="http://schemas.microsoft.com/office/drawing/2014/main" id="{CBCB8BF8-F714-A163-ACEA-D3E65146DCA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0463199-BFE3-45B9-B58D-F4A1FBBA6451}" type="slidenum">
              <a:rPr lang="en-US" altLang="en-US" smtClean="0">
                <a:solidFill>
                  <a:srgbClr val="898989"/>
                </a:solidFill>
                <a:latin typeface="Calibri" panose="020F0502020204030204" pitchFamily="34" charset="0"/>
              </a:rPr>
              <a:pPr/>
              <a:t>24</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E885A5D-5554-3EAD-B253-9ACBE195A764}"/>
              </a:ext>
            </a:extLst>
          </p:cNvPr>
          <p:cNvSpPr>
            <a:spLocks noGrp="1"/>
          </p:cNvSpPr>
          <p:nvPr>
            <p:ph type="title"/>
          </p:nvPr>
        </p:nvSpPr>
        <p:spPr>
          <a:xfrm>
            <a:off x="2095500" y="133350"/>
            <a:ext cx="6324600" cy="1143000"/>
          </a:xfrm>
        </p:spPr>
        <p:txBody>
          <a:bodyPr/>
          <a:lstStyle/>
          <a:p>
            <a:r>
              <a:rPr lang="en-US" altLang="en-US">
                <a:latin typeface="Open Sans" panose="020B0606030504020204" pitchFamily="34" charset="0"/>
              </a:rPr>
              <a:t>Artificial Neural Network </a:t>
            </a:r>
          </a:p>
        </p:txBody>
      </p:sp>
      <p:graphicFrame>
        <p:nvGraphicFramePr>
          <p:cNvPr id="32771" name="Object 3">
            <a:extLst>
              <a:ext uri="{FF2B5EF4-FFF2-40B4-BE49-F238E27FC236}">
                <a16:creationId xmlns:a16="http://schemas.microsoft.com/office/drawing/2014/main" id="{AC286938-3851-886A-0A6D-4005ADD50F6E}"/>
              </a:ext>
            </a:extLst>
          </p:cNvPr>
          <p:cNvGraphicFramePr>
            <a:graphicFrameLocks/>
          </p:cNvGraphicFramePr>
          <p:nvPr/>
        </p:nvGraphicFramePr>
        <p:xfrm>
          <a:off x="666750" y="1524000"/>
          <a:ext cx="3905250" cy="4724400"/>
        </p:xfrm>
        <a:graphic>
          <a:graphicData uri="http://schemas.openxmlformats.org/presentationml/2006/ole">
            <mc:AlternateContent xmlns:mc="http://schemas.openxmlformats.org/markup-compatibility/2006">
              <mc:Choice xmlns:v="urn:schemas-microsoft-com:vml" Requires="v">
                <p:oleObj r:id="rId2" imgW="5484960" imgH="6783840" progId="Visio.Drawing.11">
                  <p:embed/>
                </p:oleObj>
              </mc:Choice>
              <mc:Fallback>
                <p:oleObj r:id="rId2" imgW="5484960" imgH="6783840" progId="Visio.Drawing.11">
                  <p:embed/>
                  <p:pic>
                    <p:nvPicPr>
                      <p:cNvPr id="32771" name="Object 3">
                        <a:extLst>
                          <a:ext uri="{FF2B5EF4-FFF2-40B4-BE49-F238E27FC236}">
                            <a16:creationId xmlns:a16="http://schemas.microsoft.com/office/drawing/2014/main" id="{AC286938-3851-886A-0A6D-4005ADD50F6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 y="1524000"/>
                        <a:ext cx="39052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772" name="Content Placeholder 1082370">
            <a:extLst>
              <a:ext uri="{FF2B5EF4-FFF2-40B4-BE49-F238E27FC236}">
                <a16:creationId xmlns:a16="http://schemas.microsoft.com/office/drawing/2014/main" id="{3E8E444A-F3C8-8392-DB31-E97D692227B0}"/>
              </a:ext>
            </a:extLst>
          </p:cNvPr>
          <p:cNvGraphicFramePr>
            <a:graphicFrameLocks/>
          </p:cNvGraphicFramePr>
          <p:nvPr>
            <p:ph sz="half" idx="1"/>
          </p:nvPr>
        </p:nvGraphicFramePr>
        <p:xfrm>
          <a:off x="4648200" y="2339975"/>
          <a:ext cx="4419600" cy="2460625"/>
        </p:xfrm>
        <a:graphic>
          <a:graphicData uri="http://schemas.openxmlformats.org/presentationml/2006/ole">
            <mc:AlternateContent xmlns:mc="http://schemas.openxmlformats.org/markup-compatibility/2006">
              <mc:Choice xmlns:v="urn:schemas-microsoft-com:vml" Requires="v">
                <p:oleObj r:id="rId4" imgW="8061120" imgH="4587840" progId="Visio.Drawing.6">
                  <p:embed/>
                </p:oleObj>
              </mc:Choice>
              <mc:Fallback>
                <p:oleObj r:id="rId4" imgW="8061120" imgH="4587840" progId="Visio.Drawing.6">
                  <p:embed/>
                  <p:pic>
                    <p:nvPicPr>
                      <p:cNvPr id="32772" name="Content Placeholder 1082370">
                        <a:extLst>
                          <a:ext uri="{FF2B5EF4-FFF2-40B4-BE49-F238E27FC236}">
                            <a16:creationId xmlns:a16="http://schemas.microsoft.com/office/drawing/2014/main" id="{3E8E444A-F3C8-8392-DB31-E97D692227B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2339975"/>
                        <a:ext cx="4419600"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3" name="Text Box 1082372">
            <a:extLst>
              <a:ext uri="{FF2B5EF4-FFF2-40B4-BE49-F238E27FC236}">
                <a16:creationId xmlns:a16="http://schemas.microsoft.com/office/drawing/2014/main" id="{76272DC8-4A62-6B04-A648-C7F82E713342}"/>
              </a:ext>
            </a:extLst>
          </p:cNvPr>
          <p:cNvSpPr txBox="1">
            <a:spLocks noChangeArrowheads="1"/>
          </p:cNvSpPr>
          <p:nvPr/>
        </p:nvSpPr>
        <p:spPr bwMode="auto">
          <a:xfrm>
            <a:off x="5181600" y="5167313"/>
            <a:ext cx="3886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2000">
                <a:latin typeface="Arial" panose="020B0604020202020204" pitchFamily="34" charset="0"/>
                <a:cs typeface="Times New Roman" panose="02020603050405020304" pitchFamily="18" charset="0"/>
              </a:rPr>
              <a:t>Training ANN means </a:t>
            </a:r>
            <a:r>
              <a:rPr lang="en-US" altLang="en-US" sz="2000" b="1">
                <a:solidFill>
                  <a:srgbClr val="FF0000"/>
                </a:solidFill>
                <a:latin typeface="Arial" panose="020B0604020202020204" pitchFamily="34" charset="0"/>
                <a:cs typeface="Times New Roman" panose="02020603050405020304" pitchFamily="18" charset="0"/>
              </a:rPr>
              <a:t>learning the weights</a:t>
            </a:r>
            <a:r>
              <a:rPr lang="en-US" altLang="en-US" sz="2000">
                <a:latin typeface="Arial" panose="020B0604020202020204" pitchFamily="34" charset="0"/>
                <a:cs typeface="Times New Roman" panose="02020603050405020304" pitchFamily="18" charset="0"/>
              </a:rPr>
              <a:t> of the neurons</a:t>
            </a:r>
          </a:p>
        </p:txBody>
      </p:sp>
      <p:sp>
        <p:nvSpPr>
          <p:cNvPr id="32774" name="Curved Up Arrow 1082373">
            <a:extLst>
              <a:ext uri="{FF2B5EF4-FFF2-40B4-BE49-F238E27FC236}">
                <a16:creationId xmlns:a16="http://schemas.microsoft.com/office/drawing/2014/main" id="{80006F3D-8566-6F06-B220-29E8DD07856B}"/>
              </a:ext>
            </a:extLst>
          </p:cNvPr>
          <p:cNvSpPr>
            <a:spLocks noChangeArrowheads="1"/>
          </p:cNvSpPr>
          <p:nvPr/>
        </p:nvSpPr>
        <p:spPr bwMode="auto">
          <a:xfrm>
            <a:off x="3581400" y="4283075"/>
            <a:ext cx="1981200" cy="365125"/>
          </a:xfrm>
          <a:prstGeom prst="curvedUpArrow">
            <a:avLst>
              <a:gd name="adj1" fmla="val 44313"/>
              <a:gd name="adj2" fmla="val 124298"/>
              <a:gd name="adj3" fmla="val 37287"/>
            </a:avLst>
          </a:prstGeom>
          <a:solidFill>
            <a:schemeClr val="accent1"/>
          </a:solidFill>
          <a:ln w="12700">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endParaRPr lang="en-GB" altLang="en-US" sz="1800">
              <a:latin typeface="Arial" panose="020B0604020202020204" pitchFamily="34" charset="0"/>
            </a:endParaRPr>
          </a:p>
        </p:txBody>
      </p:sp>
      <p:sp>
        <p:nvSpPr>
          <p:cNvPr id="32775" name="Slide Number Placeholder 1">
            <a:extLst>
              <a:ext uri="{FF2B5EF4-FFF2-40B4-BE49-F238E27FC236}">
                <a16:creationId xmlns:a16="http://schemas.microsoft.com/office/drawing/2014/main" id="{19D73C7A-436B-CF6F-6E4C-D104C6F541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58D6193-2FBA-41D9-90F8-3E8324C3BCAD}"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cSld>
  <p:clrMapOvr>
    <a:masterClrMapping/>
  </p:clrMapOvr>
  <p:transition>
    <p:checke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167EAC47-47F6-06D5-30AA-52CC77B0AB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6B14050-B2FA-40F5-803B-158DDB0F824D}" type="slidenum">
              <a:rPr lang="en-US" altLang="en-US" sz="1100" smtClean="0">
                <a:latin typeface="Tahoma" panose="020B0604030504040204" pitchFamily="34" charset="0"/>
                <a:ea typeface="MS PGothic" panose="020B0600070205080204" pitchFamily="34" charset="-128"/>
              </a:rPr>
              <a:pPr>
                <a:spcBef>
                  <a:spcPct val="0"/>
                </a:spcBef>
                <a:buFontTx/>
                <a:buNone/>
              </a:pPr>
              <a:t>26</a:t>
            </a:fld>
            <a:endParaRPr lang="en-US" altLang="en-US" sz="1100">
              <a:latin typeface="Tahoma" panose="020B0604030504040204" pitchFamily="34" charset="0"/>
              <a:ea typeface="MS PGothic" panose="020B0600070205080204" pitchFamily="34" charset="-128"/>
            </a:endParaRPr>
          </a:p>
        </p:txBody>
      </p:sp>
      <p:sp>
        <p:nvSpPr>
          <p:cNvPr id="64515" name="Rectangle 2">
            <a:extLst>
              <a:ext uri="{FF2B5EF4-FFF2-40B4-BE49-F238E27FC236}">
                <a16:creationId xmlns:a16="http://schemas.microsoft.com/office/drawing/2014/main" id="{CF75861F-2907-D3F8-33EC-A4518AB97DB6}"/>
              </a:ext>
            </a:extLst>
          </p:cNvPr>
          <p:cNvSpPr>
            <a:spLocks noGrp="1" noChangeArrowheads="1"/>
          </p:cNvSpPr>
          <p:nvPr>
            <p:ph type="title"/>
          </p:nvPr>
        </p:nvSpPr>
        <p:spPr>
          <a:xfrm>
            <a:off x="1303338" y="381000"/>
            <a:ext cx="7764462" cy="609600"/>
          </a:xfrm>
        </p:spPr>
        <p:txBody>
          <a:bodyPr lIns="89018" tIns="44510" rIns="89018" bIns="44510">
            <a:normAutofit fontScale="90000"/>
          </a:bodyPr>
          <a:lstStyle/>
          <a:p>
            <a:pPr eaLnBrk="1" hangingPunct="1">
              <a:defRPr/>
            </a:pPr>
            <a:r>
              <a:rPr lang="en-US" altLang="en-US" dirty="0">
                <a:ea typeface="ＭＳ Ｐゴシック" pitchFamily="34" charset="-128"/>
              </a:rPr>
              <a:t>Defining a Network Topology</a:t>
            </a:r>
          </a:p>
        </p:txBody>
      </p:sp>
      <p:sp>
        <p:nvSpPr>
          <p:cNvPr id="33796" name="Rectangle 3">
            <a:extLst>
              <a:ext uri="{FF2B5EF4-FFF2-40B4-BE49-F238E27FC236}">
                <a16:creationId xmlns:a16="http://schemas.microsoft.com/office/drawing/2014/main" id="{ED1BC4A2-037B-6394-DD74-26693C873D9C}"/>
              </a:ext>
            </a:extLst>
          </p:cNvPr>
          <p:cNvSpPr>
            <a:spLocks noGrp="1"/>
          </p:cNvSpPr>
          <p:nvPr>
            <p:ph type="body" idx="1"/>
          </p:nvPr>
        </p:nvSpPr>
        <p:spPr>
          <a:xfrm>
            <a:off x="685800" y="1447800"/>
            <a:ext cx="7912100" cy="5105400"/>
          </a:xfrm>
        </p:spPr>
        <p:txBody>
          <a:bodyPr lIns="89018" tIns="44510" rIns="89018" bIns="44510"/>
          <a:lstStyle/>
          <a:p>
            <a:pPr eaLnBrk="1" hangingPunct="1">
              <a:lnSpc>
                <a:spcPct val="110000"/>
              </a:lnSpc>
            </a:pPr>
            <a:r>
              <a:rPr lang="en-US" altLang="en-US" sz="2300">
                <a:latin typeface="Open Sans" panose="020B0606030504020204" pitchFamily="34" charset="0"/>
              </a:rPr>
              <a:t>Decide the </a:t>
            </a:r>
            <a:r>
              <a:rPr lang="en-US" altLang="en-US" sz="2300" b="1">
                <a:latin typeface="Open Sans" panose="020B0606030504020204" pitchFamily="34" charset="0"/>
              </a:rPr>
              <a:t>network topology: </a:t>
            </a:r>
            <a:r>
              <a:rPr lang="en-US" altLang="en-US" sz="2300">
                <a:latin typeface="Open Sans" panose="020B0606030504020204" pitchFamily="34" charset="0"/>
              </a:rPr>
              <a:t>Specify # of units in the </a:t>
            </a:r>
            <a:r>
              <a:rPr lang="en-US" altLang="en-US" sz="2300" i="1">
                <a:latin typeface="Open Sans" panose="020B0606030504020204" pitchFamily="34" charset="0"/>
              </a:rPr>
              <a:t>input layer</a:t>
            </a:r>
            <a:r>
              <a:rPr lang="en-US" altLang="en-US" sz="2300">
                <a:latin typeface="Open Sans" panose="020B0606030504020204" pitchFamily="34" charset="0"/>
              </a:rPr>
              <a:t>, # of </a:t>
            </a:r>
            <a:r>
              <a:rPr lang="en-US" altLang="en-US" sz="2300" i="1">
                <a:latin typeface="Open Sans" panose="020B0606030504020204" pitchFamily="34" charset="0"/>
              </a:rPr>
              <a:t>hidden layers</a:t>
            </a:r>
            <a:r>
              <a:rPr lang="en-US" altLang="en-US" sz="2300">
                <a:latin typeface="Open Sans" panose="020B0606030504020204" pitchFamily="34" charset="0"/>
              </a:rPr>
              <a:t> (if &gt; 1), # of units in </a:t>
            </a:r>
            <a:r>
              <a:rPr lang="en-US" altLang="en-US" sz="2300" i="1">
                <a:latin typeface="Open Sans" panose="020B0606030504020204" pitchFamily="34" charset="0"/>
              </a:rPr>
              <a:t>each hidden layer</a:t>
            </a:r>
            <a:r>
              <a:rPr lang="en-US" altLang="en-US" sz="2300">
                <a:latin typeface="Open Sans" panose="020B0606030504020204" pitchFamily="34" charset="0"/>
              </a:rPr>
              <a:t>, and # of units in the </a:t>
            </a:r>
            <a:r>
              <a:rPr lang="en-US" altLang="en-US" sz="2300" i="1">
                <a:latin typeface="Open Sans" panose="020B0606030504020204" pitchFamily="34" charset="0"/>
              </a:rPr>
              <a:t>output layer.</a:t>
            </a:r>
          </a:p>
          <a:p>
            <a:pPr eaLnBrk="1" hangingPunct="1">
              <a:lnSpc>
                <a:spcPct val="110000"/>
              </a:lnSpc>
            </a:pPr>
            <a:r>
              <a:rPr lang="en-US" altLang="en-US" sz="2300">
                <a:latin typeface="Open Sans" panose="020B0606030504020204" pitchFamily="34" charset="0"/>
              </a:rPr>
              <a:t>Normalize the input values for each attribute measured in the training tuples to [0.0—1.0].</a:t>
            </a:r>
          </a:p>
          <a:p>
            <a:pPr eaLnBrk="1" hangingPunct="1">
              <a:lnSpc>
                <a:spcPct val="110000"/>
              </a:lnSpc>
            </a:pPr>
            <a:r>
              <a:rPr lang="en-US" altLang="en-US" sz="2300">
                <a:latin typeface="Open Sans" panose="020B0606030504020204" pitchFamily="34" charset="0"/>
              </a:rPr>
              <a:t>One </a:t>
            </a:r>
            <a:r>
              <a:rPr lang="en-US" altLang="en-US" sz="2300" b="1">
                <a:latin typeface="Open Sans" panose="020B0606030504020204" pitchFamily="34" charset="0"/>
              </a:rPr>
              <a:t>input</a:t>
            </a:r>
            <a:r>
              <a:rPr lang="en-US" altLang="en-US" sz="2300">
                <a:latin typeface="Open Sans" panose="020B0606030504020204" pitchFamily="34" charset="0"/>
              </a:rPr>
              <a:t> unit per domain value, each initialized to 0.</a:t>
            </a:r>
          </a:p>
          <a:p>
            <a:pPr eaLnBrk="1" hangingPunct="1">
              <a:lnSpc>
                <a:spcPct val="110000"/>
              </a:lnSpc>
            </a:pPr>
            <a:r>
              <a:rPr lang="en-US" altLang="en-US" sz="2300" b="1">
                <a:latin typeface="Open Sans" panose="020B0606030504020204" pitchFamily="34" charset="0"/>
              </a:rPr>
              <a:t>Output</a:t>
            </a:r>
            <a:r>
              <a:rPr lang="en-US" altLang="en-US" sz="2300">
                <a:latin typeface="Open Sans" panose="020B0606030504020204" pitchFamily="34" charset="0"/>
              </a:rPr>
              <a:t>, if for classification and more than two classes, one output unit per class is used.</a:t>
            </a:r>
          </a:p>
          <a:p>
            <a:pPr eaLnBrk="1" hangingPunct="1">
              <a:lnSpc>
                <a:spcPct val="110000"/>
              </a:lnSpc>
            </a:pPr>
            <a:r>
              <a:rPr lang="en-US" altLang="en-US" sz="2300">
                <a:latin typeface="Open Sans" panose="020B0606030504020204" pitchFamily="34" charset="0"/>
              </a:rPr>
              <a:t>Once a network has been trained and its accuracy is </a:t>
            </a:r>
            <a:r>
              <a:rPr lang="en-US" altLang="en-US" sz="2300" b="1">
                <a:latin typeface="Open Sans" panose="020B0606030504020204" pitchFamily="34" charset="0"/>
              </a:rPr>
              <a:t>unacceptable</a:t>
            </a:r>
            <a:r>
              <a:rPr lang="en-US" altLang="en-US" sz="2300">
                <a:latin typeface="Open Sans" panose="020B0606030504020204" pitchFamily="34" charset="0"/>
              </a:rPr>
              <a:t>, repeat the training process with a </a:t>
            </a:r>
            <a:r>
              <a:rPr lang="en-US" altLang="en-US" sz="2300" i="1">
                <a:latin typeface="Open Sans" panose="020B0606030504020204" pitchFamily="34" charset="0"/>
              </a:rPr>
              <a:t>different network topology</a:t>
            </a:r>
            <a:r>
              <a:rPr lang="en-US" altLang="en-US" sz="2300">
                <a:latin typeface="Open Sans" panose="020B0606030504020204" pitchFamily="34" charset="0"/>
              </a:rPr>
              <a:t> or a </a:t>
            </a:r>
            <a:r>
              <a:rPr lang="en-US" altLang="en-US" sz="2300" i="1">
                <a:latin typeface="Open Sans" panose="020B0606030504020204" pitchFamily="34" charset="0"/>
              </a:rPr>
              <a:t>different set of initial weights.</a:t>
            </a:r>
          </a:p>
        </p:txBody>
      </p:sp>
    </p:spTree>
  </p:cSld>
  <p:clrMapOvr>
    <a:masterClrMapping/>
  </p:clrMapOvr>
  <p:transition spd="slow">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1">
            <a:extLst>
              <a:ext uri="{FF2B5EF4-FFF2-40B4-BE49-F238E27FC236}">
                <a16:creationId xmlns:a16="http://schemas.microsoft.com/office/drawing/2014/main" id="{DD6ADCF4-2952-4B85-6CDA-FCBCEE28F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0" y="2168525"/>
            <a:ext cx="6019800" cy="442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A0EE1E8-4A8B-32A9-2F3D-AE8B888389A3}"/>
              </a:ext>
            </a:extLst>
          </p:cNvPr>
          <p:cNvSpPr>
            <a:spLocks noGrp="1"/>
          </p:cNvSpPr>
          <p:nvPr>
            <p:ph type="title"/>
          </p:nvPr>
        </p:nvSpPr>
        <p:spPr>
          <a:xfrm>
            <a:off x="2057400" y="228600"/>
            <a:ext cx="6324600" cy="1143000"/>
          </a:xfrm>
        </p:spPr>
        <p:txBody>
          <a:bodyPr>
            <a:normAutofit fontScale="90000"/>
          </a:bodyPr>
          <a:lstStyle/>
          <a:p>
            <a:pPr>
              <a:defRPr/>
            </a:pPr>
            <a:r>
              <a:rPr lang="en-US" dirty="0"/>
              <a:t>Learning Function and Activation Function</a:t>
            </a:r>
          </a:p>
        </p:txBody>
      </p:sp>
      <p:sp>
        <p:nvSpPr>
          <p:cNvPr id="35844" name="Slide Number Placeholder 3">
            <a:extLst>
              <a:ext uri="{FF2B5EF4-FFF2-40B4-BE49-F238E27FC236}">
                <a16:creationId xmlns:a16="http://schemas.microsoft.com/office/drawing/2014/main" id="{6CC28947-981D-691A-C88D-66B8C20DDD4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6FF981-E713-424D-A3F1-BF795EE35A1C}" type="slidenum">
              <a:rPr lang="en-US" altLang="en-US" smtClean="0">
                <a:solidFill>
                  <a:srgbClr val="898989"/>
                </a:solidFill>
                <a:latin typeface="Calibri" panose="020F0502020204030204" pitchFamily="34" charset="0"/>
              </a:rPr>
              <a:pPr/>
              <a:t>27</a:t>
            </a:fld>
            <a:endParaRPr lang="en-US" altLang="en-US">
              <a:solidFill>
                <a:srgbClr val="898989"/>
              </a:solidFill>
              <a:latin typeface="Calibri" panose="020F0502020204030204" pitchFamily="34" charset="0"/>
            </a:endParaRPr>
          </a:p>
        </p:txBody>
      </p:sp>
      <p:sp>
        <p:nvSpPr>
          <p:cNvPr id="3" name="Content Placeholder 2">
            <a:extLst>
              <a:ext uri="{FF2B5EF4-FFF2-40B4-BE49-F238E27FC236}">
                <a16:creationId xmlns:a16="http://schemas.microsoft.com/office/drawing/2014/main" id="{045D04CA-7643-BED7-C4AE-41520130F48F}"/>
              </a:ext>
            </a:extLst>
          </p:cNvPr>
          <p:cNvSpPr>
            <a:spLocks noGrp="1"/>
          </p:cNvSpPr>
          <p:nvPr>
            <p:ph idx="1"/>
          </p:nvPr>
        </p:nvSpPr>
        <p:spPr/>
        <p:txBody>
          <a:bodyPr/>
          <a:lstStyle/>
          <a:p>
            <a:pPr marL="0" indent="0">
              <a:buFont typeface="Arial" panose="020B0604020202020204" pitchFamily="34" charset="0"/>
              <a:buNone/>
              <a:defRPr/>
            </a:pPr>
            <a:r>
              <a:rPr lang="en-US" dirty="0"/>
              <a:t>If ANN is presented as follows:</a:t>
            </a:r>
          </a:p>
          <a:p>
            <a:pPr>
              <a:defRPr/>
            </a:pPr>
            <a:endParaRPr lang="en-US" dirty="0"/>
          </a:p>
          <a:p>
            <a:pPr>
              <a:defRPr/>
            </a:pPr>
            <a:endParaRPr lang="en-US" dirty="0"/>
          </a:p>
          <a:p>
            <a:pPr>
              <a:defRPr/>
            </a:pPr>
            <a:endParaRPr lang="en-US" dirty="0"/>
          </a:p>
          <a:p>
            <a:pPr marL="0" indent="0">
              <a:buFont typeface="Arial" panose="020B0604020202020204" pitchFamily="34" charset="0"/>
              <a:buNone/>
              <a:defRPr/>
            </a:pPr>
            <a:r>
              <a:rPr lang="en-US" dirty="0"/>
              <a:t>Where:</a:t>
            </a:r>
          </a:p>
          <a:p>
            <a:pPr>
              <a:defRPr/>
            </a:pPr>
            <a:endParaRPr lang="en-US" dirty="0"/>
          </a:p>
        </p:txBody>
      </p:sp>
    </p:spTree>
  </p:cSld>
  <p:clrMapOvr>
    <a:masterClrMapping/>
  </p:clrMapOvr>
  <p:transition spd="slow">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18B8-0C54-DDE1-C99F-1AABC38E723A}"/>
              </a:ext>
            </a:extLst>
          </p:cNvPr>
          <p:cNvSpPr>
            <a:spLocks noGrp="1"/>
          </p:cNvSpPr>
          <p:nvPr>
            <p:ph type="title"/>
          </p:nvPr>
        </p:nvSpPr>
        <p:spPr>
          <a:xfrm>
            <a:off x="2057400" y="228600"/>
            <a:ext cx="6324600" cy="1143000"/>
          </a:xfrm>
        </p:spPr>
        <p:txBody>
          <a:bodyPr>
            <a:normAutofit fontScale="90000"/>
          </a:bodyPr>
          <a:lstStyle/>
          <a:p>
            <a:pPr>
              <a:defRPr/>
            </a:pPr>
            <a:r>
              <a:rPr lang="en-US" dirty="0"/>
              <a:t>Learning Function and Activation Function (cont.)</a:t>
            </a:r>
          </a:p>
        </p:txBody>
      </p:sp>
      <p:sp>
        <p:nvSpPr>
          <p:cNvPr id="36867" name="Slide Number Placeholder 3">
            <a:extLst>
              <a:ext uri="{FF2B5EF4-FFF2-40B4-BE49-F238E27FC236}">
                <a16:creationId xmlns:a16="http://schemas.microsoft.com/office/drawing/2014/main" id="{12902B32-638C-0F27-376F-581B69A1DD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3D19022-022C-4D0B-854F-293E91502143}" type="slidenum">
              <a:rPr lang="en-US" altLang="en-US" smtClean="0">
                <a:solidFill>
                  <a:srgbClr val="898989"/>
                </a:solidFill>
                <a:latin typeface="Calibri" panose="020F0502020204030204" pitchFamily="34" charset="0"/>
              </a:rPr>
              <a:pPr/>
              <a:t>28</a:t>
            </a:fld>
            <a:endParaRPr lang="en-US" altLang="en-US">
              <a:solidFill>
                <a:srgbClr val="898989"/>
              </a:solidFill>
              <a:latin typeface="Calibri" panose="020F0502020204030204" pitchFamily="34" charset="0"/>
            </a:endParaRPr>
          </a:p>
        </p:txBody>
      </p:sp>
      <p:sp>
        <p:nvSpPr>
          <p:cNvPr id="36868" name="Content Placeholder 2">
            <a:extLst>
              <a:ext uri="{FF2B5EF4-FFF2-40B4-BE49-F238E27FC236}">
                <a16:creationId xmlns:a16="http://schemas.microsoft.com/office/drawing/2014/main" id="{9D96FD8A-E747-0370-31D2-FA95CE6A0190}"/>
              </a:ext>
            </a:extLst>
          </p:cNvPr>
          <p:cNvSpPr>
            <a:spLocks noGrp="1"/>
          </p:cNvSpPr>
          <p:nvPr>
            <p:ph idx="1"/>
          </p:nvPr>
        </p:nvSpPr>
        <p:spPr>
          <a:xfrm>
            <a:off x="762000" y="1573213"/>
            <a:ext cx="8229600" cy="4953000"/>
          </a:xfrm>
        </p:spPr>
        <p:txBody>
          <a:bodyPr/>
          <a:lstStyle/>
          <a:p>
            <a:pPr marL="0" indent="0">
              <a:buFont typeface="Arial" panose="020B0604020202020204" pitchFamily="34" charset="0"/>
              <a:buNone/>
            </a:pPr>
            <a:r>
              <a:rPr lang="en-US" altLang="en-US">
                <a:latin typeface="Open Sans" panose="020B0606030504020204" pitchFamily="34" charset="0"/>
              </a:rPr>
              <a:t>Such that:</a:t>
            </a:r>
          </a:p>
          <a:p>
            <a:pPr marL="0" indent="0">
              <a:buFont typeface="Arial" panose="020B0604020202020204" pitchFamily="34" charset="0"/>
              <a:buNone/>
            </a:pPr>
            <a:endParaRPr lang="en-US" altLang="en-US">
              <a:latin typeface="Open Sans" panose="020B0606030504020204" pitchFamily="34" charset="0"/>
            </a:endParaRPr>
          </a:p>
          <a:p>
            <a:pPr marL="0" indent="0">
              <a:buFont typeface="Arial" panose="020B0604020202020204" pitchFamily="34" charset="0"/>
              <a:buNone/>
            </a:pPr>
            <a:endParaRPr lang="en-US" altLang="en-US">
              <a:latin typeface="Open Sans" panose="020B0606030504020204" pitchFamily="34" charset="0"/>
            </a:endParaRPr>
          </a:p>
          <a:p>
            <a:pPr marL="0" indent="0">
              <a:buFont typeface="Arial" panose="020B0604020202020204" pitchFamily="34" charset="0"/>
              <a:buNone/>
            </a:pPr>
            <a:r>
              <a:rPr lang="en-US" altLang="en-US">
                <a:latin typeface="Open Sans" panose="020B0606030504020204" pitchFamily="34" charset="0"/>
              </a:rPr>
              <a:t>For j=1,2,…,</a:t>
            </a:r>
            <a:r>
              <a:rPr lang="en-US" altLang="en-US" i="1">
                <a:latin typeface="Open Sans" panose="020B0606030504020204" pitchFamily="34" charset="0"/>
              </a:rPr>
              <a:t>l</a:t>
            </a:r>
            <a:r>
              <a:rPr lang="en-US" altLang="en-US">
                <a:latin typeface="Open Sans" panose="020B0606030504020204" pitchFamily="34" charset="0"/>
              </a:rPr>
              <a:t> where </a:t>
            </a:r>
            <a:r>
              <a:rPr lang="en-US" altLang="en-US" i="1">
                <a:latin typeface="Open Sans" panose="020B0606030504020204" pitchFamily="34" charset="0"/>
              </a:rPr>
              <a:t>l</a:t>
            </a:r>
            <a:r>
              <a:rPr lang="en-US" altLang="en-US">
                <a:latin typeface="Open Sans" panose="020B0606030504020204" pitchFamily="34" charset="0"/>
              </a:rPr>
              <a:t> is the total number of neurons in layer </a:t>
            </a:r>
            <a:r>
              <a:rPr lang="en-US" altLang="en-US" i="1">
                <a:latin typeface="Open Sans" panose="020B0606030504020204" pitchFamily="34" charset="0"/>
              </a:rPr>
              <a:t>h. </a:t>
            </a:r>
            <a:r>
              <a:rPr lang="en-US" altLang="en-US">
                <a:latin typeface="Open Sans" panose="020B0606030504020204" pitchFamily="34" charset="0"/>
              </a:rPr>
              <a:t>Result of this linear combination will be the input of activation function. For simplicity if:</a:t>
            </a:r>
          </a:p>
          <a:p>
            <a:pPr marL="0" indent="0">
              <a:buFont typeface="Arial" panose="020B0604020202020204" pitchFamily="34" charset="0"/>
              <a:buNone/>
            </a:pPr>
            <a:endParaRPr lang="en-US" altLang="en-US">
              <a:latin typeface="Open Sans" panose="020B0606030504020204" pitchFamily="34" charset="0"/>
            </a:endParaRPr>
          </a:p>
          <a:p>
            <a:pPr marL="0" indent="0">
              <a:buFont typeface="Arial" panose="020B0604020202020204" pitchFamily="34" charset="0"/>
              <a:buNone/>
            </a:pPr>
            <a:endParaRPr lang="en-US" altLang="en-US">
              <a:latin typeface="Open Sans" panose="020B0606030504020204" pitchFamily="34" charset="0"/>
            </a:endParaRPr>
          </a:p>
          <a:p>
            <a:pPr marL="0" indent="0">
              <a:buFont typeface="Arial" panose="020B0604020202020204" pitchFamily="34" charset="0"/>
              <a:buNone/>
            </a:pPr>
            <a:r>
              <a:rPr lang="en-US" altLang="en-US">
                <a:latin typeface="Open Sans" panose="020B0606030504020204" pitchFamily="34" charset="0"/>
              </a:rPr>
              <a:t>Then activation function (</a:t>
            </a:r>
            <a:r>
              <a:rPr lang="en-US" altLang="en-US" i="1">
                <a:latin typeface="Open Sans" panose="020B0606030504020204" pitchFamily="34" charset="0"/>
              </a:rPr>
              <a:t>u</a:t>
            </a:r>
            <a:r>
              <a:rPr lang="en-US" altLang="en-US">
                <a:latin typeface="Open Sans" panose="020B0606030504020204" pitchFamily="34" charset="0"/>
              </a:rPr>
              <a:t>) will be: (next slides)</a:t>
            </a:r>
          </a:p>
        </p:txBody>
      </p:sp>
      <p:pic>
        <p:nvPicPr>
          <p:cNvPr id="36869" name="Picture 5">
            <a:extLst>
              <a:ext uri="{FF2B5EF4-FFF2-40B4-BE49-F238E27FC236}">
                <a16:creationId xmlns:a16="http://schemas.microsoft.com/office/drawing/2014/main" id="{3B7F52E8-B2F0-169B-68D6-0A3266F9DC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425" y="2057400"/>
            <a:ext cx="482917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7">
            <a:extLst>
              <a:ext uri="{FF2B5EF4-FFF2-40B4-BE49-F238E27FC236}">
                <a16:creationId xmlns:a16="http://schemas.microsoft.com/office/drawing/2014/main" id="{902DDE1B-4317-1981-7459-322C069005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4548188"/>
            <a:ext cx="19050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86B45849-7D0E-7352-7BB4-5678ADDE4B45}"/>
              </a:ext>
            </a:extLst>
          </p:cNvPr>
          <p:cNvSpPr>
            <a:spLocks noGrp="1"/>
          </p:cNvSpPr>
          <p:nvPr>
            <p:ph type="title"/>
          </p:nvPr>
        </p:nvSpPr>
        <p:spPr/>
        <p:txBody>
          <a:bodyPr/>
          <a:lstStyle/>
          <a:p>
            <a:r>
              <a:rPr lang="en-US" altLang="en-US">
                <a:latin typeface="Open Sans" panose="020B0606030504020204" pitchFamily="34" charset="0"/>
              </a:rPr>
              <a:t>Activation Function</a:t>
            </a:r>
          </a:p>
        </p:txBody>
      </p:sp>
      <p:sp>
        <p:nvSpPr>
          <p:cNvPr id="3" name="Content Placeholder 2">
            <a:extLst>
              <a:ext uri="{FF2B5EF4-FFF2-40B4-BE49-F238E27FC236}">
                <a16:creationId xmlns:a16="http://schemas.microsoft.com/office/drawing/2014/main" id="{22D0EA52-3F28-25B2-6B9F-8C9DBA78B208}"/>
              </a:ext>
            </a:extLst>
          </p:cNvPr>
          <p:cNvSpPr>
            <a:spLocks noGrp="1"/>
          </p:cNvSpPr>
          <p:nvPr>
            <p:ph idx="1"/>
          </p:nvPr>
        </p:nvSpPr>
        <p:spPr/>
        <p:txBody>
          <a:bodyPr/>
          <a:lstStyle/>
          <a:p>
            <a:pPr marL="514350" indent="-514350">
              <a:buFont typeface="+mj-lt"/>
              <a:buAutoNum type="arabicPeriod"/>
              <a:defRPr/>
            </a:pPr>
            <a:r>
              <a:rPr lang="en-US" b="1" dirty="0">
                <a:solidFill>
                  <a:srgbClr val="0070C0"/>
                </a:solidFill>
              </a:rPr>
              <a:t>Linear Function</a:t>
            </a:r>
          </a:p>
          <a:p>
            <a:pPr marL="0" indent="0">
              <a:buFont typeface="Arial" panose="020B0604020202020204" pitchFamily="34" charset="0"/>
              <a:buNone/>
              <a:defRPr/>
            </a:pPr>
            <a:endParaRPr lang="en-US" dirty="0"/>
          </a:p>
        </p:txBody>
      </p:sp>
      <p:sp>
        <p:nvSpPr>
          <p:cNvPr id="37892" name="Slide Number Placeholder 3">
            <a:extLst>
              <a:ext uri="{FF2B5EF4-FFF2-40B4-BE49-F238E27FC236}">
                <a16:creationId xmlns:a16="http://schemas.microsoft.com/office/drawing/2014/main" id="{899F8F1C-1A12-3F01-4E10-C59A30A110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015A44D-BF92-4F73-9900-860FE1C05C70}" type="slidenum">
              <a:rPr lang="en-US" altLang="en-US" smtClean="0">
                <a:solidFill>
                  <a:srgbClr val="898989"/>
                </a:solidFill>
                <a:latin typeface="Calibri" panose="020F0502020204030204" pitchFamily="34" charset="0"/>
              </a:rPr>
              <a:pPr/>
              <a:t>29</a:t>
            </a:fld>
            <a:endParaRPr lang="en-US" altLang="en-US">
              <a:solidFill>
                <a:srgbClr val="898989"/>
              </a:solidFill>
              <a:latin typeface="Calibri" panose="020F0502020204030204" pitchFamily="34" charset="0"/>
            </a:endParaRPr>
          </a:p>
        </p:txBody>
      </p:sp>
      <p:pic>
        <p:nvPicPr>
          <p:cNvPr id="37893" name="Picture 5">
            <a:extLst>
              <a:ext uri="{FF2B5EF4-FFF2-40B4-BE49-F238E27FC236}">
                <a16:creationId xmlns:a16="http://schemas.microsoft.com/office/drawing/2014/main" id="{C87FD10E-9EE9-FEB9-7520-2B08D1CFF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413" y="2244725"/>
            <a:ext cx="5005387"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4E94A654-8C4A-511A-8F93-4EE183D0F893}"/>
              </a:ext>
            </a:extLst>
          </p:cNvPr>
          <p:cNvSpPr>
            <a:spLocks noGrp="1"/>
          </p:cNvSpPr>
          <p:nvPr>
            <p:ph type="title"/>
          </p:nvPr>
        </p:nvSpPr>
        <p:spPr>
          <a:xfrm>
            <a:off x="2133600" y="130175"/>
            <a:ext cx="6324600" cy="1143000"/>
          </a:xfrm>
        </p:spPr>
        <p:txBody>
          <a:bodyPr/>
          <a:lstStyle/>
          <a:p>
            <a:r>
              <a:rPr lang="en-US" altLang="en-US">
                <a:latin typeface="Open Sans" panose="020B0606030504020204" pitchFamily="34" charset="0"/>
              </a:rPr>
              <a:t>Activation Function (cont.)</a:t>
            </a:r>
          </a:p>
        </p:txBody>
      </p:sp>
      <p:sp>
        <p:nvSpPr>
          <p:cNvPr id="3" name="Content Placeholder 2">
            <a:extLst>
              <a:ext uri="{FF2B5EF4-FFF2-40B4-BE49-F238E27FC236}">
                <a16:creationId xmlns:a16="http://schemas.microsoft.com/office/drawing/2014/main" id="{0D18EE93-5059-1726-31B5-63A0B6D04184}"/>
              </a:ext>
            </a:extLst>
          </p:cNvPr>
          <p:cNvSpPr>
            <a:spLocks noGrp="1"/>
          </p:cNvSpPr>
          <p:nvPr>
            <p:ph idx="1"/>
          </p:nvPr>
        </p:nvSpPr>
        <p:spPr>
          <a:xfrm>
            <a:off x="685800" y="1143000"/>
            <a:ext cx="8229600" cy="568325"/>
          </a:xfrm>
        </p:spPr>
        <p:txBody>
          <a:bodyPr/>
          <a:lstStyle/>
          <a:p>
            <a:pPr marL="514350" indent="-514350" algn="ctr">
              <a:buFont typeface="+mj-lt"/>
              <a:buAutoNum type="arabicPeriod" startAt="2"/>
              <a:defRPr/>
            </a:pPr>
            <a:r>
              <a:rPr lang="en-US" b="1" dirty="0">
                <a:solidFill>
                  <a:srgbClr val="0070C0"/>
                </a:solidFill>
              </a:rPr>
              <a:t>Step Function</a:t>
            </a:r>
          </a:p>
          <a:p>
            <a:pPr marL="0" indent="0" algn="ctr">
              <a:buFont typeface="Arial" panose="020B0604020202020204" pitchFamily="34" charset="0"/>
              <a:buNone/>
              <a:defRPr/>
            </a:pPr>
            <a:endParaRPr lang="en-US" dirty="0"/>
          </a:p>
        </p:txBody>
      </p:sp>
      <p:sp>
        <p:nvSpPr>
          <p:cNvPr id="38916" name="Slide Number Placeholder 3">
            <a:extLst>
              <a:ext uri="{FF2B5EF4-FFF2-40B4-BE49-F238E27FC236}">
                <a16:creationId xmlns:a16="http://schemas.microsoft.com/office/drawing/2014/main" id="{8B5DCB9A-A286-5484-FD9C-82032C38A5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F678A6D-9E5C-46EF-A84A-80116A68D560}" type="slidenum">
              <a:rPr lang="en-US" altLang="en-US" smtClean="0">
                <a:solidFill>
                  <a:srgbClr val="898989"/>
                </a:solidFill>
                <a:latin typeface="Calibri" panose="020F0502020204030204" pitchFamily="34" charset="0"/>
              </a:rPr>
              <a:pPr/>
              <a:t>30</a:t>
            </a:fld>
            <a:endParaRPr lang="en-US" altLang="en-US">
              <a:solidFill>
                <a:srgbClr val="898989"/>
              </a:solidFill>
              <a:latin typeface="Calibri" panose="020F0502020204030204" pitchFamily="34" charset="0"/>
            </a:endParaRPr>
          </a:p>
        </p:txBody>
      </p:sp>
      <p:sp>
        <p:nvSpPr>
          <p:cNvPr id="38917" name="Content Placeholder 2">
            <a:extLst>
              <a:ext uri="{FF2B5EF4-FFF2-40B4-BE49-F238E27FC236}">
                <a16:creationId xmlns:a16="http://schemas.microsoft.com/office/drawing/2014/main" id="{8B5B585A-CB9F-546A-CBAA-508D9E3DA42C}"/>
              </a:ext>
            </a:extLst>
          </p:cNvPr>
          <p:cNvSpPr txBox="1">
            <a:spLocks/>
          </p:cNvSpPr>
          <p:nvPr/>
        </p:nvSpPr>
        <p:spPr bwMode="auto">
          <a:xfrm>
            <a:off x="685800" y="1905000"/>
            <a:ext cx="396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b="1" u="sng">
                <a:latin typeface="Open Sans" panose="020B0606030504020204" pitchFamily="34" charset="0"/>
              </a:rPr>
              <a:t>Binary/Hard Limit Function</a:t>
            </a:r>
          </a:p>
          <a:p>
            <a:pPr>
              <a:buFont typeface="Arial" panose="020B0604020202020204" pitchFamily="34" charset="0"/>
              <a:buNone/>
            </a:pPr>
            <a:endParaRPr lang="en-US" altLang="en-US" sz="2000" b="1" u="sng">
              <a:latin typeface="Open Sans" panose="020B0606030504020204" pitchFamily="34" charset="0"/>
            </a:endParaRPr>
          </a:p>
        </p:txBody>
      </p:sp>
      <p:sp>
        <p:nvSpPr>
          <p:cNvPr id="38918" name="Content Placeholder 2">
            <a:extLst>
              <a:ext uri="{FF2B5EF4-FFF2-40B4-BE49-F238E27FC236}">
                <a16:creationId xmlns:a16="http://schemas.microsoft.com/office/drawing/2014/main" id="{51DEA046-6D5B-0908-EE9B-C0A5298B6597}"/>
              </a:ext>
            </a:extLst>
          </p:cNvPr>
          <p:cNvSpPr txBox="1">
            <a:spLocks/>
          </p:cNvSpPr>
          <p:nvPr/>
        </p:nvSpPr>
        <p:spPr bwMode="auto">
          <a:xfrm>
            <a:off x="4800600" y="1893888"/>
            <a:ext cx="4114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b="1" u="sng">
                <a:latin typeface="Open Sans" panose="020B0606030504020204" pitchFamily="34" charset="0"/>
              </a:rPr>
              <a:t>Bipolar Function</a:t>
            </a:r>
          </a:p>
          <a:p>
            <a:pPr>
              <a:buFont typeface="Arial" panose="020B0604020202020204" pitchFamily="34" charset="0"/>
              <a:buNone/>
            </a:pPr>
            <a:endParaRPr lang="en-US" altLang="en-US" sz="2000" b="1" u="sng">
              <a:latin typeface="Open Sans" panose="020B0606030504020204" pitchFamily="34" charset="0"/>
            </a:endParaRPr>
          </a:p>
        </p:txBody>
      </p:sp>
      <p:pic>
        <p:nvPicPr>
          <p:cNvPr id="38919" name="Picture 8">
            <a:extLst>
              <a:ext uri="{FF2B5EF4-FFF2-40B4-BE49-F238E27FC236}">
                <a16:creationId xmlns:a16="http://schemas.microsoft.com/office/drawing/2014/main" id="{4CE781C5-3131-5D91-823E-B3E23FD70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400300"/>
            <a:ext cx="2976563"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0" name="Picture 10">
            <a:extLst>
              <a:ext uri="{FF2B5EF4-FFF2-40B4-BE49-F238E27FC236}">
                <a16:creationId xmlns:a16="http://schemas.microsoft.com/office/drawing/2014/main" id="{1795AB4E-9209-DCE3-9BEF-FB1A8413D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 y="3684588"/>
            <a:ext cx="4516438" cy="256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1" name="Picture 12">
            <a:extLst>
              <a:ext uri="{FF2B5EF4-FFF2-40B4-BE49-F238E27FC236}">
                <a16:creationId xmlns:a16="http://schemas.microsoft.com/office/drawing/2014/main" id="{837AF619-DD70-80BF-3EAB-49DDAD050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374900"/>
            <a:ext cx="3657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2" name="Picture 14">
            <a:extLst>
              <a:ext uri="{FF2B5EF4-FFF2-40B4-BE49-F238E27FC236}">
                <a16:creationId xmlns:a16="http://schemas.microsoft.com/office/drawing/2014/main" id="{3021F455-C542-2D2B-E21D-67EB59E788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692525"/>
            <a:ext cx="42513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Connector 16">
            <a:extLst>
              <a:ext uri="{FF2B5EF4-FFF2-40B4-BE49-F238E27FC236}">
                <a16:creationId xmlns:a16="http://schemas.microsoft.com/office/drawing/2014/main" id="{2D28D897-C8A2-2719-087B-1E0B02C08976}"/>
              </a:ext>
            </a:extLst>
          </p:cNvPr>
          <p:cNvCxnSpPr/>
          <p:nvPr/>
        </p:nvCxnSpPr>
        <p:spPr>
          <a:xfrm>
            <a:off x="4648200" y="1893888"/>
            <a:ext cx="0" cy="4811712"/>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7CE01FF5-EE36-66F8-5929-5F5302417F89}"/>
              </a:ext>
            </a:extLst>
          </p:cNvPr>
          <p:cNvSpPr>
            <a:spLocks noGrp="1"/>
          </p:cNvSpPr>
          <p:nvPr>
            <p:ph type="title"/>
          </p:nvPr>
        </p:nvSpPr>
        <p:spPr/>
        <p:txBody>
          <a:bodyPr/>
          <a:lstStyle/>
          <a:p>
            <a:r>
              <a:rPr lang="en-US" altLang="en-US">
                <a:latin typeface="Open Sans" panose="020B0606030504020204" pitchFamily="34" charset="0"/>
              </a:rPr>
              <a:t>Activation Function (cont.)</a:t>
            </a:r>
          </a:p>
        </p:txBody>
      </p:sp>
      <p:sp>
        <p:nvSpPr>
          <p:cNvPr id="3" name="Content Placeholder 2">
            <a:extLst>
              <a:ext uri="{FF2B5EF4-FFF2-40B4-BE49-F238E27FC236}">
                <a16:creationId xmlns:a16="http://schemas.microsoft.com/office/drawing/2014/main" id="{F8052560-F671-F2ED-85A0-D5AD9D0AC6C3}"/>
              </a:ext>
            </a:extLst>
          </p:cNvPr>
          <p:cNvSpPr>
            <a:spLocks noGrp="1"/>
          </p:cNvSpPr>
          <p:nvPr>
            <p:ph idx="1"/>
          </p:nvPr>
        </p:nvSpPr>
        <p:spPr/>
        <p:txBody>
          <a:bodyPr/>
          <a:lstStyle/>
          <a:p>
            <a:pPr marL="514350" indent="-514350">
              <a:buFont typeface="+mj-lt"/>
              <a:buAutoNum type="arabicPeriod" startAt="3"/>
              <a:defRPr/>
            </a:pPr>
            <a:r>
              <a:rPr lang="en-US" sz="2400" b="1" dirty="0">
                <a:solidFill>
                  <a:srgbClr val="0070C0"/>
                </a:solidFill>
              </a:rPr>
              <a:t>Logistic Sigmoid Function</a:t>
            </a:r>
          </a:p>
          <a:p>
            <a:pPr marL="0" indent="0">
              <a:buFont typeface="Arial" panose="020B0604020202020204" pitchFamily="34" charset="0"/>
              <a:buNone/>
              <a:defRPr/>
            </a:pPr>
            <a:endParaRPr lang="en-US" sz="2400" dirty="0"/>
          </a:p>
        </p:txBody>
      </p:sp>
      <p:sp>
        <p:nvSpPr>
          <p:cNvPr id="39940" name="Slide Number Placeholder 3">
            <a:extLst>
              <a:ext uri="{FF2B5EF4-FFF2-40B4-BE49-F238E27FC236}">
                <a16:creationId xmlns:a16="http://schemas.microsoft.com/office/drawing/2014/main" id="{4683C05D-92E2-873B-F374-AE3EE44B94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215B2D-2EDB-4D84-A74B-45FB333D6476}" type="slidenum">
              <a:rPr lang="en-US" altLang="en-US" smtClean="0">
                <a:solidFill>
                  <a:srgbClr val="898989"/>
                </a:solidFill>
                <a:latin typeface="Calibri" panose="020F0502020204030204" pitchFamily="34" charset="0"/>
              </a:rPr>
              <a:pPr/>
              <a:t>31</a:t>
            </a:fld>
            <a:endParaRPr lang="en-US" altLang="en-US">
              <a:solidFill>
                <a:srgbClr val="898989"/>
              </a:solidFill>
              <a:latin typeface="Calibri" panose="020F0502020204030204" pitchFamily="34" charset="0"/>
            </a:endParaRPr>
          </a:p>
        </p:txBody>
      </p:sp>
      <p:pic>
        <p:nvPicPr>
          <p:cNvPr id="39941" name="Picture 6">
            <a:extLst>
              <a:ext uri="{FF2B5EF4-FFF2-40B4-BE49-F238E27FC236}">
                <a16:creationId xmlns:a16="http://schemas.microsoft.com/office/drawing/2014/main" id="{73DB38E7-E03E-DECC-2D4B-7F5180947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038" y="1676400"/>
            <a:ext cx="3748087"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8">
            <a:extLst>
              <a:ext uri="{FF2B5EF4-FFF2-40B4-BE49-F238E27FC236}">
                <a16:creationId xmlns:a16="http://schemas.microsoft.com/office/drawing/2014/main" id="{483BD32A-1372-D516-42DB-F5BC4432C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175" y="2881313"/>
            <a:ext cx="5624513"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C85BE3AD-AEF2-D2CF-3566-3AC89C0B6934}"/>
              </a:ext>
            </a:extLst>
          </p:cNvPr>
          <p:cNvSpPr>
            <a:spLocks noGrp="1"/>
          </p:cNvSpPr>
          <p:nvPr>
            <p:ph type="title"/>
          </p:nvPr>
        </p:nvSpPr>
        <p:spPr/>
        <p:txBody>
          <a:bodyPr/>
          <a:lstStyle/>
          <a:p>
            <a:r>
              <a:rPr lang="en-US" altLang="en-US">
                <a:latin typeface="Open Sans" panose="020B0606030504020204" pitchFamily="34" charset="0"/>
              </a:rPr>
              <a:t>Activation Function (cont.)</a:t>
            </a:r>
          </a:p>
        </p:txBody>
      </p:sp>
      <p:sp>
        <p:nvSpPr>
          <p:cNvPr id="3" name="Content Placeholder 2">
            <a:extLst>
              <a:ext uri="{FF2B5EF4-FFF2-40B4-BE49-F238E27FC236}">
                <a16:creationId xmlns:a16="http://schemas.microsoft.com/office/drawing/2014/main" id="{7F801D6C-5BE2-8714-BC3A-E21D0C8B79C6}"/>
              </a:ext>
            </a:extLst>
          </p:cNvPr>
          <p:cNvSpPr>
            <a:spLocks noGrp="1"/>
          </p:cNvSpPr>
          <p:nvPr>
            <p:ph idx="1"/>
          </p:nvPr>
        </p:nvSpPr>
        <p:spPr/>
        <p:txBody>
          <a:bodyPr/>
          <a:lstStyle/>
          <a:p>
            <a:pPr marL="514350" indent="-514350">
              <a:buFont typeface="+mj-lt"/>
              <a:buAutoNum type="arabicPeriod" startAt="4"/>
              <a:defRPr/>
            </a:pPr>
            <a:r>
              <a:rPr lang="en-US" sz="2400" b="1" dirty="0">
                <a:solidFill>
                  <a:srgbClr val="0070C0"/>
                </a:solidFill>
              </a:rPr>
              <a:t>Hyperbolic Tangent Sigmoid Function (tanh)</a:t>
            </a:r>
          </a:p>
          <a:p>
            <a:pPr marL="0" indent="0">
              <a:buFont typeface="Arial" panose="020B0604020202020204" pitchFamily="34" charset="0"/>
              <a:buNone/>
              <a:defRPr/>
            </a:pPr>
            <a:endParaRPr lang="en-US" sz="2400" dirty="0"/>
          </a:p>
        </p:txBody>
      </p:sp>
      <p:sp>
        <p:nvSpPr>
          <p:cNvPr id="40964" name="Slide Number Placeholder 3">
            <a:extLst>
              <a:ext uri="{FF2B5EF4-FFF2-40B4-BE49-F238E27FC236}">
                <a16:creationId xmlns:a16="http://schemas.microsoft.com/office/drawing/2014/main" id="{4B5A23DA-1D05-572E-9A2D-A03D3086B06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D617FE-3479-4B43-8AFC-C04B61DC231A}" type="slidenum">
              <a:rPr lang="en-US" altLang="en-US" smtClean="0">
                <a:solidFill>
                  <a:srgbClr val="898989"/>
                </a:solidFill>
                <a:latin typeface="Calibri" panose="020F0502020204030204" pitchFamily="34" charset="0"/>
              </a:rPr>
              <a:pPr/>
              <a:t>32</a:t>
            </a:fld>
            <a:endParaRPr lang="en-US" altLang="en-US">
              <a:solidFill>
                <a:srgbClr val="898989"/>
              </a:solidFill>
              <a:latin typeface="Calibri" panose="020F0502020204030204" pitchFamily="34" charset="0"/>
            </a:endParaRPr>
          </a:p>
        </p:txBody>
      </p:sp>
      <p:pic>
        <p:nvPicPr>
          <p:cNvPr id="40965" name="Picture 5">
            <a:extLst>
              <a:ext uri="{FF2B5EF4-FFF2-40B4-BE49-F238E27FC236}">
                <a16:creationId xmlns:a16="http://schemas.microsoft.com/office/drawing/2014/main" id="{5E8E4EC7-2AC5-1241-98F0-94AD2B01B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17738"/>
            <a:ext cx="752157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Picture 9">
            <a:extLst>
              <a:ext uri="{FF2B5EF4-FFF2-40B4-BE49-F238E27FC236}">
                <a16:creationId xmlns:a16="http://schemas.microsoft.com/office/drawing/2014/main" id="{74F9401E-1BEF-709F-2184-36BD444B5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100" y="3516313"/>
            <a:ext cx="49053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547A8140-BA1C-DC09-1D67-02532B4466BB}"/>
              </a:ext>
            </a:extLst>
          </p:cNvPr>
          <p:cNvSpPr>
            <a:spLocks noGrp="1"/>
          </p:cNvSpPr>
          <p:nvPr>
            <p:ph type="title"/>
          </p:nvPr>
        </p:nvSpPr>
        <p:spPr/>
        <p:txBody>
          <a:bodyPr/>
          <a:lstStyle/>
          <a:p>
            <a:r>
              <a:rPr lang="en-US" altLang="en-US">
                <a:latin typeface="Open Sans" panose="020B0606030504020204" pitchFamily="34" charset="0"/>
              </a:rPr>
              <a:t>Activation Function (cont.)</a:t>
            </a:r>
          </a:p>
        </p:txBody>
      </p:sp>
      <p:sp>
        <p:nvSpPr>
          <p:cNvPr id="3" name="Content Placeholder 2">
            <a:extLst>
              <a:ext uri="{FF2B5EF4-FFF2-40B4-BE49-F238E27FC236}">
                <a16:creationId xmlns:a16="http://schemas.microsoft.com/office/drawing/2014/main" id="{6014EFAE-F1AA-432A-562E-51CC8717CF0A}"/>
              </a:ext>
            </a:extLst>
          </p:cNvPr>
          <p:cNvSpPr>
            <a:spLocks noGrp="1"/>
          </p:cNvSpPr>
          <p:nvPr>
            <p:ph idx="1"/>
          </p:nvPr>
        </p:nvSpPr>
        <p:spPr/>
        <p:txBody>
          <a:bodyPr/>
          <a:lstStyle/>
          <a:p>
            <a:pPr marL="514350" indent="-514350">
              <a:buFont typeface="+mj-lt"/>
              <a:buAutoNum type="arabicPeriod" startAt="5"/>
              <a:defRPr/>
            </a:pPr>
            <a:r>
              <a:rPr lang="en-US" sz="2400" b="1" dirty="0">
                <a:solidFill>
                  <a:srgbClr val="0070C0"/>
                </a:solidFill>
              </a:rPr>
              <a:t>Rectified Linear Unit (</a:t>
            </a:r>
            <a:r>
              <a:rPr lang="en-US" sz="2400" b="1" dirty="0" err="1">
                <a:solidFill>
                  <a:srgbClr val="0070C0"/>
                </a:solidFill>
              </a:rPr>
              <a:t>ReLU</a:t>
            </a:r>
            <a:r>
              <a:rPr lang="en-US" sz="2400" b="1" dirty="0">
                <a:solidFill>
                  <a:srgbClr val="0070C0"/>
                </a:solidFill>
              </a:rPr>
              <a:t>) Function</a:t>
            </a:r>
          </a:p>
          <a:p>
            <a:pPr marL="0" indent="0">
              <a:buFont typeface="Arial" panose="020B0604020202020204" pitchFamily="34" charset="0"/>
              <a:buNone/>
              <a:defRPr/>
            </a:pPr>
            <a:endParaRPr lang="en-US" sz="2400" dirty="0"/>
          </a:p>
        </p:txBody>
      </p:sp>
      <p:sp>
        <p:nvSpPr>
          <p:cNvPr id="41988" name="Slide Number Placeholder 3">
            <a:extLst>
              <a:ext uri="{FF2B5EF4-FFF2-40B4-BE49-F238E27FC236}">
                <a16:creationId xmlns:a16="http://schemas.microsoft.com/office/drawing/2014/main" id="{FC342E5F-CF03-41FB-8FDA-2395B3D9221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56A66B-1A32-4774-840E-E2C7C0EB0E50}" type="slidenum">
              <a:rPr lang="en-US" altLang="en-US" smtClean="0">
                <a:solidFill>
                  <a:srgbClr val="898989"/>
                </a:solidFill>
                <a:latin typeface="Calibri" panose="020F0502020204030204" pitchFamily="34" charset="0"/>
              </a:rPr>
              <a:pPr/>
              <a:t>33</a:t>
            </a:fld>
            <a:endParaRPr lang="en-US" altLang="en-US">
              <a:solidFill>
                <a:srgbClr val="898989"/>
              </a:solidFill>
              <a:latin typeface="Calibri" panose="020F0502020204030204" pitchFamily="34" charset="0"/>
            </a:endParaRPr>
          </a:p>
        </p:txBody>
      </p:sp>
      <p:pic>
        <p:nvPicPr>
          <p:cNvPr id="41989" name="Picture 6">
            <a:extLst>
              <a:ext uri="{FF2B5EF4-FFF2-40B4-BE49-F238E27FC236}">
                <a16:creationId xmlns:a16="http://schemas.microsoft.com/office/drawing/2014/main" id="{EBD44E09-CB20-ADF4-21C7-CE926F87B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44713"/>
            <a:ext cx="67056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8">
            <a:extLst>
              <a:ext uri="{FF2B5EF4-FFF2-40B4-BE49-F238E27FC236}">
                <a16:creationId xmlns:a16="http://schemas.microsoft.com/office/drawing/2014/main" id="{B89D0716-863F-2517-D209-2BBDAD49D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4088" y="3543300"/>
            <a:ext cx="469582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DF72FA0-0776-4C79-AA29-67E1576A5D9D}"/>
              </a:ext>
            </a:extLst>
          </p:cNvPr>
          <p:cNvSpPr>
            <a:spLocks noGrp="1"/>
          </p:cNvSpPr>
          <p:nvPr>
            <p:ph type="title"/>
          </p:nvPr>
        </p:nvSpPr>
        <p:spPr/>
        <p:txBody>
          <a:bodyPr/>
          <a:lstStyle/>
          <a:p>
            <a:r>
              <a:rPr lang="en-US" altLang="en-US">
                <a:latin typeface="Open Sans" panose="020B0606030504020204" pitchFamily="34" charset="0"/>
              </a:rPr>
              <a:t>Activation Function (cont.)</a:t>
            </a:r>
          </a:p>
        </p:txBody>
      </p:sp>
      <p:sp>
        <p:nvSpPr>
          <p:cNvPr id="3" name="Content Placeholder 2">
            <a:extLst>
              <a:ext uri="{FF2B5EF4-FFF2-40B4-BE49-F238E27FC236}">
                <a16:creationId xmlns:a16="http://schemas.microsoft.com/office/drawing/2014/main" id="{1EFD9AF3-A0C5-713D-3D9E-6A33F8B35C13}"/>
              </a:ext>
            </a:extLst>
          </p:cNvPr>
          <p:cNvSpPr>
            <a:spLocks noGrp="1"/>
          </p:cNvSpPr>
          <p:nvPr>
            <p:ph idx="1"/>
          </p:nvPr>
        </p:nvSpPr>
        <p:spPr/>
        <p:txBody>
          <a:bodyPr/>
          <a:lstStyle/>
          <a:p>
            <a:pPr marL="514350" indent="-514350">
              <a:buFont typeface="+mj-lt"/>
              <a:buAutoNum type="arabicPeriod" startAt="6"/>
              <a:defRPr/>
            </a:pPr>
            <a:r>
              <a:rPr lang="en-US" sz="2400" b="1" dirty="0">
                <a:solidFill>
                  <a:srgbClr val="0070C0"/>
                </a:solidFill>
              </a:rPr>
              <a:t>Gaussian Function</a:t>
            </a:r>
          </a:p>
          <a:p>
            <a:pPr marL="0" indent="0">
              <a:buFont typeface="Arial" panose="020B0604020202020204" pitchFamily="34" charset="0"/>
              <a:buNone/>
              <a:defRPr/>
            </a:pPr>
            <a:endParaRPr lang="en-US" sz="2400" dirty="0"/>
          </a:p>
        </p:txBody>
      </p:sp>
      <p:sp>
        <p:nvSpPr>
          <p:cNvPr id="43012" name="Slide Number Placeholder 3">
            <a:extLst>
              <a:ext uri="{FF2B5EF4-FFF2-40B4-BE49-F238E27FC236}">
                <a16:creationId xmlns:a16="http://schemas.microsoft.com/office/drawing/2014/main" id="{D5AB9A4E-9889-01C9-8869-A588CC1894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9AEA4EA-0084-4745-961D-63131877843F}" type="slidenum">
              <a:rPr lang="en-US" altLang="en-US" smtClean="0">
                <a:solidFill>
                  <a:srgbClr val="898989"/>
                </a:solidFill>
                <a:latin typeface="Calibri" panose="020F0502020204030204" pitchFamily="34" charset="0"/>
              </a:rPr>
              <a:pPr/>
              <a:t>34</a:t>
            </a:fld>
            <a:endParaRPr lang="en-US" altLang="en-US">
              <a:solidFill>
                <a:srgbClr val="898989"/>
              </a:solidFill>
              <a:latin typeface="Calibri" panose="020F0502020204030204" pitchFamily="34" charset="0"/>
            </a:endParaRPr>
          </a:p>
        </p:txBody>
      </p:sp>
      <p:pic>
        <p:nvPicPr>
          <p:cNvPr id="43013" name="Picture 5">
            <a:extLst>
              <a:ext uri="{FF2B5EF4-FFF2-40B4-BE49-F238E27FC236}">
                <a16:creationId xmlns:a16="http://schemas.microsoft.com/office/drawing/2014/main" id="{EFBE3F74-9B9C-3D9F-DD3E-CE7BC205E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752600"/>
            <a:ext cx="287655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9">
            <a:extLst>
              <a:ext uri="{FF2B5EF4-FFF2-40B4-BE49-F238E27FC236}">
                <a16:creationId xmlns:a16="http://schemas.microsoft.com/office/drawing/2014/main" id="{3BDABAFD-D2E7-70A9-5A7F-AACA4804C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943225"/>
            <a:ext cx="5819775"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CF147-E50E-8727-1840-115B58247485}"/>
              </a:ext>
            </a:extLst>
          </p:cNvPr>
          <p:cNvSpPr>
            <a:spLocks noGrp="1"/>
          </p:cNvSpPr>
          <p:nvPr>
            <p:ph type="title"/>
          </p:nvPr>
        </p:nvSpPr>
        <p:spPr>
          <a:xfrm>
            <a:off x="2133600" y="152400"/>
            <a:ext cx="6324600" cy="1143000"/>
          </a:xfrm>
        </p:spPr>
        <p:txBody>
          <a:bodyPr>
            <a:normAutofit fontScale="90000"/>
          </a:bodyPr>
          <a:lstStyle/>
          <a:p>
            <a:pPr>
              <a:defRPr/>
            </a:pPr>
            <a:r>
              <a:rPr lang="en-US" dirty="0"/>
              <a:t>Example 2: Activation Function Calculation</a:t>
            </a:r>
          </a:p>
        </p:txBody>
      </p:sp>
      <p:sp>
        <p:nvSpPr>
          <p:cNvPr id="3" name="Content Placeholder 2">
            <a:extLst>
              <a:ext uri="{FF2B5EF4-FFF2-40B4-BE49-F238E27FC236}">
                <a16:creationId xmlns:a16="http://schemas.microsoft.com/office/drawing/2014/main" id="{DA86B51A-53F5-CF22-14DC-74167489A855}"/>
              </a:ext>
            </a:extLst>
          </p:cNvPr>
          <p:cNvSpPr>
            <a:spLocks noGrp="1" noRot="1" noChangeAspect="1" noMove="1" noResize="1" noEditPoints="1" noAdjustHandles="1" noChangeArrowheads="1" noChangeShapeType="1" noTextEdit="1"/>
          </p:cNvSpPr>
          <p:nvPr>
            <p:ph idx="1"/>
          </p:nvPr>
        </p:nvSpPr>
        <p:spPr>
          <a:xfrm>
            <a:off x="685800" y="1447800"/>
            <a:ext cx="8229600" cy="4724400"/>
          </a:xfrm>
          <a:blipFill>
            <a:blip r:embed="rId2"/>
            <a:stretch>
              <a:fillRect l="-1037" t="-903"/>
            </a:stretch>
          </a:blipFill>
        </p:spPr>
        <p:txBody>
          <a:bodyPr/>
          <a:lstStyle/>
          <a:p>
            <a:r>
              <a:rPr lang="en-US">
                <a:noFill/>
              </a:rPr>
              <a:t> </a:t>
            </a:r>
          </a:p>
        </p:txBody>
      </p:sp>
      <p:sp>
        <p:nvSpPr>
          <p:cNvPr id="45060" name="Slide Number Placeholder 3">
            <a:extLst>
              <a:ext uri="{FF2B5EF4-FFF2-40B4-BE49-F238E27FC236}">
                <a16:creationId xmlns:a16="http://schemas.microsoft.com/office/drawing/2014/main" id="{FB0160F5-0831-34CA-4D6B-130CBC78C32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7126F-358F-4EE1-8738-AEE66E3E0FDE}" type="slidenum">
              <a:rPr lang="en-US" altLang="en-US" smtClean="0">
                <a:solidFill>
                  <a:srgbClr val="898989"/>
                </a:solidFill>
                <a:latin typeface="Calibri" panose="020F0502020204030204" pitchFamily="34" charset="0"/>
              </a:rPr>
              <a:pPr/>
              <a:t>35</a:t>
            </a:fld>
            <a:endParaRPr lang="en-US" altLang="en-US">
              <a:solidFill>
                <a:srgbClr val="898989"/>
              </a:solidFill>
              <a:latin typeface="Calibri" panose="020F0502020204030204" pitchFamily="34" charset="0"/>
            </a:endParaRPr>
          </a:p>
        </p:txBody>
      </p:sp>
      <p:graphicFrame>
        <p:nvGraphicFramePr>
          <p:cNvPr id="5" name="Table 5">
            <a:extLst>
              <a:ext uri="{FF2B5EF4-FFF2-40B4-BE49-F238E27FC236}">
                <a16:creationId xmlns:a16="http://schemas.microsoft.com/office/drawing/2014/main" id="{4D1C02DA-4E07-3528-797D-E4AD1AADFE41}"/>
              </a:ext>
            </a:extLst>
          </p:cNvPr>
          <p:cNvGraphicFramePr>
            <a:graphicFrameLocks noGrp="1"/>
          </p:cNvGraphicFramePr>
          <p:nvPr/>
        </p:nvGraphicFramePr>
        <p:xfrm>
          <a:off x="2743200" y="3165136"/>
          <a:ext cx="5638800" cy="914400"/>
        </p:xfrm>
        <a:graphic>
          <a:graphicData uri="http://schemas.openxmlformats.org/drawingml/2006/table">
            <a:tbl>
              <a:tblPr firstRow="1" bandRow="1">
                <a:tableStyleId>{2D5ABB26-0587-4C30-8999-92F81FD0307C}</a:tableStyleId>
              </a:tblPr>
              <a:tblGrid>
                <a:gridCol w="2484895">
                  <a:extLst>
                    <a:ext uri="{9D8B030D-6E8A-4147-A177-3AD203B41FA5}">
                      <a16:colId xmlns:a16="http://schemas.microsoft.com/office/drawing/2014/main" val="20000"/>
                    </a:ext>
                  </a:extLst>
                </a:gridCol>
                <a:gridCol w="3153905">
                  <a:extLst>
                    <a:ext uri="{9D8B030D-6E8A-4147-A177-3AD203B41FA5}">
                      <a16:colId xmlns:a16="http://schemas.microsoft.com/office/drawing/2014/main" val="20001"/>
                    </a:ext>
                  </a:extLst>
                </a:gridCol>
              </a:tblGrid>
              <a:tr h="457200">
                <a:tc>
                  <a:txBody>
                    <a:bodyPr/>
                    <a:lstStyle/>
                    <a:p>
                      <a:endParaRPr lang="en-US"/>
                    </a:p>
                  </a:txBody>
                  <a:tcPr>
                    <a:blipFill>
                      <a:blip r:embed="rId3"/>
                      <a:stretch>
                        <a:fillRect r="-126716" b="-100000"/>
                      </a:stretch>
                    </a:blipFill>
                  </a:tcPr>
                </a:tc>
                <a:tc>
                  <a:txBody>
                    <a:bodyPr/>
                    <a:lstStyle/>
                    <a:p>
                      <a:endParaRPr lang="en-US"/>
                    </a:p>
                  </a:txBody>
                  <a:tcPr>
                    <a:blipFill>
                      <a:blip r:embed="rId3"/>
                      <a:stretch>
                        <a:fillRect l="-78917" b="-100000"/>
                      </a:stretch>
                    </a:blipFill>
                  </a:tcPr>
                </a:tc>
                <a:extLst>
                  <a:ext uri="{0D108BD9-81ED-4DB2-BD59-A6C34878D82A}">
                    <a16:rowId xmlns:a16="http://schemas.microsoft.com/office/drawing/2014/main" val="10000"/>
                  </a:ext>
                </a:extLst>
              </a:tr>
              <a:tr h="457200">
                <a:tc>
                  <a:txBody>
                    <a:bodyPr/>
                    <a:lstStyle/>
                    <a:p>
                      <a:endParaRPr lang="en-US"/>
                    </a:p>
                  </a:txBody>
                  <a:tcPr>
                    <a:blipFill>
                      <a:blip r:embed="rId3"/>
                      <a:stretch>
                        <a:fillRect t="-101333" r="-126716" b="-1333"/>
                      </a:stretch>
                    </a:blipFill>
                  </a:tcPr>
                </a:tc>
                <a:tc>
                  <a:txBody>
                    <a:bodyPr/>
                    <a:lstStyle/>
                    <a:p>
                      <a:endParaRPr lang="en-US"/>
                    </a:p>
                  </a:txBody>
                  <a:tcPr>
                    <a:blipFill>
                      <a:blip r:embed="rId3"/>
                      <a:stretch>
                        <a:fillRect l="-78917" t="-101333" b="-1333"/>
                      </a:stretch>
                    </a:blipFill>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F5DEA025-DCB2-10D2-3E31-44182AD9CC45}"/>
              </a:ext>
            </a:extLst>
          </p:cNvPr>
          <p:cNvSpPr txBox="1">
            <a:spLocks noChangeArrowheads="1"/>
          </p:cNvSpPr>
          <p:nvPr/>
        </p:nvSpPr>
        <p:spPr bwMode="auto">
          <a:xfrm>
            <a:off x="990600" y="6110288"/>
            <a:ext cx="62817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rgbClr val="00B050"/>
                </a:solidFill>
                <a:latin typeface="Open Sans" panose="020B0606030504020204" pitchFamily="34" charset="0"/>
              </a:rPr>
              <a:t>What if we use other activation functions?</a:t>
            </a:r>
          </a:p>
          <a:p>
            <a:endParaRPr lang="en-US" altLang="en-US" sz="2400">
              <a:latin typeface="Open Sans" panose="020B0606030504020204" pitchFamily="34"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0F97D4-713E-B389-FC50-B3DF61C7D693}"/>
              </a:ext>
            </a:extLst>
          </p:cNvPr>
          <p:cNvSpPr>
            <a:spLocks noGrp="1"/>
          </p:cNvSpPr>
          <p:nvPr>
            <p:ph type="title"/>
          </p:nvPr>
        </p:nvSpPr>
        <p:spPr>
          <a:xfrm>
            <a:off x="914400" y="2895600"/>
            <a:ext cx="7772400" cy="1362075"/>
          </a:xfrm>
        </p:spPr>
        <p:txBody>
          <a:bodyPr/>
          <a:lstStyle/>
          <a:p>
            <a:pPr algn="ctr">
              <a:defRPr/>
            </a:pPr>
            <a:r>
              <a:rPr lang="en-US" dirty="0"/>
              <a:t>Perceptron Algorithm</a:t>
            </a:r>
          </a:p>
        </p:txBody>
      </p:sp>
      <p:sp>
        <p:nvSpPr>
          <p:cNvPr id="46083" name="Slide Number Placeholder 3">
            <a:extLst>
              <a:ext uri="{FF2B5EF4-FFF2-40B4-BE49-F238E27FC236}">
                <a16:creationId xmlns:a16="http://schemas.microsoft.com/office/drawing/2014/main" id="{8530ACA0-98C4-7631-18E3-19B9A9D69F4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9E0CDB-5044-490D-92F3-228B6AF06F26}" type="slidenum">
              <a:rPr lang="en-US" altLang="en-US" smtClean="0">
                <a:solidFill>
                  <a:srgbClr val="898989"/>
                </a:solidFill>
                <a:latin typeface="Calibri" panose="020F0502020204030204" pitchFamily="34" charset="0"/>
              </a:rPr>
              <a:pPr/>
              <a:t>36</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4">
            <a:extLst>
              <a:ext uri="{FF2B5EF4-FFF2-40B4-BE49-F238E27FC236}">
                <a16:creationId xmlns:a16="http://schemas.microsoft.com/office/drawing/2014/main" id="{D1795593-2B43-C5A1-3088-CCF2B88172E5}"/>
              </a:ext>
            </a:extLst>
          </p:cNvPr>
          <p:cNvSpPr>
            <a:spLocks noGrp="1"/>
          </p:cNvSpPr>
          <p:nvPr>
            <p:ph type="title"/>
          </p:nvPr>
        </p:nvSpPr>
        <p:spPr/>
        <p:txBody>
          <a:bodyPr/>
          <a:lstStyle/>
          <a:p>
            <a:r>
              <a:rPr lang="en-US" altLang="en-US">
                <a:latin typeface="Open Sans" panose="020B0606030504020204" pitchFamily="34" charset="0"/>
              </a:rPr>
              <a:t>Perceptron Algorithm</a:t>
            </a:r>
          </a:p>
        </p:txBody>
      </p:sp>
      <p:sp>
        <p:nvSpPr>
          <p:cNvPr id="6" name="Content Placeholder 5">
            <a:extLst>
              <a:ext uri="{FF2B5EF4-FFF2-40B4-BE49-F238E27FC236}">
                <a16:creationId xmlns:a16="http://schemas.microsoft.com/office/drawing/2014/main" id="{F3D705E6-17D5-9473-B7F9-053410BBCC66}"/>
              </a:ext>
            </a:extLst>
          </p:cNvPr>
          <p:cNvSpPr>
            <a:spLocks noGrp="1"/>
          </p:cNvSpPr>
          <p:nvPr>
            <p:ph idx="1"/>
          </p:nvPr>
        </p:nvSpPr>
        <p:spPr/>
        <p:txBody>
          <a:bodyPr>
            <a:normAutofit fontScale="70000" lnSpcReduction="20000"/>
          </a:bodyPr>
          <a:lstStyle/>
          <a:p>
            <a:pPr eaLnBrk="1" hangingPunct="1">
              <a:lnSpc>
                <a:spcPct val="130000"/>
              </a:lnSpc>
              <a:defRPr/>
            </a:pPr>
            <a:r>
              <a:rPr lang="en-US" altLang="en-US" dirty="0"/>
              <a:t>Iteratively process a set of training tuples &amp; compare the network's prediction with the actual known target value.</a:t>
            </a:r>
          </a:p>
          <a:p>
            <a:pPr eaLnBrk="1" hangingPunct="1">
              <a:lnSpc>
                <a:spcPct val="130000"/>
              </a:lnSpc>
              <a:defRPr/>
            </a:pPr>
            <a:r>
              <a:rPr lang="en-US" altLang="en-US" dirty="0"/>
              <a:t>For each training tuple, the weights are modified to </a:t>
            </a:r>
            <a:r>
              <a:rPr lang="en-US" altLang="en-US" b="1" dirty="0"/>
              <a:t>minimize the mean squared error</a:t>
            </a:r>
            <a:r>
              <a:rPr lang="en-US" altLang="en-US" dirty="0"/>
              <a:t> between the network's prediction and the actual target value.</a:t>
            </a:r>
          </a:p>
          <a:p>
            <a:pPr eaLnBrk="1" hangingPunct="1">
              <a:lnSpc>
                <a:spcPct val="130000"/>
              </a:lnSpc>
              <a:defRPr/>
            </a:pPr>
            <a:r>
              <a:rPr lang="en-US" altLang="en-US" dirty="0"/>
              <a:t>Steps:</a:t>
            </a:r>
          </a:p>
          <a:p>
            <a:pPr marL="971550" lvl="1" indent="-514350" eaLnBrk="1" hangingPunct="1">
              <a:lnSpc>
                <a:spcPct val="130000"/>
              </a:lnSpc>
              <a:buFont typeface="+mj-lt"/>
              <a:buAutoNum type="arabicPeriod"/>
              <a:defRPr/>
            </a:pPr>
            <a:r>
              <a:rPr lang="en-US" altLang="en-US" dirty="0"/>
              <a:t>Initialize weights to small random numbers, associated with biases. </a:t>
            </a:r>
          </a:p>
          <a:p>
            <a:pPr marL="971550" lvl="1" indent="-514350" eaLnBrk="1" hangingPunct="1">
              <a:lnSpc>
                <a:spcPct val="130000"/>
              </a:lnSpc>
              <a:buFont typeface="+mj-lt"/>
              <a:buAutoNum type="arabicPeriod"/>
              <a:defRPr/>
            </a:pPr>
            <a:r>
              <a:rPr lang="en-US" altLang="en-US" dirty="0"/>
              <a:t>Loop: </a:t>
            </a:r>
          </a:p>
          <a:p>
            <a:pPr marL="1371600" lvl="2" indent="-403225" eaLnBrk="1" hangingPunct="1">
              <a:lnSpc>
                <a:spcPct val="130000"/>
              </a:lnSpc>
              <a:buFont typeface="+mj-lt"/>
              <a:buAutoNum type="alphaLcParenR"/>
              <a:defRPr/>
            </a:pPr>
            <a:r>
              <a:rPr lang="en-US" altLang="en-US" dirty="0"/>
              <a:t>Propagate the inputs forward (by applying activation function).</a:t>
            </a:r>
          </a:p>
          <a:p>
            <a:pPr marL="1371600" lvl="2" indent="-403225" eaLnBrk="1" hangingPunct="1">
              <a:lnSpc>
                <a:spcPct val="130000"/>
              </a:lnSpc>
              <a:buFont typeface="+mj-lt"/>
              <a:buAutoNum type="alphaLcParenR"/>
              <a:defRPr/>
            </a:pPr>
            <a:r>
              <a:rPr lang="en-US" altLang="en-US" dirty="0"/>
              <a:t>Updating weights and biases.</a:t>
            </a:r>
          </a:p>
          <a:p>
            <a:pPr marL="968375" lvl="1" indent="0" eaLnBrk="1" hangingPunct="1">
              <a:lnSpc>
                <a:spcPct val="130000"/>
              </a:lnSpc>
              <a:buFont typeface="Arial" panose="020B0604020202020204" pitchFamily="34" charset="0"/>
              <a:buNone/>
              <a:defRPr/>
            </a:pPr>
            <a:r>
              <a:rPr lang="en-US" altLang="en-US" dirty="0"/>
              <a:t>Terminating condition (when error is very small, etc.).</a:t>
            </a:r>
          </a:p>
          <a:p>
            <a:pPr eaLnBrk="1" hangingPunct="1">
              <a:lnSpc>
                <a:spcPct val="130000"/>
              </a:lnSpc>
              <a:defRPr/>
            </a:pPr>
            <a:endParaRPr lang="en-US" altLang="en-US" dirty="0"/>
          </a:p>
          <a:p>
            <a:pPr>
              <a:defRPr/>
            </a:pPr>
            <a:endParaRPr lang="en-US" dirty="0"/>
          </a:p>
        </p:txBody>
      </p:sp>
      <p:sp>
        <p:nvSpPr>
          <p:cNvPr id="47108" name="Slide Number Placeholder 3">
            <a:extLst>
              <a:ext uri="{FF2B5EF4-FFF2-40B4-BE49-F238E27FC236}">
                <a16:creationId xmlns:a16="http://schemas.microsoft.com/office/drawing/2014/main" id="{78E6C555-E1CC-8FED-3A4F-BD6E0555768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3CE111-0FEB-47BC-8F22-6ABF9F5B43AB}" type="slidenum">
              <a:rPr lang="en-US" altLang="en-US" smtClean="0">
                <a:solidFill>
                  <a:srgbClr val="898989"/>
                </a:solidFill>
                <a:latin typeface="Calibri" panose="020F0502020204030204" pitchFamily="34" charset="0"/>
              </a:rPr>
              <a:pPr/>
              <a:t>37</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884E476-C655-1685-C4D0-230EDB3C8CBC}"/>
              </a:ext>
            </a:extLst>
          </p:cNvPr>
          <p:cNvSpPr>
            <a:spLocks noGrp="1"/>
          </p:cNvSpPr>
          <p:nvPr>
            <p:ph type="title"/>
          </p:nvPr>
        </p:nvSpPr>
        <p:spPr>
          <a:xfrm>
            <a:off x="1727200" y="287338"/>
            <a:ext cx="7264400" cy="779462"/>
          </a:xfrm>
        </p:spPr>
        <p:txBody>
          <a:bodyPr/>
          <a:lstStyle/>
          <a:p>
            <a:r>
              <a:rPr lang="en-US" altLang="en-US" sz="3200">
                <a:latin typeface="Open Sans" panose="020B0606030504020204" pitchFamily="34" charset="0"/>
                <a:ea typeface="MS PGothic" panose="020B0600070205080204" pitchFamily="34" charset="-128"/>
              </a:rPr>
              <a:t>Perceptron</a:t>
            </a:r>
            <a:r>
              <a:rPr lang="id-ID" altLang="en-US" sz="3200">
                <a:latin typeface="Open Sans" panose="020B0606030504020204" pitchFamily="34" charset="0"/>
                <a:ea typeface="MS PGothic" panose="020B0600070205080204" pitchFamily="34" charset="-128"/>
              </a:rPr>
              <a:t> Algorithm</a:t>
            </a:r>
            <a:r>
              <a:rPr lang="en-US" altLang="en-US" sz="3200">
                <a:latin typeface="Open Sans" panose="020B0606030504020204" pitchFamily="34" charset="0"/>
                <a:ea typeface="MS PGothic" panose="020B0600070205080204" pitchFamily="34" charset="-128"/>
              </a:rPr>
              <a:t> (cont.)</a:t>
            </a:r>
            <a:endParaRPr lang="en-US" altLang="id-ID" sz="3200">
              <a:latin typeface="Open Sans" panose="020B0606030504020204" pitchFamily="34" charset="0"/>
              <a:ea typeface="MS PGothic" panose="020B0600070205080204" pitchFamily="34" charset="-128"/>
            </a:endParaRPr>
          </a:p>
        </p:txBody>
      </p:sp>
      <p:sp>
        <p:nvSpPr>
          <p:cNvPr id="48131" name="Rectangle 3">
            <a:extLst>
              <a:ext uri="{FF2B5EF4-FFF2-40B4-BE49-F238E27FC236}">
                <a16:creationId xmlns:a16="http://schemas.microsoft.com/office/drawing/2014/main" id="{E94465FB-B1DB-C7F8-74E1-1CCE5EACCA95}"/>
              </a:ext>
            </a:extLst>
          </p:cNvPr>
          <p:cNvSpPr>
            <a:spLocks noGrp="1"/>
          </p:cNvSpPr>
          <p:nvPr>
            <p:ph type="body" idx="1"/>
          </p:nvPr>
        </p:nvSpPr>
        <p:spPr>
          <a:xfrm>
            <a:off x="639763" y="1370013"/>
            <a:ext cx="8221662" cy="5259387"/>
          </a:xfrm>
        </p:spPr>
        <p:txBody>
          <a:bodyPr/>
          <a:lstStyle/>
          <a:p>
            <a:r>
              <a:rPr lang="en-US" altLang="id-ID">
                <a:latin typeface="Open Sans" panose="020B0606030504020204" pitchFamily="34" charset="0"/>
                <a:ea typeface="MS PGothic" panose="020B0600070205080204" pitchFamily="34" charset="-128"/>
              </a:rPr>
              <a:t>Initialize the weights (w</a:t>
            </a:r>
            <a:r>
              <a:rPr lang="en-US" altLang="id-ID" baseline="-25000">
                <a:latin typeface="Open Sans" panose="020B0606030504020204" pitchFamily="34" charset="0"/>
                <a:ea typeface="MS PGothic" panose="020B0600070205080204" pitchFamily="34" charset="-128"/>
              </a:rPr>
              <a:t>0</a:t>
            </a:r>
            <a:r>
              <a:rPr lang="en-US" altLang="id-ID">
                <a:latin typeface="Open Sans" panose="020B0606030504020204" pitchFamily="34" charset="0"/>
                <a:ea typeface="MS PGothic" panose="020B0600070205080204" pitchFamily="34" charset="-128"/>
              </a:rPr>
              <a:t>, w</a:t>
            </a:r>
            <a:r>
              <a:rPr lang="en-US" altLang="id-ID" baseline="-25000">
                <a:latin typeface="Open Sans" panose="020B0606030504020204" pitchFamily="34" charset="0"/>
                <a:ea typeface="MS PGothic" panose="020B0600070205080204" pitchFamily="34" charset="-128"/>
              </a:rPr>
              <a:t>1</a:t>
            </a:r>
            <a:r>
              <a:rPr lang="en-US" altLang="id-ID">
                <a:latin typeface="Open Sans" panose="020B0606030504020204" pitchFamily="34" charset="0"/>
                <a:ea typeface="MS PGothic" panose="020B0600070205080204" pitchFamily="34" charset="-128"/>
              </a:rPr>
              <a:t>, …, w</a:t>
            </a:r>
            <a:r>
              <a:rPr lang="en-US" altLang="id-ID" baseline="-25000">
                <a:latin typeface="Open Sans" panose="020B0606030504020204" pitchFamily="34" charset="0"/>
                <a:ea typeface="MS PGothic" panose="020B0600070205080204" pitchFamily="34" charset="-128"/>
              </a:rPr>
              <a:t>k</a:t>
            </a:r>
            <a:r>
              <a:rPr lang="en-US" altLang="id-ID">
                <a:latin typeface="Open Sans" panose="020B0606030504020204" pitchFamily="34" charset="0"/>
                <a:ea typeface="MS PGothic" panose="020B0600070205080204" pitchFamily="34" charset="-128"/>
              </a:rPr>
              <a:t>)</a:t>
            </a:r>
          </a:p>
          <a:p>
            <a:r>
              <a:rPr lang="en-US" altLang="id-ID">
                <a:latin typeface="Open Sans" panose="020B0606030504020204" pitchFamily="34" charset="0"/>
                <a:ea typeface="MS PGothic" panose="020B0600070205080204" pitchFamily="34" charset="-128"/>
              </a:rPr>
              <a:t>Adjust the weights in such a way that the output of ANN is consistent with class labels of training examples.</a:t>
            </a:r>
          </a:p>
          <a:p>
            <a:pPr lvl="1"/>
            <a:r>
              <a:rPr lang="en-US" altLang="id-ID">
                <a:latin typeface="Open Sans" panose="020B0606030504020204" pitchFamily="34" charset="0"/>
                <a:ea typeface="MS PGothic" panose="020B0600070205080204" pitchFamily="34" charset="-128"/>
              </a:rPr>
              <a:t>Objective function:</a:t>
            </a:r>
          </a:p>
          <a:p>
            <a:pPr lvl="1"/>
            <a:endParaRPr lang="en-US" altLang="id-ID">
              <a:latin typeface="Open Sans" panose="020B0606030504020204" pitchFamily="34" charset="0"/>
              <a:ea typeface="MS PGothic" panose="020B0600070205080204" pitchFamily="34" charset="-128"/>
            </a:endParaRPr>
          </a:p>
          <a:p>
            <a:pPr lvl="1"/>
            <a:endParaRPr lang="id-ID" altLang="id-ID">
              <a:latin typeface="Open Sans" panose="020B0606030504020204" pitchFamily="34" charset="0"/>
              <a:ea typeface="MS PGothic" panose="020B0600070205080204" pitchFamily="34" charset="-128"/>
            </a:endParaRPr>
          </a:p>
          <a:p>
            <a:pPr lvl="1"/>
            <a:r>
              <a:rPr lang="en-US" altLang="id-ID">
                <a:latin typeface="Open Sans" panose="020B0606030504020204" pitchFamily="34" charset="0"/>
                <a:ea typeface="MS PGothic" panose="020B0600070205080204" pitchFamily="34" charset="-128"/>
              </a:rPr>
              <a:t>Find the weights w</a:t>
            </a:r>
            <a:r>
              <a:rPr lang="en-US" altLang="id-ID" baseline="-25000">
                <a:latin typeface="Open Sans" panose="020B0606030504020204" pitchFamily="34" charset="0"/>
                <a:ea typeface="MS PGothic" panose="020B0600070205080204" pitchFamily="34" charset="-128"/>
              </a:rPr>
              <a:t>i</a:t>
            </a:r>
            <a:r>
              <a:rPr lang="en-US" altLang="id-ID">
                <a:latin typeface="Open Sans" panose="020B0606030504020204" pitchFamily="34" charset="0"/>
                <a:ea typeface="MS PGothic" panose="020B0600070205080204" pitchFamily="34" charset="-128"/>
              </a:rPr>
              <a:t>’s that minimize the above objective function. How to find them?</a:t>
            </a:r>
          </a:p>
        </p:txBody>
      </p:sp>
      <p:graphicFrame>
        <p:nvGraphicFramePr>
          <p:cNvPr id="48132" name="Object 4">
            <a:extLst>
              <a:ext uri="{FF2B5EF4-FFF2-40B4-BE49-F238E27FC236}">
                <a16:creationId xmlns:a16="http://schemas.microsoft.com/office/drawing/2014/main" id="{C4061A21-CC3E-0CAA-0933-120BD2851DEF}"/>
              </a:ext>
            </a:extLst>
          </p:cNvPr>
          <p:cNvGraphicFramePr>
            <a:graphicFrameLocks noGrp="1" noChangeAspect="1"/>
          </p:cNvGraphicFramePr>
          <p:nvPr>
            <p:ph sz="half" idx="4294967295"/>
          </p:nvPr>
        </p:nvGraphicFramePr>
        <p:xfrm>
          <a:off x="3170238" y="3733800"/>
          <a:ext cx="3162300" cy="858838"/>
        </p:xfrm>
        <a:graphic>
          <a:graphicData uri="http://schemas.openxmlformats.org/presentationml/2006/ole">
            <mc:AlternateContent xmlns:mc="http://schemas.openxmlformats.org/markup-compatibility/2006">
              <mc:Choice xmlns:v="urn:schemas-microsoft-com:vml" Requires="v">
                <p:oleObj name="Equation" r:id="rId2" imgW="1435100" imgH="368300" progId="Equation.3">
                  <p:embed/>
                </p:oleObj>
              </mc:Choice>
              <mc:Fallback>
                <p:oleObj name="Equation" r:id="rId2" imgW="1435100" imgH="368300" progId="Equation.3">
                  <p:embed/>
                  <p:pic>
                    <p:nvPicPr>
                      <p:cNvPr id="48132" name="Object 4">
                        <a:extLst>
                          <a:ext uri="{FF2B5EF4-FFF2-40B4-BE49-F238E27FC236}">
                            <a16:creationId xmlns:a16="http://schemas.microsoft.com/office/drawing/2014/main" id="{C4061A21-CC3E-0CAA-0933-120BD2851DEF}"/>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0238" y="3733800"/>
                        <a:ext cx="3162300"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plit orient="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629A7EE-3BDD-3300-68E5-5B0C6779A0AA}"/>
              </a:ext>
            </a:extLst>
          </p:cNvPr>
          <p:cNvSpPr>
            <a:spLocks noGrp="1"/>
          </p:cNvSpPr>
          <p:nvPr>
            <p:ph type="title"/>
          </p:nvPr>
        </p:nvSpPr>
        <p:spPr>
          <a:xfrm>
            <a:off x="1752600" y="222250"/>
            <a:ext cx="7264400" cy="1082675"/>
          </a:xfrm>
        </p:spPr>
        <p:txBody>
          <a:bodyPr/>
          <a:lstStyle/>
          <a:p>
            <a:r>
              <a:rPr lang="en-US" altLang="en-US" sz="3200">
                <a:latin typeface="Open Sans" panose="020B0606030504020204" pitchFamily="34" charset="0"/>
                <a:ea typeface="MS PGothic" panose="020B0600070205080204" pitchFamily="34" charset="-128"/>
              </a:rPr>
              <a:t>Perceptron Algorithm: </a:t>
            </a:r>
            <a:br>
              <a:rPr lang="en-US" altLang="en-US" sz="3200">
                <a:latin typeface="Open Sans" panose="020B0606030504020204" pitchFamily="34" charset="0"/>
                <a:ea typeface="MS PGothic" panose="020B0600070205080204" pitchFamily="34" charset="-128"/>
              </a:rPr>
            </a:br>
            <a:r>
              <a:rPr lang="en-US" altLang="en-US" sz="3200">
                <a:latin typeface="Open Sans" panose="020B0606030504020204" pitchFamily="34" charset="0"/>
                <a:ea typeface="MS PGothic" panose="020B0600070205080204" pitchFamily="34" charset="-128"/>
              </a:rPr>
              <a:t>Updating Weights</a:t>
            </a:r>
            <a:endParaRPr lang="en-US" altLang="id-ID" sz="3200">
              <a:latin typeface="Open Sans" panose="020B0606030504020204" pitchFamily="34" charset="0"/>
              <a:ea typeface="MS PGothic" panose="020B0600070205080204" pitchFamily="34" charset="-128"/>
            </a:endParaRPr>
          </a:p>
        </p:txBody>
      </p:sp>
      <p:sp>
        <p:nvSpPr>
          <p:cNvPr id="68611" name="Rectangle 3">
            <a:extLst>
              <a:ext uri="{FF2B5EF4-FFF2-40B4-BE49-F238E27FC236}">
                <a16:creationId xmlns:a16="http://schemas.microsoft.com/office/drawing/2014/main" id="{9F7DCA09-DA50-5151-A333-AC755787018B}"/>
              </a:ext>
            </a:extLst>
          </p:cNvPr>
          <p:cNvSpPr>
            <a:spLocks noGrp="1" noRot="1" noChangeAspect="1" noMove="1" noResize="1" noEditPoints="1" noAdjustHandles="1" noChangeArrowheads="1" noChangeShapeType="1" noTextEdit="1"/>
          </p:cNvSpPr>
          <p:nvPr>
            <p:ph type="body" idx="1"/>
          </p:nvPr>
        </p:nvSpPr>
        <p:spPr>
          <a:xfrm>
            <a:off x="639763" y="1370013"/>
            <a:ext cx="8221662" cy="5259387"/>
          </a:xfrm>
          <a:blipFill>
            <a:blip r:embed="rId2"/>
            <a:stretch>
              <a:fillRect l="-1334" t="-1275" r="-2595"/>
            </a:stretch>
          </a:blipFill>
        </p:spPr>
        <p:txBody>
          <a:bodyPr/>
          <a:lstStyle/>
          <a:p>
            <a:r>
              <a:rPr lang="en-US">
                <a:noFill/>
              </a:rPr>
              <a:t> </a:t>
            </a:r>
          </a:p>
        </p:txBody>
      </p:sp>
    </p:spTree>
  </p:cSld>
  <p:clrMapOvr>
    <a:masterClrMapping/>
  </p:clrMapOvr>
  <p:transition spd="slow">
    <p:split orient="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876BA-8F10-5A2B-AC4E-C587C39716D7}"/>
              </a:ext>
            </a:extLst>
          </p:cNvPr>
          <p:cNvSpPr>
            <a:spLocks noGrp="1"/>
          </p:cNvSpPr>
          <p:nvPr>
            <p:ph type="title"/>
          </p:nvPr>
        </p:nvSpPr>
        <p:spPr/>
        <p:txBody>
          <a:bodyPr>
            <a:normAutofit fontScale="90000"/>
          </a:bodyPr>
          <a:lstStyle/>
          <a:p>
            <a:pPr>
              <a:defRPr/>
            </a:pPr>
            <a:r>
              <a:rPr lang="en-US" dirty="0"/>
              <a:t>Exercise: Perceptron Algorithm</a:t>
            </a:r>
          </a:p>
        </p:txBody>
      </p:sp>
      <p:sp>
        <p:nvSpPr>
          <p:cNvPr id="50179" name="Content Placeholder 2">
            <a:extLst>
              <a:ext uri="{FF2B5EF4-FFF2-40B4-BE49-F238E27FC236}">
                <a16:creationId xmlns:a16="http://schemas.microsoft.com/office/drawing/2014/main" id="{55A1B494-ABAA-190B-8C88-37112BD6278B}"/>
              </a:ext>
            </a:extLst>
          </p:cNvPr>
          <p:cNvSpPr>
            <a:spLocks noGrp="1"/>
          </p:cNvSpPr>
          <p:nvPr>
            <p:ph idx="1"/>
          </p:nvPr>
        </p:nvSpPr>
        <p:spPr/>
        <p:txBody>
          <a:bodyPr/>
          <a:lstStyle/>
          <a:p>
            <a:r>
              <a:rPr lang="en-US" altLang="en-US">
                <a:latin typeface="Open Sans" panose="020B0606030504020204" pitchFamily="34" charset="0"/>
              </a:rPr>
              <a:t>Defined training set of data input and target:</a:t>
            </a:r>
          </a:p>
          <a:p>
            <a:endParaRPr lang="en-US" altLang="en-US">
              <a:latin typeface="Open Sans" panose="020B0606030504020204" pitchFamily="34" charset="0"/>
            </a:endParaRPr>
          </a:p>
          <a:p>
            <a:endParaRPr lang="en-US" altLang="en-US">
              <a:latin typeface="Open Sans" panose="020B0606030504020204" pitchFamily="34" charset="0"/>
            </a:endParaRPr>
          </a:p>
          <a:p>
            <a:endParaRPr lang="en-US" altLang="en-US">
              <a:latin typeface="Open Sans" panose="020B0606030504020204" pitchFamily="34" charset="0"/>
            </a:endParaRPr>
          </a:p>
          <a:p>
            <a:r>
              <a:rPr lang="en-US" altLang="en-US">
                <a:latin typeface="Open Sans" panose="020B0606030504020204" pitchFamily="34" charset="0"/>
              </a:rPr>
              <a:t>Based on this data, please simulate perceptron algorithm for one iteration.</a:t>
            </a:r>
          </a:p>
          <a:p>
            <a:r>
              <a:rPr lang="en-US" altLang="en-US">
                <a:latin typeface="Open Sans" panose="020B0606030504020204" pitchFamily="34" charset="0"/>
              </a:rPr>
              <a:t>Let’s say we use </a:t>
            </a:r>
            <a:r>
              <a:rPr lang="en-US" altLang="en-US" u="sng">
                <a:latin typeface="Open Sans" panose="020B0606030504020204" pitchFamily="34" charset="0"/>
              </a:rPr>
              <a:t>binary activation function</a:t>
            </a:r>
            <a:r>
              <a:rPr lang="en-US" altLang="en-US">
                <a:latin typeface="Open Sans" panose="020B0606030504020204" pitchFamily="34" charset="0"/>
              </a:rPr>
              <a:t>, and the followings are the initial values of:</a:t>
            </a:r>
          </a:p>
        </p:txBody>
      </p:sp>
      <p:sp>
        <p:nvSpPr>
          <p:cNvPr id="50180" name="Slide Number Placeholder 3">
            <a:extLst>
              <a:ext uri="{FF2B5EF4-FFF2-40B4-BE49-F238E27FC236}">
                <a16:creationId xmlns:a16="http://schemas.microsoft.com/office/drawing/2014/main" id="{DED3F6F0-3B4C-29C7-133E-47ED2CCBE31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C6DFA5F-BA24-45F7-8037-D778D958C8EC}" type="slidenum">
              <a:rPr lang="en-US" altLang="en-US" smtClean="0">
                <a:solidFill>
                  <a:srgbClr val="898989"/>
                </a:solidFill>
                <a:latin typeface="Calibri" panose="020F0502020204030204" pitchFamily="34" charset="0"/>
              </a:rPr>
              <a:pPr/>
              <a:t>40</a:t>
            </a:fld>
            <a:endParaRPr lang="en-US" altLang="en-US">
              <a:solidFill>
                <a:srgbClr val="898989"/>
              </a:solidFill>
              <a:latin typeface="Calibri" panose="020F0502020204030204" pitchFamily="34" charset="0"/>
            </a:endParaRPr>
          </a:p>
        </p:txBody>
      </p:sp>
      <p:graphicFrame>
        <p:nvGraphicFramePr>
          <p:cNvPr id="5" name="Table 5">
            <a:extLst>
              <a:ext uri="{FF2B5EF4-FFF2-40B4-BE49-F238E27FC236}">
                <a16:creationId xmlns:a16="http://schemas.microsoft.com/office/drawing/2014/main" id="{E9E2E6F3-4225-93C7-BD22-311AE55B6A09}"/>
              </a:ext>
            </a:extLst>
          </p:cNvPr>
          <p:cNvGraphicFramePr>
            <a:graphicFrameLocks noGrp="1"/>
          </p:cNvGraphicFramePr>
          <p:nvPr/>
        </p:nvGraphicFramePr>
        <p:xfrm>
          <a:off x="1295400" y="2318227"/>
          <a:ext cx="6096000" cy="11887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96240">
                <a:tc>
                  <a:txBody>
                    <a:bodyPr/>
                    <a:lstStyle/>
                    <a:p>
                      <a:endParaRPr lang="en-US"/>
                    </a:p>
                  </a:txBody>
                  <a:tcPr>
                    <a:blipFill>
                      <a:blip r:embed="rId2"/>
                      <a:stretch>
                        <a:fillRect l="-400" t="-1538" r="-302000" b="-227692"/>
                      </a:stretch>
                    </a:blipFill>
                  </a:tcPr>
                </a:tc>
                <a:tc>
                  <a:txBody>
                    <a:bodyPr/>
                    <a:lstStyle/>
                    <a:p>
                      <a:endParaRPr lang="en-US"/>
                    </a:p>
                  </a:txBody>
                  <a:tcPr>
                    <a:blipFill>
                      <a:blip r:embed="rId2"/>
                      <a:stretch>
                        <a:fillRect l="-100000" t="-1538" r="-200797" b="-227692"/>
                      </a:stretch>
                    </a:blipFill>
                  </a:tcPr>
                </a:tc>
                <a:tc>
                  <a:txBody>
                    <a:bodyPr/>
                    <a:lstStyle/>
                    <a:p>
                      <a:endParaRPr lang="en-US"/>
                    </a:p>
                  </a:txBody>
                  <a:tcPr>
                    <a:blipFill>
                      <a:blip r:embed="rId2"/>
                      <a:stretch>
                        <a:fillRect l="-200800" t="-1538" r="-101600" b="-227692"/>
                      </a:stretch>
                    </a:blipFill>
                  </a:tcPr>
                </a:tc>
                <a:tc>
                  <a:txBody>
                    <a:bodyPr/>
                    <a:lstStyle/>
                    <a:p>
                      <a:endParaRPr lang="en-US"/>
                    </a:p>
                  </a:txBody>
                  <a:tcPr>
                    <a:blipFill>
                      <a:blip r:embed="rId2"/>
                      <a:stretch>
                        <a:fillRect l="-300800" t="-1538" r="-1600" b="-227692"/>
                      </a:stretch>
                    </a:blipFill>
                  </a:tcPr>
                </a:tc>
                <a:extLst>
                  <a:ext uri="{0D108BD9-81ED-4DB2-BD59-A6C34878D82A}">
                    <a16:rowId xmlns:a16="http://schemas.microsoft.com/office/drawing/2014/main" val="10000"/>
                  </a:ext>
                </a:extLst>
              </a:tr>
              <a:tr h="396240">
                <a:tc>
                  <a:txBody>
                    <a:bodyPr/>
                    <a:lstStyle/>
                    <a:p>
                      <a:pPr algn="ctr"/>
                      <a:r>
                        <a:rPr lang="en-US" sz="2000" dirty="0"/>
                        <a:t>1</a:t>
                      </a:r>
                    </a:p>
                  </a:txBody>
                  <a:tcPr/>
                </a:tc>
                <a:tc>
                  <a:txBody>
                    <a:bodyPr/>
                    <a:lstStyle/>
                    <a:p>
                      <a:pPr algn="ctr"/>
                      <a:r>
                        <a:rPr lang="en-US" sz="2000" dirty="0"/>
                        <a:t>2</a:t>
                      </a:r>
                    </a:p>
                  </a:txBody>
                  <a:tcPr/>
                </a:tc>
                <a:tc>
                  <a:txBody>
                    <a:bodyPr/>
                    <a:lstStyle/>
                    <a:p>
                      <a:pPr algn="ctr"/>
                      <a:r>
                        <a:rPr lang="en-US" sz="2000" dirty="0"/>
                        <a:t>1</a:t>
                      </a:r>
                    </a:p>
                  </a:txBody>
                  <a:tcPr/>
                </a:tc>
                <a:tc>
                  <a:txBody>
                    <a:bodyPr/>
                    <a:lstStyle/>
                    <a:p>
                      <a:pPr algn="ctr"/>
                      <a:r>
                        <a:rPr lang="en-US" sz="2000" dirty="0"/>
                        <a:t>1</a:t>
                      </a:r>
                    </a:p>
                  </a:txBody>
                  <a:tcPr/>
                </a:tc>
                <a:extLst>
                  <a:ext uri="{0D108BD9-81ED-4DB2-BD59-A6C34878D82A}">
                    <a16:rowId xmlns:a16="http://schemas.microsoft.com/office/drawing/2014/main" val="10001"/>
                  </a:ext>
                </a:extLst>
              </a:tr>
              <a:tr h="396240">
                <a:tc>
                  <a:txBody>
                    <a:bodyPr/>
                    <a:lstStyle/>
                    <a:p>
                      <a:pPr algn="ctr"/>
                      <a:r>
                        <a:rPr lang="en-US" sz="2000" dirty="0"/>
                        <a:t>3</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extLst>
                  <a:ext uri="{0D108BD9-81ED-4DB2-BD59-A6C34878D82A}">
                    <a16:rowId xmlns:a16="http://schemas.microsoft.com/office/drawing/2014/main" val="10002"/>
                  </a:ext>
                </a:extLst>
              </a:tr>
            </a:tbl>
          </a:graphicData>
        </a:graphic>
      </p:graphicFrame>
      <p:graphicFrame>
        <p:nvGraphicFramePr>
          <p:cNvPr id="6" name="Table 7">
            <a:extLst>
              <a:ext uri="{FF2B5EF4-FFF2-40B4-BE49-F238E27FC236}">
                <a16:creationId xmlns:a16="http://schemas.microsoft.com/office/drawing/2014/main" id="{DAE48BA6-E7FE-514C-8314-9DDCF62ACA7A}"/>
              </a:ext>
            </a:extLst>
          </p:cNvPr>
          <p:cNvGraphicFramePr>
            <a:graphicFrameLocks noGrp="1"/>
          </p:cNvGraphicFramePr>
          <p:nvPr/>
        </p:nvGraphicFramePr>
        <p:xfrm>
          <a:off x="1676400" y="5562600"/>
          <a:ext cx="4064000" cy="91440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0000"/>
                    </a:ext>
                  </a:extLst>
                </a:gridCol>
                <a:gridCol w="2463800">
                  <a:extLst>
                    <a:ext uri="{9D8B030D-6E8A-4147-A177-3AD203B41FA5}">
                      <a16:colId xmlns:a16="http://schemas.microsoft.com/office/drawing/2014/main" val="20001"/>
                    </a:ext>
                  </a:extLst>
                </a:gridCol>
              </a:tblGrid>
              <a:tr h="457200">
                <a:tc>
                  <a:txBody>
                    <a:bodyPr/>
                    <a:lstStyle/>
                    <a:p>
                      <a:endParaRPr lang="en-US"/>
                    </a:p>
                  </a:txBody>
                  <a:tcPr>
                    <a:blipFill>
                      <a:blip r:embed="rId3"/>
                      <a:stretch>
                        <a:fillRect r="-153612" b="-100000"/>
                      </a:stretch>
                    </a:blipFill>
                  </a:tcPr>
                </a:tc>
                <a:tc>
                  <a:txBody>
                    <a:bodyPr/>
                    <a:lstStyle/>
                    <a:p>
                      <a:endParaRPr lang="en-US"/>
                    </a:p>
                  </a:txBody>
                  <a:tcPr>
                    <a:blipFill>
                      <a:blip r:embed="rId3"/>
                      <a:stretch>
                        <a:fillRect l="-65099" b="-100000"/>
                      </a:stretch>
                    </a:blipFill>
                  </a:tcPr>
                </a:tc>
                <a:extLst>
                  <a:ext uri="{0D108BD9-81ED-4DB2-BD59-A6C34878D82A}">
                    <a16:rowId xmlns:a16="http://schemas.microsoft.com/office/drawing/2014/main" val="10000"/>
                  </a:ext>
                </a:extLst>
              </a:tr>
              <a:tr h="457200">
                <a:tc>
                  <a:txBody>
                    <a:bodyPr/>
                    <a:lstStyle/>
                    <a:p>
                      <a:endParaRPr lang="en-US"/>
                    </a:p>
                  </a:txBody>
                  <a:tcPr>
                    <a:blipFill>
                      <a:blip r:embed="rId3"/>
                      <a:stretch>
                        <a:fillRect t="-101333" r="-153612" b="-1333"/>
                      </a:stretch>
                    </a:blipFill>
                  </a:tcPr>
                </a:tc>
                <a:tc>
                  <a:txBody>
                    <a:bodyPr/>
                    <a:lstStyle/>
                    <a:p>
                      <a:endParaRPr lang="en-US"/>
                    </a:p>
                  </a:txBody>
                  <a:tcPr>
                    <a:blipFill>
                      <a:blip r:embed="rId3"/>
                      <a:stretch>
                        <a:fillRect l="-65099" t="-101333" b="-1333"/>
                      </a:stretch>
                    </a:blipFill>
                  </a:tcPr>
                </a:tc>
                <a:extLst>
                  <a:ext uri="{0D108BD9-81ED-4DB2-BD59-A6C34878D82A}">
                    <a16:rowId xmlns:a16="http://schemas.microsoft.com/office/drawing/2014/main" val="10001"/>
                  </a:ext>
                </a:extLst>
              </a:tr>
            </a:tbl>
          </a:graphicData>
        </a:graphic>
      </p:graphicFrame>
    </p:spTree>
  </p:cSld>
  <p:clrMapOvr>
    <a:masterClrMapping/>
  </p:clrMapOvr>
  <p:transition spd="slow">
    <p:split orient="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186D6E-6102-3FBD-ADE5-353955237EBF}"/>
              </a:ext>
            </a:extLst>
          </p:cNvPr>
          <p:cNvSpPr>
            <a:spLocks noGrp="1"/>
          </p:cNvSpPr>
          <p:nvPr>
            <p:ph type="title"/>
          </p:nvPr>
        </p:nvSpPr>
        <p:spPr>
          <a:xfrm>
            <a:off x="914400" y="2895600"/>
            <a:ext cx="7772400" cy="1362075"/>
          </a:xfrm>
        </p:spPr>
        <p:txBody>
          <a:bodyPr/>
          <a:lstStyle/>
          <a:p>
            <a:pPr algn="ctr">
              <a:defRPr/>
            </a:pPr>
            <a:r>
              <a:rPr lang="en-US" dirty="0"/>
              <a:t>Backpropagation Neural Network (BPPN)</a:t>
            </a:r>
          </a:p>
        </p:txBody>
      </p:sp>
      <p:sp>
        <p:nvSpPr>
          <p:cNvPr id="51203" name="Slide Number Placeholder 3">
            <a:extLst>
              <a:ext uri="{FF2B5EF4-FFF2-40B4-BE49-F238E27FC236}">
                <a16:creationId xmlns:a16="http://schemas.microsoft.com/office/drawing/2014/main" id="{B89BC022-DA5C-4664-C56B-580472FA797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6AFC44-0090-46A5-B360-051DFCF39118}" type="slidenum">
              <a:rPr lang="en-US" altLang="en-US" smtClean="0">
                <a:solidFill>
                  <a:srgbClr val="898989"/>
                </a:solidFill>
                <a:latin typeface="Calibri" panose="020F0502020204030204" pitchFamily="34" charset="0"/>
              </a:rPr>
              <a:pPr/>
              <a:t>41</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22049FBA-DB1A-D4F3-3CE8-488C161777A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5DF86DE-0A07-4754-9795-530735F7CF40}" type="slidenum">
              <a:rPr lang="en-US" altLang="en-US" sz="1100" smtClean="0">
                <a:latin typeface="Tahoma" panose="020B0604030504040204" pitchFamily="34" charset="0"/>
                <a:ea typeface="MS PGothic" panose="020B0600070205080204" pitchFamily="34" charset="-128"/>
              </a:rPr>
              <a:pPr>
                <a:spcBef>
                  <a:spcPct val="0"/>
                </a:spcBef>
                <a:buFontTx/>
                <a:buNone/>
              </a:pPr>
              <a:t>42</a:t>
            </a:fld>
            <a:endParaRPr lang="en-US" altLang="en-US" sz="1100">
              <a:latin typeface="Tahoma" panose="020B0604030504040204" pitchFamily="34" charset="0"/>
              <a:ea typeface="MS PGothic" panose="020B0600070205080204" pitchFamily="34" charset="-128"/>
            </a:endParaRPr>
          </a:p>
        </p:txBody>
      </p:sp>
      <p:sp>
        <p:nvSpPr>
          <p:cNvPr id="52227" name="Rectangle 2">
            <a:extLst>
              <a:ext uri="{FF2B5EF4-FFF2-40B4-BE49-F238E27FC236}">
                <a16:creationId xmlns:a16="http://schemas.microsoft.com/office/drawing/2014/main" id="{871237F0-CA6C-4548-47E3-D3EDA715227C}"/>
              </a:ext>
            </a:extLst>
          </p:cNvPr>
          <p:cNvSpPr>
            <a:spLocks noGrp="1"/>
          </p:cNvSpPr>
          <p:nvPr>
            <p:ph type="title"/>
          </p:nvPr>
        </p:nvSpPr>
        <p:spPr>
          <a:xfrm>
            <a:off x="1905000" y="381000"/>
            <a:ext cx="7096125" cy="652463"/>
          </a:xfrm>
        </p:spPr>
        <p:txBody>
          <a:bodyPr lIns="89018" tIns="44510" rIns="89018" bIns="44510"/>
          <a:lstStyle/>
          <a:p>
            <a:pPr eaLnBrk="1" hangingPunct="1"/>
            <a:r>
              <a:rPr lang="en-US" altLang="en-US" sz="2800">
                <a:latin typeface="Open Sans" panose="020B0606030504020204" pitchFamily="34" charset="0"/>
                <a:ea typeface="MS PGothic" panose="020B0600070205080204" pitchFamily="34" charset="-128"/>
              </a:rPr>
              <a:t>Types of Learning</a:t>
            </a:r>
          </a:p>
        </p:txBody>
      </p:sp>
      <p:sp>
        <p:nvSpPr>
          <p:cNvPr id="25604" name="Rectangle 3">
            <a:extLst>
              <a:ext uri="{FF2B5EF4-FFF2-40B4-BE49-F238E27FC236}">
                <a16:creationId xmlns:a16="http://schemas.microsoft.com/office/drawing/2014/main" id="{FDA99433-A4BC-7AC7-2BFA-0E22BF1A73F1}"/>
              </a:ext>
            </a:extLst>
          </p:cNvPr>
          <p:cNvSpPr>
            <a:spLocks noGrp="1" noChangeArrowheads="1"/>
          </p:cNvSpPr>
          <p:nvPr>
            <p:ph type="body" idx="1"/>
          </p:nvPr>
        </p:nvSpPr>
        <p:spPr>
          <a:xfrm>
            <a:off x="546100" y="1524000"/>
            <a:ext cx="8123238" cy="5105400"/>
          </a:xfrm>
        </p:spPr>
        <p:txBody>
          <a:bodyPr lIns="89018" tIns="44510" rIns="89018" bIns="44510">
            <a:normAutofit fontScale="92500" lnSpcReduction="10000"/>
          </a:bodyPr>
          <a:lstStyle/>
          <a:p>
            <a:pPr marL="457200" indent="-457200" eaLnBrk="1" hangingPunct="1">
              <a:lnSpc>
                <a:spcPct val="130000"/>
              </a:lnSpc>
              <a:buFont typeface="+mj-lt"/>
              <a:buAutoNum type="arabicPeriod"/>
              <a:defRPr/>
            </a:pPr>
            <a:r>
              <a:rPr lang="en-US" altLang="en-US" sz="2400" b="1" dirty="0">
                <a:solidFill>
                  <a:srgbClr val="0070C0"/>
                </a:solidFill>
              </a:rPr>
              <a:t>Batch learning</a:t>
            </a:r>
          </a:p>
          <a:p>
            <a:pPr marL="857250" lvl="1" indent="-457200" eaLnBrk="1" hangingPunct="1">
              <a:lnSpc>
                <a:spcPct val="130000"/>
              </a:lnSpc>
              <a:defRPr/>
            </a:pPr>
            <a:r>
              <a:rPr lang="en-US" altLang="en-US" sz="2400" dirty="0"/>
              <a:t>All samples are used in each iteration of training.</a:t>
            </a:r>
          </a:p>
          <a:p>
            <a:pPr marL="457200" indent="-457200" eaLnBrk="1" hangingPunct="1">
              <a:lnSpc>
                <a:spcPct val="130000"/>
              </a:lnSpc>
              <a:buFont typeface="+mj-lt"/>
              <a:buAutoNum type="arabicPeriod"/>
              <a:defRPr/>
            </a:pPr>
            <a:r>
              <a:rPr lang="en-US" altLang="en-US" sz="2400" b="1" dirty="0">
                <a:solidFill>
                  <a:srgbClr val="0070C0"/>
                </a:solidFill>
              </a:rPr>
              <a:t>Mini-Batch Learning</a:t>
            </a:r>
          </a:p>
          <a:p>
            <a:pPr marL="857250" lvl="1" indent="-457200" eaLnBrk="1" hangingPunct="1">
              <a:lnSpc>
                <a:spcPct val="130000"/>
              </a:lnSpc>
              <a:defRPr/>
            </a:pPr>
            <a:r>
              <a:rPr lang="en-US" altLang="en-US" sz="2400" dirty="0"/>
              <a:t>All samples are divided into groups or mini batches.</a:t>
            </a:r>
          </a:p>
          <a:p>
            <a:pPr marL="857250" lvl="1" indent="-457200" eaLnBrk="1" hangingPunct="1">
              <a:lnSpc>
                <a:spcPct val="130000"/>
              </a:lnSpc>
              <a:defRPr/>
            </a:pPr>
            <a:r>
              <a:rPr lang="en-US" altLang="en-US" sz="2400" dirty="0"/>
              <a:t>For each iteration, one mini-batch is used.</a:t>
            </a:r>
          </a:p>
          <a:p>
            <a:pPr marL="857250" lvl="1" indent="-457200" eaLnBrk="1" hangingPunct="1">
              <a:lnSpc>
                <a:spcPct val="130000"/>
              </a:lnSpc>
              <a:defRPr/>
            </a:pPr>
            <a:r>
              <a:rPr lang="en-US" altLang="en-US" sz="2400" dirty="0"/>
              <a:t>The number of iterations should be greater than that of mini-batches.</a:t>
            </a:r>
          </a:p>
          <a:p>
            <a:pPr marL="457200" indent="-457200" eaLnBrk="1" hangingPunct="1">
              <a:lnSpc>
                <a:spcPct val="130000"/>
              </a:lnSpc>
              <a:buFont typeface="+mj-lt"/>
              <a:buAutoNum type="arabicPeriod"/>
              <a:defRPr/>
            </a:pPr>
            <a:r>
              <a:rPr lang="en-US" altLang="en-US" sz="2400" b="1" dirty="0">
                <a:solidFill>
                  <a:srgbClr val="0070C0"/>
                </a:solidFill>
              </a:rPr>
              <a:t>Online Learning</a:t>
            </a:r>
          </a:p>
          <a:p>
            <a:pPr marL="857250" lvl="1" indent="-457200" eaLnBrk="1" hangingPunct="1">
              <a:lnSpc>
                <a:spcPct val="130000"/>
              </a:lnSpc>
              <a:defRPr/>
            </a:pPr>
            <a:r>
              <a:rPr lang="en-US" altLang="en-US" sz="2400" dirty="0"/>
              <a:t>Each iteration of training only uses one sample. </a:t>
            </a:r>
          </a:p>
          <a:p>
            <a:pPr marL="857250" lvl="1" indent="-457200" eaLnBrk="1" hangingPunct="1">
              <a:lnSpc>
                <a:spcPct val="130000"/>
              </a:lnSpc>
              <a:defRPr/>
            </a:pPr>
            <a:r>
              <a:rPr lang="en-US" altLang="en-US" sz="2400" dirty="0"/>
              <a:t>The number of iterations should be greater than that of samples.</a:t>
            </a:r>
          </a:p>
          <a:p>
            <a:pPr marL="457200" indent="-457200" eaLnBrk="1" hangingPunct="1">
              <a:lnSpc>
                <a:spcPct val="130000"/>
              </a:lnSpc>
              <a:buFont typeface="+mj-lt"/>
              <a:buAutoNum type="arabicPeriod"/>
              <a:defRPr/>
            </a:pPr>
            <a:endParaRPr lang="en-US" altLang="en-US" sz="2400" dirty="0"/>
          </a:p>
        </p:txBody>
      </p:sp>
    </p:spTree>
  </p:cSld>
  <p:clrMapOvr>
    <a:masterClrMapping/>
  </p:clrMapOvr>
  <p:transition spd="slow">
    <p:split orient="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95BA4880-8FE5-5F85-ACDE-9CD13F0644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9D00D6-B85C-44FB-9366-2ADD0012148A}" type="slidenum">
              <a:rPr lang="en-US" altLang="en-US" sz="1100" smtClean="0">
                <a:latin typeface="Tahoma" panose="020B0604030504040204" pitchFamily="34" charset="0"/>
                <a:ea typeface="MS PGothic" panose="020B0600070205080204" pitchFamily="34" charset="-128"/>
              </a:rPr>
              <a:pPr>
                <a:spcBef>
                  <a:spcPct val="0"/>
                </a:spcBef>
                <a:buFontTx/>
                <a:buNone/>
              </a:pPr>
              <a:t>43</a:t>
            </a:fld>
            <a:endParaRPr lang="en-US" altLang="en-US" sz="1100">
              <a:latin typeface="Tahoma" panose="020B0604030504040204" pitchFamily="34" charset="0"/>
              <a:ea typeface="MS PGothic" panose="020B0600070205080204" pitchFamily="34" charset="-128"/>
            </a:endParaRPr>
          </a:p>
        </p:txBody>
      </p:sp>
      <p:sp>
        <p:nvSpPr>
          <p:cNvPr id="54275" name="Rectangle 2">
            <a:extLst>
              <a:ext uri="{FF2B5EF4-FFF2-40B4-BE49-F238E27FC236}">
                <a16:creationId xmlns:a16="http://schemas.microsoft.com/office/drawing/2014/main" id="{05675245-F80A-CA3A-3CAE-4D4C69689EFB}"/>
              </a:ext>
            </a:extLst>
          </p:cNvPr>
          <p:cNvSpPr>
            <a:spLocks noGrp="1"/>
          </p:cNvSpPr>
          <p:nvPr>
            <p:ph type="title"/>
          </p:nvPr>
        </p:nvSpPr>
        <p:spPr>
          <a:xfrm>
            <a:off x="1905000" y="381000"/>
            <a:ext cx="7096125" cy="652463"/>
          </a:xfrm>
        </p:spPr>
        <p:txBody>
          <a:bodyPr lIns="89018" tIns="44510" rIns="89018" bIns="44510"/>
          <a:lstStyle/>
          <a:p>
            <a:pPr eaLnBrk="1" hangingPunct="1"/>
            <a:r>
              <a:rPr lang="id-ID" altLang="en-US" sz="2800">
                <a:latin typeface="Open Sans" panose="020B0606030504020204" pitchFamily="34" charset="0"/>
                <a:ea typeface="MS PGothic" panose="020B0600070205080204" pitchFamily="34" charset="-128"/>
              </a:rPr>
              <a:t>Learning Algorithm: </a:t>
            </a:r>
            <a:r>
              <a:rPr lang="en-US" altLang="en-US" sz="2800">
                <a:latin typeface="Open Sans" panose="020B0606030504020204" pitchFamily="34" charset="0"/>
                <a:ea typeface="MS PGothic" panose="020B0600070205080204" pitchFamily="34" charset="-128"/>
              </a:rPr>
              <a:t>Backpropagation</a:t>
            </a:r>
          </a:p>
        </p:txBody>
      </p:sp>
      <p:sp>
        <p:nvSpPr>
          <p:cNvPr id="54276" name="Rectangle 3">
            <a:extLst>
              <a:ext uri="{FF2B5EF4-FFF2-40B4-BE49-F238E27FC236}">
                <a16:creationId xmlns:a16="http://schemas.microsoft.com/office/drawing/2014/main" id="{2AB9FFF2-0581-B975-8B36-DB60A2061592}"/>
              </a:ext>
            </a:extLst>
          </p:cNvPr>
          <p:cNvSpPr>
            <a:spLocks noGrp="1"/>
          </p:cNvSpPr>
          <p:nvPr>
            <p:ph type="body" idx="1"/>
          </p:nvPr>
        </p:nvSpPr>
        <p:spPr>
          <a:xfrm>
            <a:off x="546100" y="1219200"/>
            <a:ext cx="8123238" cy="5486400"/>
          </a:xfrm>
        </p:spPr>
        <p:txBody>
          <a:bodyPr lIns="89018" tIns="44510" rIns="89018" bIns="44510">
            <a:normAutofit lnSpcReduction="10000"/>
          </a:bodyPr>
          <a:lstStyle/>
          <a:p>
            <a:pPr eaLnBrk="1" hangingPunct="1">
              <a:lnSpc>
                <a:spcPct val="130000"/>
              </a:lnSpc>
            </a:pPr>
            <a:r>
              <a:rPr lang="en-US" altLang="en-US" sz="1900">
                <a:latin typeface="Open Sans" panose="020B0606030504020204" pitchFamily="34" charset="0"/>
              </a:rPr>
              <a:t>Iteratively process a set of training tuples &amp; compare the network's prediction with the actual known target value.</a:t>
            </a:r>
          </a:p>
          <a:p>
            <a:pPr eaLnBrk="1" hangingPunct="1">
              <a:lnSpc>
                <a:spcPct val="130000"/>
              </a:lnSpc>
            </a:pPr>
            <a:r>
              <a:rPr lang="en-US" altLang="en-US" sz="1900">
                <a:latin typeface="Open Sans" panose="020B0606030504020204" pitchFamily="34" charset="0"/>
              </a:rPr>
              <a:t>For each training tuple, the weights are modified to </a:t>
            </a:r>
            <a:r>
              <a:rPr lang="en-US" altLang="en-US" sz="1900" b="1">
                <a:latin typeface="Open Sans" panose="020B0606030504020204" pitchFamily="34" charset="0"/>
              </a:rPr>
              <a:t>minimize the mean squared error</a:t>
            </a:r>
            <a:r>
              <a:rPr lang="en-US" altLang="en-US" sz="1900">
                <a:latin typeface="Open Sans" panose="020B0606030504020204" pitchFamily="34" charset="0"/>
              </a:rPr>
              <a:t> between the network's prediction and the actual target value.</a:t>
            </a:r>
          </a:p>
          <a:p>
            <a:pPr eaLnBrk="1" hangingPunct="1">
              <a:lnSpc>
                <a:spcPct val="130000"/>
              </a:lnSpc>
            </a:pPr>
            <a:r>
              <a:rPr lang="en-US" altLang="en-US" sz="1900">
                <a:latin typeface="Open Sans" panose="020B0606030504020204" pitchFamily="34" charset="0"/>
              </a:rPr>
              <a:t>Modifications are made in the “</a:t>
            </a:r>
            <a:r>
              <a:rPr lang="en-US" altLang="en-US" sz="1900" b="1">
                <a:latin typeface="Open Sans" panose="020B0606030504020204" pitchFamily="34" charset="0"/>
              </a:rPr>
              <a:t>backwards</a:t>
            </a:r>
            <a:r>
              <a:rPr lang="en-US" altLang="en-US" sz="1900">
                <a:latin typeface="Open Sans" panose="020B0606030504020204" pitchFamily="34" charset="0"/>
              </a:rPr>
              <a:t>” direction: from the output layer, through each hidden layer down to the first hidden layer, hence “</a:t>
            </a:r>
            <a:r>
              <a:rPr lang="en-US" altLang="en-US" sz="1900" b="1">
                <a:latin typeface="Open Sans" panose="020B0606030504020204" pitchFamily="34" charset="0"/>
              </a:rPr>
              <a:t>backpropagation</a:t>
            </a:r>
            <a:r>
              <a:rPr lang="en-US" altLang="en-US" sz="1900">
                <a:latin typeface="Open Sans" panose="020B0606030504020204" pitchFamily="34" charset="0"/>
              </a:rPr>
              <a:t>”.</a:t>
            </a:r>
            <a:endParaRPr lang="id-ID" altLang="en-US" sz="1900">
              <a:latin typeface="Open Sans" panose="020B0606030504020204" pitchFamily="34" charset="0"/>
            </a:endParaRPr>
          </a:p>
          <a:p>
            <a:pPr eaLnBrk="1" hangingPunct="1">
              <a:lnSpc>
                <a:spcPct val="130000"/>
              </a:lnSpc>
            </a:pPr>
            <a:r>
              <a:rPr lang="en-US" altLang="en-US" sz="1900">
                <a:latin typeface="Open Sans" panose="020B0606030504020204" pitchFamily="34" charset="0"/>
              </a:rPr>
              <a:t>Steps:</a:t>
            </a:r>
          </a:p>
          <a:p>
            <a:pPr lvl="1" eaLnBrk="1" hangingPunct="1">
              <a:lnSpc>
                <a:spcPct val="130000"/>
              </a:lnSpc>
              <a:spcBef>
                <a:spcPct val="0"/>
              </a:spcBef>
            </a:pPr>
            <a:r>
              <a:rPr lang="en-US" altLang="en-US" sz="1900">
                <a:latin typeface="Open Sans" panose="020B0606030504020204" pitchFamily="34" charset="0"/>
              </a:rPr>
              <a:t>Initialize weights to small random numbers, associated with biases. </a:t>
            </a:r>
          </a:p>
          <a:p>
            <a:pPr lvl="1" eaLnBrk="1" hangingPunct="1">
              <a:lnSpc>
                <a:spcPct val="130000"/>
              </a:lnSpc>
              <a:spcBef>
                <a:spcPct val="0"/>
              </a:spcBef>
            </a:pPr>
            <a:r>
              <a:rPr lang="en-US" altLang="en-US" sz="1900">
                <a:latin typeface="Open Sans" panose="020B0606030504020204" pitchFamily="34" charset="0"/>
              </a:rPr>
              <a:t>Propagate the inputs forward (by applying activation function).</a:t>
            </a:r>
          </a:p>
          <a:p>
            <a:pPr lvl="1" eaLnBrk="1" hangingPunct="1">
              <a:lnSpc>
                <a:spcPct val="130000"/>
              </a:lnSpc>
              <a:spcBef>
                <a:spcPct val="0"/>
              </a:spcBef>
            </a:pPr>
            <a:r>
              <a:rPr lang="en-US" altLang="en-US" sz="1900">
                <a:latin typeface="Open Sans" panose="020B0606030504020204" pitchFamily="34" charset="0"/>
              </a:rPr>
              <a:t>Backpropagate the error (by updating weights and biases). </a:t>
            </a:r>
          </a:p>
          <a:p>
            <a:pPr lvl="1" eaLnBrk="1" hangingPunct="1">
              <a:lnSpc>
                <a:spcPct val="130000"/>
              </a:lnSpc>
              <a:spcBef>
                <a:spcPct val="0"/>
              </a:spcBef>
            </a:pPr>
            <a:r>
              <a:rPr lang="en-US" altLang="en-US" sz="1900">
                <a:latin typeface="Open Sans" panose="020B0606030504020204" pitchFamily="34" charset="0"/>
              </a:rPr>
              <a:t>Terminating condition (when error is very small, etc.).</a:t>
            </a:r>
          </a:p>
          <a:p>
            <a:pPr eaLnBrk="1" hangingPunct="1">
              <a:lnSpc>
                <a:spcPct val="130000"/>
              </a:lnSpc>
            </a:pPr>
            <a:endParaRPr lang="en-US" altLang="en-US" sz="1900">
              <a:latin typeface="Open Sans" panose="020B0606030504020204" pitchFamily="34" charset="0"/>
            </a:endParaRPr>
          </a:p>
        </p:txBody>
      </p:sp>
    </p:spTree>
  </p:cSld>
  <p:clrMapOvr>
    <a:masterClrMapping/>
  </p:clrMapOvr>
  <p:transition spd="slow">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4AE76-0881-BB66-057A-0913DAEABC51}"/>
              </a:ext>
            </a:extLst>
          </p:cNvPr>
          <p:cNvSpPr>
            <a:spLocks noGrp="1"/>
          </p:cNvSpPr>
          <p:nvPr>
            <p:ph type="title"/>
          </p:nvPr>
        </p:nvSpPr>
        <p:spPr/>
        <p:txBody>
          <a:bodyPr>
            <a:normAutofit fontScale="90000"/>
          </a:bodyPr>
          <a:lstStyle/>
          <a:p>
            <a:pPr>
              <a:defRPr/>
            </a:pPr>
            <a:r>
              <a:rPr lang="en-US" dirty="0"/>
              <a:t>Backpropagation Neural Network Algorithm</a:t>
            </a:r>
          </a:p>
        </p:txBody>
      </p:sp>
      <p:sp>
        <p:nvSpPr>
          <p:cNvPr id="3" name="Content Placeholder 2">
            <a:extLst>
              <a:ext uri="{FF2B5EF4-FFF2-40B4-BE49-F238E27FC236}">
                <a16:creationId xmlns:a16="http://schemas.microsoft.com/office/drawing/2014/main" id="{A000E87E-D28B-7D7F-5538-A64FE207127B}"/>
              </a:ext>
            </a:extLst>
          </p:cNvPr>
          <p:cNvSpPr>
            <a:spLocks noGrp="1" noRot="1" noChangeAspect="1" noMove="1" noResize="1" noEditPoints="1" noAdjustHandles="1" noChangeArrowheads="1" noChangeShapeType="1" noTextEdit="1"/>
          </p:cNvSpPr>
          <p:nvPr>
            <p:ph idx="1"/>
          </p:nvPr>
        </p:nvSpPr>
        <p:spPr>
          <a:blipFill>
            <a:blip r:embed="rId2"/>
            <a:stretch>
              <a:fillRect l="-1037" t="-1353"/>
            </a:stretch>
          </a:blipFill>
        </p:spPr>
        <p:txBody>
          <a:bodyPr/>
          <a:lstStyle/>
          <a:p>
            <a:r>
              <a:rPr lang="en-US">
                <a:noFill/>
              </a:rPr>
              <a:t> </a:t>
            </a:r>
          </a:p>
        </p:txBody>
      </p:sp>
      <p:sp>
        <p:nvSpPr>
          <p:cNvPr id="56324" name="Slide Number Placeholder 3">
            <a:extLst>
              <a:ext uri="{FF2B5EF4-FFF2-40B4-BE49-F238E27FC236}">
                <a16:creationId xmlns:a16="http://schemas.microsoft.com/office/drawing/2014/main" id="{2E0F49F8-0821-EF5D-1758-1AF50A5F32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89BBC8-A8C6-4BBE-AC11-EC3072355838}" type="slidenum">
              <a:rPr lang="en-US" altLang="en-US" smtClean="0">
                <a:solidFill>
                  <a:srgbClr val="898989"/>
                </a:solidFill>
                <a:latin typeface="Calibri" panose="020F0502020204030204" pitchFamily="34" charset="0"/>
              </a:rPr>
              <a:pPr/>
              <a:t>44</a:t>
            </a:fld>
            <a:endParaRPr lang="en-US" altLang="en-US">
              <a:solidFill>
                <a:srgbClr val="898989"/>
              </a:solidFill>
              <a:latin typeface="Calibri" panose="020F0502020204030204" pitchFamily="34" charset="0"/>
            </a:endParaRPr>
          </a:p>
        </p:txBody>
      </p:sp>
      <p:pic>
        <p:nvPicPr>
          <p:cNvPr id="56325" name="Picture 5">
            <a:extLst>
              <a:ext uri="{FF2B5EF4-FFF2-40B4-BE49-F238E27FC236}">
                <a16:creationId xmlns:a16="http://schemas.microsoft.com/office/drawing/2014/main" id="{764D688F-8957-15E6-FFA6-87B45ABC2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688" y="3722688"/>
            <a:ext cx="7315200"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09BC-2D77-83B5-F34D-EC26FA425140}"/>
              </a:ext>
            </a:extLst>
          </p:cNvPr>
          <p:cNvSpPr>
            <a:spLocks noGrp="1"/>
          </p:cNvSpPr>
          <p:nvPr>
            <p:ph type="title"/>
          </p:nvPr>
        </p:nvSpPr>
        <p:spPr/>
        <p:txBody>
          <a:bodyPr>
            <a:normAutofit fontScale="90000"/>
          </a:bodyPr>
          <a:lstStyle/>
          <a:p>
            <a:pPr>
              <a:defRPr/>
            </a:pPr>
            <a:r>
              <a:rPr lang="en-US" dirty="0"/>
              <a:t>Backpropagation Neural Network Algorithm (cont.)</a:t>
            </a:r>
          </a:p>
        </p:txBody>
      </p:sp>
      <p:sp>
        <p:nvSpPr>
          <p:cNvPr id="3" name="Content Placeholder 2">
            <a:extLst>
              <a:ext uri="{FF2B5EF4-FFF2-40B4-BE49-F238E27FC236}">
                <a16:creationId xmlns:a16="http://schemas.microsoft.com/office/drawing/2014/main" id="{807292B9-2F91-B2A9-EB12-F369ED469EE8}"/>
              </a:ext>
            </a:extLst>
          </p:cNvPr>
          <p:cNvSpPr>
            <a:spLocks noGrp="1" noRot="1" noChangeAspect="1" noMove="1" noResize="1" noEditPoints="1" noAdjustHandles="1" noChangeArrowheads="1" noChangeShapeType="1" noTextEdit="1"/>
          </p:cNvSpPr>
          <p:nvPr>
            <p:ph idx="1"/>
          </p:nvPr>
        </p:nvSpPr>
        <p:spPr>
          <a:blipFill>
            <a:blip r:embed="rId2"/>
            <a:stretch>
              <a:fillRect l="-593" t="-984" r="-889"/>
            </a:stretch>
          </a:blipFill>
        </p:spPr>
        <p:txBody>
          <a:bodyPr/>
          <a:lstStyle/>
          <a:p>
            <a:r>
              <a:rPr lang="en-US">
                <a:noFill/>
              </a:rPr>
              <a:t> </a:t>
            </a:r>
          </a:p>
        </p:txBody>
      </p:sp>
      <p:sp>
        <p:nvSpPr>
          <p:cNvPr id="57348" name="Slide Number Placeholder 3">
            <a:extLst>
              <a:ext uri="{FF2B5EF4-FFF2-40B4-BE49-F238E27FC236}">
                <a16:creationId xmlns:a16="http://schemas.microsoft.com/office/drawing/2014/main" id="{CFF68F11-9F61-93FC-D8DC-1758C62CB12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11971FE-EEBB-4B40-87F1-E692537BB4E7}" type="slidenum">
              <a:rPr lang="en-US" altLang="en-US" smtClean="0">
                <a:solidFill>
                  <a:srgbClr val="898989"/>
                </a:solidFill>
                <a:latin typeface="Calibri" panose="020F0502020204030204" pitchFamily="34" charset="0"/>
              </a:rPr>
              <a:pPr/>
              <a:t>45</a:t>
            </a:fld>
            <a:endParaRPr lang="en-US" altLang="en-US">
              <a:solidFill>
                <a:srgbClr val="898989"/>
              </a:solidFill>
              <a:latin typeface="Calibri" panose="020F0502020204030204" pitchFamily="34" charset="0"/>
            </a:endParaRPr>
          </a:p>
        </p:txBody>
      </p:sp>
      <p:graphicFrame>
        <p:nvGraphicFramePr>
          <p:cNvPr id="8" name="Table 8">
            <a:extLst>
              <a:ext uri="{FF2B5EF4-FFF2-40B4-BE49-F238E27FC236}">
                <a16:creationId xmlns:a16="http://schemas.microsoft.com/office/drawing/2014/main" id="{16C46C2A-F889-53F5-A575-CFC1348C75BC}"/>
              </a:ext>
            </a:extLst>
          </p:cNvPr>
          <p:cNvGraphicFramePr>
            <a:graphicFrameLocks noGrp="1"/>
          </p:cNvGraphicFramePr>
          <p:nvPr/>
        </p:nvGraphicFramePr>
        <p:xfrm>
          <a:off x="1752599" y="5618480"/>
          <a:ext cx="7391401" cy="1008761"/>
        </p:xfrm>
        <a:graphic>
          <a:graphicData uri="http://schemas.openxmlformats.org/drawingml/2006/table">
            <a:tbl>
              <a:tblPr firstRow="1" bandRow="1">
                <a:tableStyleId>{2D5ABB26-0587-4C30-8999-92F81FD0307C}</a:tableStyleId>
              </a:tblPr>
              <a:tblGrid>
                <a:gridCol w="2819401">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Logistic Sigmoid (</a:t>
                      </a:r>
                      <a:r>
                        <a:rPr lang="en-US" sz="1800" dirty="0" err="1"/>
                        <a:t>logsig</a:t>
                      </a:r>
                      <a:r>
                        <a:rPr lang="en-US" sz="1800" dirty="0"/>
                        <a:t>):</a:t>
                      </a:r>
                      <a:endParaRPr lang="en-US" sz="1800" dirty="0">
                        <a:latin typeface="Open Sans"/>
                        <a:cs typeface="Courier New" panose="02070309020205020404" pitchFamily="49" charset="0"/>
                      </a:endParaRPr>
                    </a:p>
                  </a:txBody>
                  <a:tcPr/>
                </a:tc>
                <a:tc rowSpan="2">
                  <a:txBody>
                    <a:bodyPr/>
                    <a:lstStyle/>
                    <a:p>
                      <a:pPr algn="l"/>
                      <a:r>
                        <a:rPr lang="en-US" dirty="0"/>
                        <a:t>or</a:t>
                      </a:r>
                      <a:endParaRPr lang="en-US" dirty="0">
                        <a:latin typeface="Open Sans"/>
                      </a:endParaRPr>
                    </a:p>
                  </a:txBody>
                  <a:tcPr anchor="ctr"/>
                </a:tc>
                <a:tc>
                  <a:txBody>
                    <a:bodyPr/>
                    <a:lstStyle/>
                    <a:p>
                      <a:r>
                        <a:rPr lang="en-US" dirty="0"/>
                        <a:t>Hyperbolic tangent sigmoid (</a:t>
                      </a:r>
                      <a:r>
                        <a:rPr lang="en-US" dirty="0" err="1"/>
                        <a:t>tansig</a:t>
                      </a:r>
                      <a:r>
                        <a:rPr lang="en-US" dirty="0"/>
                        <a:t>):</a:t>
                      </a:r>
                      <a:endParaRPr lang="en-US" dirty="0">
                        <a:latin typeface="Open Sans"/>
                      </a:endParaRPr>
                    </a:p>
                  </a:txBody>
                  <a:tcPr/>
                </a:tc>
                <a:extLst>
                  <a:ext uri="{0D108BD9-81ED-4DB2-BD59-A6C34878D82A}">
                    <a16:rowId xmlns:a16="http://schemas.microsoft.com/office/drawing/2014/main" val="10000"/>
                  </a:ext>
                </a:extLst>
              </a:tr>
              <a:tr h="637921">
                <a:tc>
                  <a:txBody>
                    <a:bodyPr/>
                    <a:lstStyle/>
                    <a:p>
                      <a:endParaRPr lang="en-US"/>
                    </a:p>
                  </a:txBody>
                  <a:tcPr>
                    <a:blipFill>
                      <a:blip r:embed="rId3"/>
                      <a:stretch>
                        <a:fillRect t="-62264" r="-161987"/>
                      </a:stretch>
                    </a:blipFill>
                  </a:tcPr>
                </a:tc>
                <a:tc vMerge="1">
                  <a:txBody>
                    <a:bodyPr/>
                    <a:lstStyle/>
                    <a:p>
                      <a:endParaRPr lang="en-US" dirty="0">
                        <a:latin typeface="Open Sans"/>
                      </a:endParaRPr>
                    </a:p>
                  </a:txBody>
                  <a:tcPr/>
                </a:tc>
                <a:tc>
                  <a:txBody>
                    <a:bodyPr/>
                    <a:lstStyle/>
                    <a:p>
                      <a:endParaRPr lang="en-US"/>
                    </a:p>
                  </a:txBody>
                  <a:tcPr>
                    <a:blipFill>
                      <a:blip r:embed="rId3"/>
                      <a:stretch>
                        <a:fillRect l="-90125" t="-62264"/>
                      </a:stretch>
                    </a:blipFill>
                  </a:tcPr>
                </a:tc>
                <a:extLst>
                  <a:ext uri="{0D108BD9-81ED-4DB2-BD59-A6C34878D82A}">
                    <a16:rowId xmlns:a16="http://schemas.microsoft.com/office/drawing/2014/main" val="10001"/>
                  </a:ext>
                </a:extLst>
              </a:tr>
            </a:tbl>
          </a:graphicData>
        </a:graphic>
      </p:graphicFrame>
    </p:spTree>
  </p:cSld>
  <p:clrMapOvr>
    <a:masterClrMapping/>
  </p:clrMapOvr>
  <p:transition spd="slow">
    <p:split orient="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FFAB-D9C5-8631-C661-7AD4E9AB963A}"/>
              </a:ext>
            </a:extLst>
          </p:cNvPr>
          <p:cNvSpPr>
            <a:spLocks noGrp="1"/>
          </p:cNvSpPr>
          <p:nvPr>
            <p:ph type="title"/>
          </p:nvPr>
        </p:nvSpPr>
        <p:spPr>
          <a:xfrm>
            <a:off x="2057400" y="228600"/>
            <a:ext cx="6324600" cy="1143000"/>
          </a:xfrm>
        </p:spPr>
        <p:txBody>
          <a:bodyPr>
            <a:normAutofit fontScale="90000"/>
          </a:bodyPr>
          <a:lstStyle/>
          <a:p>
            <a:pPr>
              <a:defRPr/>
            </a:pPr>
            <a:r>
              <a:rPr lang="en-US" dirty="0"/>
              <a:t>Backpropagation Neural Network Algorithm (cont.)</a:t>
            </a:r>
          </a:p>
        </p:txBody>
      </p:sp>
      <p:sp>
        <p:nvSpPr>
          <p:cNvPr id="3" name="Content Placeholder 2">
            <a:extLst>
              <a:ext uri="{FF2B5EF4-FFF2-40B4-BE49-F238E27FC236}">
                <a16:creationId xmlns:a16="http://schemas.microsoft.com/office/drawing/2014/main" id="{7EBACF6A-C428-0632-87F3-359691CF75C8}"/>
              </a:ext>
            </a:extLst>
          </p:cNvPr>
          <p:cNvSpPr>
            <a:spLocks noGrp="1" noRot="1" noChangeAspect="1" noMove="1" noResize="1" noEditPoints="1" noAdjustHandles="1" noChangeArrowheads="1" noChangeShapeType="1" noTextEdit="1"/>
          </p:cNvSpPr>
          <p:nvPr>
            <p:ph idx="1"/>
          </p:nvPr>
        </p:nvSpPr>
        <p:spPr>
          <a:blipFill>
            <a:blip r:embed="rId2"/>
            <a:stretch>
              <a:fillRect l="-593" t="-615"/>
            </a:stretch>
          </a:blipFill>
        </p:spPr>
        <p:txBody>
          <a:bodyPr/>
          <a:lstStyle/>
          <a:p>
            <a:r>
              <a:rPr lang="en-US">
                <a:noFill/>
              </a:rPr>
              <a:t> </a:t>
            </a:r>
          </a:p>
        </p:txBody>
      </p:sp>
      <p:sp>
        <p:nvSpPr>
          <p:cNvPr id="58372" name="Slide Number Placeholder 3">
            <a:extLst>
              <a:ext uri="{FF2B5EF4-FFF2-40B4-BE49-F238E27FC236}">
                <a16:creationId xmlns:a16="http://schemas.microsoft.com/office/drawing/2014/main" id="{8BB4CBFE-3D03-7ACF-12C9-89D6422986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40CAABC-E744-4473-B88C-8922E087765C}" type="slidenum">
              <a:rPr lang="en-US" altLang="en-US" smtClean="0">
                <a:solidFill>
                  <a:srgbClr val="898989"/>
                </a:solidFill>
                <a:latin typeface="Calibri" panose="020F0502020204030204" pitchFamily="34" charset="0"/>
              </a:rPr>
              <a:pPr/>
              <a:t>46</a:t>
            </a:fld>
            <a:endParaRPr lang="en-US" altLang="en-US">
              <a:solidFill>
                <a:srgbClr val="898989"/>
              </a:solidFill>
              <a:latin typeface="Calibri" panose="020F0502020204030204" pitchFamily="34" charset="0"/>
            </a:endParaRPr>
          </a:p>
        </p:txBody>
      </p:sp>
      <p:graphicFrame>
        <p:nvGraphicFramePr>
          <p:cNvPr id="8" name="Table 8">
            <a:extLst>
              <a:ext uri="{FF2B5EF4-FFF2-40B4-BE49-F238E27FC236}">
                <a16:creationId xmlns:a16="http://schemas.microsoft.com/office/drawing/2014/main" id="{01020CDE-6DFE-3B48-81F7-085F5B633121}"/>
              </a:ext>
            </a:extLst>
          </p:cNvPr>
          <p:cNvGraphicFramePr>
            <a:graphicFrameLocks noGrp="1"/>
          </p:cNvGraphicFramePr>
          <p:nvPr/>
        </p:nvGraphicFramePr>
        <p:xfrm>
          <a:off x="1295400" y="3596418"/>
          <a:ext cx="7391402" cy="1256094"/>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1447802">
                  <a:extLst>
                    <a:ext uri="{9D8B030D-6E8A-4147-A177-3AD203B41FA5}">
                      <a16:colId xmlns:a16="http://schemas.microsoft.com/office/drawing/2014/main" val="20004"/>
                    </a:ext>
                  </a:extLst>
                </a:gridCol>
              </a:tblGrid>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Logistic Sigmoid (</a:t>
                      </a:r>
                      <a:r>
                        <a:rPr lang="en-US" sz="1800" dirty="0" err="1">
                          <a:solidFill>
                            <a:schemeClr val="tx1"/>
                          </a:solidFill>
                        </a:rPr>
                        <a:t>logsig</a:t>
                      </a:r>
                      <a:r>
                        <a:rPr lang="en-US" sz="1800" dirty="0">
                          <a:solidFill>
                            <a:schemeClr val="tx1"/>
                          </a:solidFill>
                        </a:rPr>
                        <a:t>):</a:t>
                      </a:r>
                      <a:endParaRPr lang="en-US" sz="1800" dirty="0">
                        <a:solidFill>
                          <a:schemeClr val="tx1"/>
                        </a:solidFill>
                        <a:latin typeface="Open Sans"/>
                        <a:cs typeface="Courier New" panose="02070309020205020404" pitchFamily="49" charset="0"/>
                      </a:endParaRPr>
                    </a:p>
                  </a:txBody>
                  <a:tcPr/>
                </a:tc>
                <a:tc rowSpan="2">
                  <a:txBody>
                    <a:bodyPr/>
                    <a:lstStyle/>
                    <a:p>
                      <a:pPr algn="l"/>
                      <a:r>
                        <a:rPr lang="en-US" dirty="0">
                          <a:solidFill>
                            <a:schemeClr val="tx1"/>
                          </a:solidFill>
                        </a:rPr>
                        <a:t>or</a:t>
                      </a:r>
                      <a:endParaRPr lang="en-US" dirty="0">
                        <a:solidFill>
                          <a:schemeClr val="tx1"/>
                        </a:solidFill>
                        <a:latin typeface="Open Sans"/>
                      </a:endParaRPr>
                    </a:p>
                  </a:txBody>
                  <a:tcPr anchor="ctr"/>
                </a:tc>
                <a:tc>
                  <a:txBody>
                    <a:bodyPr/>
                    <a:lstStyle/>
                    <a:p>
                      <a:r>
                        <a:rPr lang="en-US" dirty="0">
                          <a:solidFill>
                            <a:schemeClr val="tx1"/>
                          </a:solidFill>
                        </a:rPr>
                        <a:t>Hyperbolic tangent sigmoid (</a:t>
                      </a:r>
                      <a:r>
                        <a:rPr lang="en-US" dirty="0" err="1">
                          <a:solidFill>
                            <a:schemeClr val="tx1"/>
                          </a:solidFill>
                        </a:rPr>
                        <a:t>tansig</a:t>
                      </a:r>
                      <a:r>
                        <a:rPr lang="en-US" dirty="0">
                          <a:solidFill>
                            <a:schemeClr val="tx1"/>
                          </a:solidFill>
                        </a:rPr>
                        <a:t>):</a:t>
                      </a:r>
                      <a:endParaRPr lang="en-US" dirty="0">
                        <a:solidFill>
                          <a:schemeClr val="tx1"/>
                        </a:solidFill>
                        <a:latin typeface="Open Sans"/>
                      </a:endParaRPr>
                    </a:p>
                  </a:txBody>
                  <a:tcPr/>
                </a:tc>
                <a:tc rowSpan="2">
                  <a:txBody>
                    <a:bodyPr/>
                    <a:lstStyle/>
                    <a:p>
                      <a:pPr algn="l"/>
                      <a:r>
                        <a:rPr lang="en-US" dirty="0">
                          <a:solidFill>
                            <a:schemeClr val="tx1"/>
                          </a:solidFill>
                        </a:rPr>
                        <a:t>or</a:t>
                      </a:r>
                      <a:endParaRPr lang="en-US" dirty="0">
                        <a:solidFill>
                          <a:schemeClr val="tx1"/>
                        </a:solidFill>
                        <a:latin typeface="Open Sans"/>
                      </a:endParaRPr>
                    </a:p>
                  </a:txBody>
                  <a:tcPr anchor="ctr"/>
                </a:tc>
                <a:tc>
                  <a:txBody>
                    <a:bodyPr/>
                    <a:lstStyle/>
                    <a:p>
                      <a:r>
                        <a:rPr lang="en-US" dirty="0">
                          <a:solidFill>
                            <a:schemeClr val="tx1"/>
                          </a:solidFill>
                        </a:rPr>
                        <a:t>Linear:</a:t>
                      </a:r>
                      <a:endParaRPr lang="en-US" dirty="0">
                        <a:solidFill>
                          <a:schemeClr val="tx1"/>
                        </a:solidFill>
                        <a:latin typeface="Open Sans"/>
                      </a:endParaRPr>
                    </a:p>
                  </a:txBody>
                  <a:tcPr/>
                </a:tc>
                <a:extLst>
                  <a:ext uri="{0D108BD9-81ED-4DB2-BD59-A6C34878D82A}">
                    <a16:rowId xmlns:a16="http://schemas.microsoft.com/office/drawing/2014/main" val="10000"/>
                  </a:ext>
                </a:extLst>
              </a:tr>
              <a:tr h="616014">
                <a:tc>
                  <a:txBody>
                    <a:bodyPr/>
                    <a:lstStyle/>
                    <a:p>
                      <a:endParaRPr lang="en-US"/>
                    </a:p>
                  </a:txBody>
                  <a:tcPr>
                    <a:blipFill>
                      <a:blip r:embed="rId3"/>
                      <a:stretch>
                        <a:fillRect t="-108824" r="-304333"/>
                      </a:stretch>
                    </a:blipFill>
                  </a:tcPr>
                </a:tc>
                <a:tc vMerge="1">
                  <a:txBody>
                    <a:bodyPr/>
                    <a:lstStyle/>
                    <a:p>
                      <a:endParaRPr lang="en-US" dirty="0">
                        <a:latin typeface="Open Sans"/>
                      </a:endParaRPr>
                    </a:p>
                  </a:txBody>
                  <a:tcPr/>
                </a:tc>
                <a:tc>
                  <a:txBody>
                    <a:bodyPr/>
                    <a:lstStyle/>
                    <a:p>
                      <a:endParaRPr lang="en-US"/>
                    </a:p>
                  </a:txBody>
                  <a:tcPr>
                    <a:blipFill>
                      <a:blip r:embed="rId3"/>
                      <a:stretch>
                        <a:fillRect l="-106118" t="-108824" r="-79294"/>
                      </a:stretch>
                    </a:blipFill>
                  </a:tcPr>
                </a:tc>
                <a:tc vMerge="1">
                  <a:txBody>
                    <a:bodyPr/>
                    <a:lstStyle/>
                    <a:p>
                      <a:endParaRPr lang="en-US" dirty="0">
                        <a:latin typeface="Open Sans"/>
                      </a:endParaRPr>
                    </a:p>
                  </a:txBody>
                  <a:tcPr/>
                </a:tc>
                <a:tc>
                  <a:txBody>
                    <a:bodyPr/>
                    <a:lstStyle/>
                    <a:p>
                      <a:endParaRPr lang="en-US"/>
                    </a:p>
                  </a:txBody>
                  <a:tcPr>
                    <a:blipFill>
                      <a:blip r:embed="rId3"/>
                      <a:stretch>
                        <a:fillRect l="-410084" t="-108824" r="420"/>
                      </a:stretch>
                    </a:blipFill>
                  </a:tcPr>
                </a:tc>
                <a:extLst>
                  <a:ext uri="{0D108BD9-81ED-4DB2-BD59-A6C34878D82A}">
                    <a16:rowId xmlns:a16="http://schemas.microsoft.com/office/drawing/2014/main" val="10001"/>
                  </a:ext>
                </a:extLst>
              </a:tr>
            </a:tbl>
          </a:graphicData>
        </a:graphic>
      </p:graphicFrame>
    </p:spTree>
  </p:cSld>
  <p:clrMapOvr>
    <a:masterClrMapping/>
  </p:clrMapOvr>
  <p:transition spd="slow">
    <p:split orient="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E18D-5C53-D247-8E4B-33012DA575A0}"/>
              </a:ext>
            </a:extLst>
          </p:cNvPr>
          <p:cNvSpPr>
            <a:spLocks noGrp="1"/>
          </p:cNvSpPr>
          <p:nvPr>
            <p:ph type="title"/>
          </p:nvPr>
        </p:nvSpPr>
        <p:spPr>
          <a:xfrm>
            <a:off x="2057400" y="228600"/>
            <a:ext cx="6324600" cy="1143000"/>
          </a:xfrm>
        </p:spPr>
        <p:txBody>
          <a:bodyPr>
            <a:normAutofit fontScale="90000"/>
          </a:bodyPr>
          <a:lstStyle/>
          <a:p>
            <a:pPr>
              <a:defRPr/>
            </a:pPr>
            <a:r>
              <a:rPr lang="en-US" dirty="0"/>
              <a:t>Backpropagation Neural Network Algorithm (cont.)</a:t>
            </a:r>
          </a:p>
        </p:txBody>
      </p:sp>
      <p:sp>
        <p:nvSpPr>
          <p:cNvPr id="3" name="Content Placeholder 2">
            <a:extLst>
              <a:ext uri="{FF2B5EF4-FFF2-40B4-BE49-F238E27FC236}">
                <a16:creationId xmlns:a16="http://schemas.microsoft.com/office/drawing/2014/main" id="{98A6E5A1-829B-27F3-9BE2-7D68F9D9ED05}"/>
              </a:ext>
            </a:extLst>
          </p:cNvPr>
          <p:cNvSpPr>
            <a:spLocks noGrp="1" noRot="1" noChangeAspect="1" noMove="1" noResize="1" noEditPoints="1" noAdjustHandles="1" noChangeArrowheads="1" noChangeShapeType="1" noTextEdit="1"/>
          </p:cNvSpPr>
          <p:nvPr>
            <p:ph idx="1"/>
          </p:nvPr>
        </p:nvSpPr>
        <p:spPr>
          <a:xfrm>
            <a:off x="685800" y="1371600"/>
            <a:ext cx="8229600" cy="5257800"/>
          </a:xfrm>
          <a:blipFill>
            <a:blip r:embed="rId2"/>
            <a:stretch>
              <a:fillRect l="-444" t="-695"/>
            </a:stretch>
          </a:blipFill>
        </p:spPr>
        <p:txBody>
          <a:bodyPr/>
          <a:lstStyle/>
          <a:p>
            <a:r>
              <a:rPr lang="en-US">
                <a:noFill/>
              </a:rPr>
              <a:t> </a:t>
            </a:r>
          </a:p>
        </p:txBody>
      </p:sp>
      <p:sp>
        <p:nvSpPr>
          <p:cNvPr id="59396" name="Slide Number Placeholder 3">
            <a:extLst>
              <a:ext uri="{FF2B5EF4-FFF2-40B4-BE49-F238E27FC236}">
                <a16:creationId xmlns:a16="http://schemas.microsoft.com/office/drawing/2014/main" id="{31909049-1802-86EA-9B29-DC6799C047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78E509C-6F58-47D0-BCD6-38809BB1E3DA}" type="slidenum">
              <a:rPr lang="en-US" altLang="en-US" smtClean="0">
                <a:solidFill>
                  <a:srgbClr val="898989"/>
                </a:solidFill>
                <a:latin typeface="Calibri" panose="020F0502020204030204" pitchFamily="34" charset="0"/>
              </a:rPr>
              <a:pPr/>
              <a:t>47</a:t>
            </a:fld>
            <a:endParaRPr lang="en-US" altLang="en-US">
              <a:solidFill>
                <a:srgbClr val="898989"/>
              </a:solidFill>
              <a:latin typeface="Calibri" panose="020F0502020204030204" pitchFamily="34" charset="0"/>
            </a:endParaRPr>
          </a:p>
        </p:txBody>
      </p:sp>
      <p:sp>
        <p:nvSpPr>
          <p:cNvPr id="59397" name="TextBox 5">
            <a:extLst>
              <a:ext uri="{FF2B5EF4-FFF2-40B4-BE49-F238E27FC236}">
                <a16:creationId xmlns:a16="http://schemas.microsoft.com/office/drawing/2014/main" id="{F1FB8194-216C-6E8C-F786-A7F0BC911D5E}"/>
              </a:ext>
            </a:extLst>
          </p:cNvPr>
          <p:cNvSpPr txBox="1">
            <a:spLocks noChangeArrowheads="1"/>
          </p:cNvSpPr>
          <p:nvPr/>
        </p:nvSpPr>
        <p:spPr bwMode="auto">
          <a:xfrm>
            <a:off x="2590800" y="5178425"/>
            <a:ext cx="4262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t>, if activation function from hidden to output is linear.</a:t>
            </a:r>
          </a:p>
        </p:txBody>
      </p:sp>
      <p:sp>
        <p:nvSpPr>
          <p:cNvPr id="59398" name="TextBox 8">
            <a:extLst>
              <a:ext uri="{FF2B5EF4-FFF2-40B4-BE49-F238E27FC236}">
                <a16:creationId xmlns:a16="http://schemas.microsoft.com/office/drawing/2014/main" id="{B692FF96-B1AA-E37F-5D63-A8A488F8E76A}"/>
              </a:ext>
            </a:extLst>
          </p:cNvPr>
          <p:cNvSpPr txBox="1">
            <a:spLocks noChangeArrowheads="1"/>
          </p:cNvSpPr>
          <p:nvPr/>
        </p:nvSpPr>
        <p:spPr bwMode="auto">
          <a:xfrm>
            <a:off x="3128963" y="5657850"/>
            <a:ext cx="43418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t>, if activation function from hidden to output is logsig.</a:t>
            </a:r>
          </a:p>
        </p:txBody>
      </p:sp>
      <p:sp>
        <p:nvSpPr>
          <p:cNvPr id="59399" name="TextBox 9">
            <a:extLst>
              <a:ext uri="{FF2B5EF4-FFF2-40B4-BE49-F238E27FC236}">
                <a16:creationId xmlns:a16="http://schemas.microsoft.com/office/drawing/2014/main" id="{E942AE36-6E3A-1715-DA66-3095E4C1D7BF}"/>
              </a:ext>
            </a:extLst>
          </p:cNvPr>
          <p:cNvSpPr txBox="1">
            <a:spLocks noChangeArrowheads="1"/>
          </p:cNvSpPr>
          <p:nvPr/>
        </p:nvSpPr>
        <p:spPr bwMode="auto">
          <a:xfrm>
            <a:off x="2960688" y="6154738"/>
            <a:ext cx="435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t>, if activation function from hidden to output is tansig.</a:t>
            </a:r>
          </a:p>
        </p:txBody>
      </p:sp>
      <p:sp>
        <p:nvSpPr>
          <p:cNvPr id="59400" name="TextBox 10">
            <a:extLst>
              <a:ext uri="{FF2B5EF4-FFF2-40B4-BE49-F238E27FC236}">
                <a16:creationId xmlns:a16="http://schemas.microsoft.com/office/drawing/2014/main" id="{8FFA4DCC-4D23-6037-91BB-7061239405F5}"/>
              </a:ext>
            </a:extLst>
          </p:cNvPr>
          <p:cNvSpPr txBox="1">
            <a:spLocks noChangeArrowheads="1"/>
          </p:cNvSpPr>
          <p:nvPr/>
        </p:nvSpPr>
        <p:spPr bwMode="auto">
          <a:xfrm>
            <a:off x="2425700" y="4645025"/>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t>(chain rule)</a:t>
            </a:r>
          </a:p>
        </p:txBody>
      </p:sp>
      <p:sp>
        <p:nvSpPr>
          <p:cNvPr id="59401" name="TextBox 11">
            <a:extLst>
              <a:ext uri="{FF2B5EF4-FFF2-40B4-BE49-F238E27FC236}">
                <a16:creationId xmlns:a16="http://schemas.microsoft.com/office/drawing/2014/main" id="{7F94D485-22E3-95F1-B826-19F14774883A}"/>
              </a:ext>
            </a:extLst>
          </p:cNvPr>
          <p:cNvSpPr txBox="1">
            <a:spLocks noChangeArrowheads="1"/>
          </p:cNvSpPr>
          <p:nvPr/>
        </p:nvSpPr>
        <p:spPr bwMode="auto">
          <a:xfrm>
            <a:off x="4549775" y="1900238"/>
            <a:ext cx="1816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t>(without momentum)</a:t>
            </a:r>
          </a:p>
        </p:txBody>
      </p:sp>
      <p:sp>
        <p:nvSpPr>
          <p:cNvPr id="59402" name="TextBox 12">
            <a:extLst>
              <a:ext uri="{FF2B5EF4-FFF2-40B4-BE49-F238E27FC236}">
                <a16:creationId xmlns:a16="http://schemas.microsoft.com/office/drawing/2014/main" id="{4F6C8274-405D-7229-B052-14DF8CD417EA}"/>
              </a:ext>
            </a:extLst>
          </p:cNvPr>
          <p:cNvSpPr txBox="1">
            <a:spLocks noChangeArrowheads="1"/>
          </p:cNvSpPr>
          <p:nvPr/>
        </p:nvSpPr>
        <p:spPr bwMode="auto">
          <a:xfrm>
            <a:off x="4572000" y="2228850"/>
            <a:ext cx="1828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t>(using momentum </a:t>
            </a:r>
            <a:r>
              <a:rPr lang="el-GR" altLang="en-US" sz="1400"/>
              <a:t>μ</a:t>
            </a:r>
            <a:r>
              <a:rPr lang="en-US" altLang="en-US" sz="1400"/>
              <a:t>)</a:t>
            </a:r>
          </a:p>
        </p:txBody>
      </p:sp>
      <p:sp>
        <p:nvSpPr>
          <p:cNvPr id="7" name="Rectangle 6">
            <a:extLst>
              <a:ext uri="{FF2B5EF4-FFF2-40B4-BE49-F238E27FC236}">
                <a16:creationId xmlns:a16="http://schemas.microsoft.com/office/drawing/2014/main" id="{1BF7FD04-62C0-D386-36B6-E3971BA55688}"/>
              </a:ext>
            </a:extLst>
          </p:cNvPr>
          <p:cNvSpPr/>
          <p:nvPr/>
        </p:nvSpPr>
        <p:spPr>
          <a:xfrm>
            <a:off x="1295400" y="1928813"/>
            <a:ext cx="3276600" cy="63976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slow">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482B9528-C08F-C361-0176-2387996F206D}"/>
              </a:ext>
            </a:extLst>
          </p:cNvPr>
          <p:cNvSpPr>
            <a:spLocks noGrp="1"/>
          </p:cNvSpPr>
          <p:nvPr>
            <p:ph type="title"/>
          </p:nvPr>
        </p:nvSpPr>
        <p:spPr/>
        <p:txBody>
          <a:bodyPr/>
          <a:lstStyle/>
          <a:p>
            <a:r>
              <a:rPr lang="en-US" altLang="en-US">
                <a:latin typeface="Open Sans" panose="020B0606030504020204" pitchFamily="34" charset="0"/>
              </a:rPr>
              <a:t>Exercise</a:t>
            </a:r>
          </a:p>
        </p:txBody>
      </p:sp>
      <p:sp>
        <p:nvSpPr>
          <p:cNvPr id="3" name="Content Placeholder 2">
            <a:extLst>
              <a:ext uri="{FF2B5EF4-FFF2-40B4-BE49-F238E27FC236}">
                <a16:creationId xmlns:a16="http://schemas.microsoft.com/office/drawing/2014/main" id="{47968D1F-8235-7242-960C-1B6A80EEE560}"/>
              </a:ext>
            </a:extLst>
          </p:cNvPr>
          <p:cNvSpPr>
            <a:spLocks noGrp="1" noRot="1" noChangeAspect="1" noMove="1" noResize="1" noEditPoints="1" noAdjustHandles="1" noChangeArrowheads="1" noChangeShapeType="1" noTextEdit="1"/>
          </p:cNvSpPr>
          <p:nvPr>
            <p:ph idx="1"/>
          </p:nvPr>
        </p:nvSpPr>
        <p:spPr>
          <a:xfrm>
            <a:off x="685800" y="1524000"/>
            <a:ext cx="8229600" cy="4953000"/>
          </a:xfrm>
          <a:blipFill>
            <a:blip r:embed="rId2"/>
            <a:stretch>
              <a:fillRect l="-889" t="-738" b="-2214"/>
            </a:stretch>
          </a:blipFill>
        </p:spPr>
        <p:txBody>
          <a:bodyPr/>
          <a:lstStyle/>
          <a:p>
            <a:r>
              <a:rPr lang="en-US">
                <a:noFill/>
              </a:rPr>
              <a:t> </a:t>
            </a:r>
          </a:p>
        </p:txBody>
      </p:sp>
      <p:sp>
        <p:nvSpPr>
          <p:cNvPr id="60420" name="Slide Number Placeholder 3">
            <a:extLst>
              <a:ext uri="{FF2B5EF4-FFF2-40B4-BE49-F238E27FC236}">
                <a16:creationId xmlns:a16="http://schemas.microsoft.com/office/drawing/2014/main" id="{0932A89C-F2A3-021D-005B-E910C7CFC6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8E28EA4-E19F-4661-AC1F-31AD37E83A91}" type="slidenum">
              <a:rPr lang="en-US" altLang="en-US" smtClean="0">
                <a:solidFill>
                  <a:srgbClr val="898989"/>
                </a:solidFill>
                <a:latin typeface="Calibri" panose="020F0502020204030204" pitchFamily="34" charset="0"/>
              </a:rPr>
              <a:pPr/>
              <a:t>48</a:t>
            </a:fld>
            <a:endParaRPr lang="en-US" altLang="en-US">
              <a:solidFill>
                <a:srgbClr val="898989"/>
              </a:solidFill>
              <a:latin typeface="Calibri" panose="020F0502020204030204" pitchFamily="34" charset="0"/>
            </a:endParaRPr>
          </a:p>
        </p:txBody>
      </p:sp>
      <p:pic>
        <p:nvPicPr>
          <p:cNvPr id="60421" name="Picture 5">
            <a:extLst>
              <a:ext uri="{FF2B5EF4-FFF2-40B4-BE49-F238E27FC236}">
                <a16:creationId xmlns:a16="http://schemas.microsoft.com/office/drawing/2014/main" id="{DE05C71C-BED9-CADC-4BB5-3474962732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3513" y="2297113"/>
            <a:ext cx="3843337" cy="195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7">
            <a:extLst>
              <a:ext uri="{FF2B5EF4-FFF2-40B4-BE49-F238E27FC236}">
                <a16:creationId xmlns:a16="http://schemas.microsoft.com/office/drawing/2014/main" id="{905006EA-A818-6FC1-BDEB-0A853481D314}"/>
              </a:ext>
            </a:extLst>
          </p:cNvPr>
          <p:cNvGraphicFramePr>
            <a:graphicFrameLocks noGrp="1"/>
          </p:cNvGraphicFramePr>
          <p:nvPr/>
        </p:nvGraphicFramePr>
        <p:xfrm>
          <a:off x="3505200" y="4498204"/>
          <a:ext cx="4064000" cy="1188720"/>
        </p:xfrm>
        <a:graphic>
          <a:graphicData uri="http://schemas.openxmlformats.org/drawingml/2006/table">
            <a:tbl>
              <a:tblPr firstRow="1" bandRow="1">
                <a:tableStyleId>{2D5ABB26-0587-4C30-8999-92F81FD0307C}</a:tableStyleId>
              </a:tblPr>
              <a:tblGrid>
                <a:gridCol w="1342571">
                  <a:extLst>
                    <a:ext uri="{9D8B030D-6E8A-4147-A177-3AD203B41FA5}">
                      <a16:colId xmlns:a16="http://schemas.microsoft.com/office/drawing/2014/main" val="20000"/>
                    </a:ext>
                  </a:extLst>
                </a:gridCol>
                <a:gridCol w="2721429">
                  <a:extLst>
                    <a:ext uri="{9D8B030D-6E8A-4147-A177-3AD203B41FA5}">
                      <a16:colId xmlns:a16="http://schemas.microsoft.com/office/drawing/2014/main" val="20001"/>
                    </a:ext>
                  </a:extLst>
                </a:gridCol>
              </a:tblGrid>
              <a:tr h="396240">
                <a:tc>
                  <a:txBody>
                    <a:bodyPr/>
                    <a:lstStyle/>
                    <a:p>
                      <a:endParaRPr lang="en-US"/>
                    </a:p>
                  </a:txBody>
                  <a:tcPr>
                    <a:blipFill>
                      <a:blip r:embed="rId4"/>
                      <a:stretch>
                        <a:fillRect r="-203182" b="-203077"/>
                      </a:stretch>
                    </a:blipFill>
                  </a:tcPr>
                </a:tc>
                <a:tc>
                  <a:txBody>
                    <a:bodyPr/>
                    <a:lstStyle/>
                    <a:p>
                      <a:endParaRPr lang="en-US"/>
                    </a:p>
                  </a:txBody>
                  <a:tcPr>
                    <a:blipFill>
                      <a:blip r:embed="rId4"/>
                      <a:stretch>
                        <a:fillRect l="-49217" b="-203077"/>
                      </a:stretch>
                    </a:blipFill>
                  </a:tcPr>
                </a:tc>
                <a:extLst>
                  <a:ext uri="{0D108BD9-81ED-4DB2-BD59-A6C34878D82A}">
                    <a16:rowId xmlns:a16="http://schemas.microsoft.com/office/drawing/2014/main" val="10000"/>
                  </a:ext>
                </a:extLst>
              </a:tr>
              <a:tr h="396240">
                <a:tc>
                  <a:txBody>
                    <a:bodyPr/>
                    <a:lstStyle/>
                    <a:p>
                      <a:endParaRPr lang="en-US"/>
                    </a:p>
                  </a:txBody>
                  <a:tcPr>
                    <a:blipFill>
                      <a:blip r:embed="rId4"/>
                      <a:stretch>
                        <a:fillRect t="-98485" r="-203182" b="-100000"/>
                      </a:stretch>
                    </a:blipFill>
                  </a:tcPr>
                </a:tc>
                <a:tc>
                  <a:txBody>
                    <a:bodyPr/>
                    <a:lstStyle/>
                    <a:p>
                      <a:endParaRPr lang="en-US"/>
                    </a:p>
                  </a:txBody>
                  <a:tcPr>
                    <a:blipFill>
                      <a:blip r:embed="rId4"/>
                      <a:stretch>
                        <a:fillRect l="-49217" t="-98485" b="-100000"/>
                      </a:stretch>
                    </a:blipFill>
                  </a:tcPr>
                </a:tc>
                <a:extLst>
                  <a:ext uri="{0D108BD9-81ED-4DB2-BD59-A6C34878D82A}">
                    <a16:rowId xmlns:a16="http://schemas.microsoft.com/office/drawing/2014/main" val="10001"/>
                  </a:ext>
                </a:extLst>
              </a:tr>
              <a:tr h="396240">
                <a:tc>
                  <a:txBody>
                    <a:bodyPr/>
                    <a:lstStyle/>
                    <a:p>
                      <a:endParaRPr lang="en-US"/>
                    </a:p>
                  </a:txBody>
                  <a:tcPr>
                    <a:blipFill>
                      <a:blip r:embed="rId4"/>
                      <a:stretch>
                        <a:fillRect t="-201538" r="-203182" b="-1538"/>
                      </a:stretch>
                    </a:blipFill>
                  </a:tcPr>
                </a:tc>
                <a:tc>
                  <a:txBody>
                    <a:bodyPr/>
                    <a:lstStyle/>
                    <a:p>
                      <a:pPr algn="l"/>
                      <a:endParaRPr lang="en-US" sz="2000" b="0" dirty="0"/>
                    </a:p>
                  </a:txBody>
                  <a:tcPr/>
                </a:tc>
                <a:extLst>
                  <a:ext uri="{0D108BD9-81ED-4DB2-BD59-A6C34878D82A}">
                    <a16:rowId xmlns:a16="http://schemas.microsoft.com/office/drawing/2014/main" val="10002"/>
                  </a:ext>
                </a:extLst>
              </a:tr>
            </a:tbl>
          </a:graphicData>
        </a:graphic>
      </p:graphicFrame>
    </p:spTree>
  </p:cSld>
  <p:clrMapOvr>
    <a:masterClrMapping/>
  </p:clrMapOvr>
  <p:transition spd="slow">
    <p:split orient="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5A1A425C-459D-FDDF-0E6D-EC87753EC51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4B81AB7-39EC-4314-890B-10B983B5ADEF}" type="slidenum">
              <a:rPr lang="en-US" altLang="en-US" sz="1100" smtClean="0">
                <a:latin typeface="Tahoma" panose="020B0604030504040204" pitchFamily="34" charset="0"/>
                <a:ea typeface="MS PGothic" panose="020B0600070205080204" pitchFamily="34" charset="-128"/>
              </a:rPr>
              <a:pPr>
                <a:spcBef>
                  <a:spcPct val="0"/>
                </a:spcBef>
                <a:buFontTx/>
                <a:buNone/>
              </a:pPr>
              <a:t>49</a:t>
            </a:fld>
            <a:endParaRPr lang="en-US" altLang="en-US" sz="1100">
              <a:latin typeface="Tahoma" panose="020B0604030504040204" pitchFamily="34" charset="0"/>
              <a:ea typeface="MS PGothic" panose="020B0600070205080204" pitchFamily="34" charset="-128"/>
            </a:endParaRPr>
          </a:p>
        </p:txBody>
      </p:sp>
      <p:sp>
        <p:nvSpPr>
          <p:cNvPr id="69635" name="Rectangle 2">
            <a:extLst>
              <a:ext uri="{FF2B5EF4-FFF2-40B4-BE49-F238E27FC236}">
                <a16:creationId xmlns:a16="http://schemas.microsoft.com/office/drawing/2014/main" id="{1C333101-DD05-25A9-E4D3-F7DE9C8FAE09}"/>
              </a:ext>
            </a:extLst>
          </p:cNvPr>
          <p:cNvSpPr>
            <a:spLocks noGrp="1" noChangeArrowheads="1"/>
          </p:cNvSpPr>
          <p:nvPr>
            <p:ph type="title"/>
          </p:nvPr>
        </p:nvSpPr>
        <p:spPr>
          <a:xfrm>
            <a:off x="974725" y="381000"/>
            <a:ext cx="8626475" cy="609600"/>
          </a:xfrm>
        </p:spPr>
        <p:txBody>
          <a:bodyPr lIns="89018" tIns="44510" rIns="89018" bIns="44510">
            <a:normAutofit fontScale="90000"/>
          </a:bodyPr>
          <a:lstStyle/>
          <a:p>
            <a:pPr eaLnBrk="1" hangingPunct="1">
              <a:defRPr/>
            </a:pPr>
            <a:r>
              <a:rPr lang="en-US" altLang="en-US" dirty="0">
                <a:ea typeface="ＭＳ Ｐゴシック" pitchFamily="34" charset="-128"/>
              </a:rPr>
              <a:t>Efficiency and Interpretability</a:t>
            </a:r>
          </a:p>
        </p:txBody>
      </p:sp>
      <p:sp>
        <p:nvSpPr>
          <p:cNvPr id="61444" name="Rectangle 3">
            <a:extLst>
              <a:ext uri="{FF2B5EF4-FFF2-40B4-BE49-F238E27FC236}">
                <a16:creationId xmlns:a16="http://schemas.microsoft.com/office/drawing/2014/main" id="{62EDE894-91CB-BF9D-F8A4-9856AC0FCFF7}"/>
              </a:ext>
            </a:extLst>
          </p:cNvPr>
          <p:cNvSpPr>
            <a:spLocks noGrp="1"/>
          </p:cNvSpPr>
          <p:nvPr>
            <p:ph type="body" idx="1"/>
          </p:nvPr>
        </p:nvSpPr>
        <p:spPr>
          <a:xfrm>
            <a:off x="546100" y="1295400"/>
            <a:ext cx="8051800" cy="5181600"/>
          </a:xfrm>
        </p:spPr>
        <p:txBody>
          <a:bodyPr lIns="89018" tIns="44510" rIns="89018" bIns="44510">
            <a:normAutofit lnSpcReduction="10000"/>
          </a:bodyPr>
          <a:lstStyle/>
          <a:p>
            <a:pPr eaLnBrk="1" hangingPunct="1">
              <a:lnSpc>
                <a:spcPct val="120000"/>
              </a:lnSpc>
            </a:pPr>
            <a:r>
              <a:rPr lang="en-US" altLang="en-US" sz="1900" b="1" u="sng">
                <a:latin typeface="Open Sans" panose="020B0606030504020204" pitchFamily="34" charset="0"/>
              </a:rPr>
              <a:t>Efficiency</a:t>
            </a:r>
            <a:r>
              <a:rPr lang="en-US" altLang="en-US" sz="1900">
                <a:latin typeface="Open Sans" panose="020B0606030504020204" pitchFamily="34" charset="0"/>
              </a:rPr>
              <a:t> of backpropagation: Each epoch (one iteration through the training set) takes O(|D| * </a:t>
            </a:r>
            <a:r>
              <a:rPr lang="en-US" altLang="en-US" sz="1900" i="1">
                <a:latin typeface="Open Sans" panose="020B0606030504020204" pitchFamily="34" charset="0"/>
              </a:rPr>
              <a:t>w</a:t>
            </a:r>
            <a:r>
              <a:rPr lang="en-US" altLang="en-US" sz="1900">
                <a:latin typeface="Open Sans" panose="020B0606030504020204" pitchFamily="34" charset="0"/>
              </a:rPr>
              <a:t>), with |D| tuples and </a:t>
            </a:r>
            <a:r>
              <a:rPr lang="en-US" altLang="en-US" sz="1900" i="1">
                <a:latin typeface="Open Sans" panose="020B0606030504020204" pitchFamily="34" charset="0"/>
              </a:rPr>
              <a:t>w</a:t>
            </a:r>
            <a:r>
              <a:rPr lang="en-US" altLang="en-US" sz="1900">
                <a:latin typeface="Open Sans" panose="020B0606030504020204" pitchFamily="34" charset="0"/>
              </a:rPr>
              <a:t> weights, but # of epochs can be exponential to n, the number of inputs, in worst case</a:t>
            </a:r>
          </a:p>
          <a:p>
            <a:pPr eaLnBrk="1" hangingPunct="1">
              <a:lnSpc>
                <a:spcPct val="120000"/>
              </a:lnSpc>
            </a:pPr>
            <a:r>
              <a:rPr lang="en-US" altLang="en-US" sz="1900">
                <a:latin typeface="Open Sans" panose="020B0606030504020204" pitchFamily="34" charset="0"/>
              </a:rPr>
              <a:t>For easier comprehension: </a:t>
            </a:r>
            <a:r>
              <a:rPr lang="en-US" altLang="en-US" sz="1900" b="1" u="sng">
                <a:latin typeface="Open Sans" panose="020B0606030504020204" pitchFamily="34" charset="0"/>
              </a:rPr>
              <a:t>Rule extraction</a:t>
            </a:r>
            <a:r>
              <a:rPr lang="en-US" altLang="en-US" sz="1900">
                <a:latin typeface="Open Sans" panose="020B0606030504020204" pitchFamily="34" charset="0"/>
              </a:rPr>
              <a:t> by network pruning</a:t>
            </a:r>
          </a:p>
          <a:p>
            <a:pPr lvl="1" eaLnBrk="1" hangingPunct="1">
              <a:lnSpc>
                <a:spcPct val="120000"/>
              </a:lnSpc>
            </a:pPr>
            <a:r>
              <a:rPr lang="en-US" altLang="en-US" sz="1900">
                <a:latin typeface="Open Sans" panose="020B0606030504020204" pitchFamily="34" charset="0"/>
              </a:rPr>
              <a:t>Simplify the network structure by removing weighted links that have the least effect on the trained network</a:t>
            </a:r>
          </a:p>
          <a:p>
            <a:pPr lvl="1" eaLnBrk="1" hangingPunct="1">
              <a:lnSpc>
                <a:spcPct val="120000"/>
              </a:lnSpc>
            </a:pPr>
            <a:r>
              <a:rPr lang="en-US" altLang="en-US" sz="1900">
                <a:latin typeface="Open Sans" panose="020B0606030504020204" pitchFamily="34" charset="0"/>
              </a:rPr>
              <a:t>Then perform link, unit, or activation value clustering</a:t>
            </a:r>
          </a:p>
          <a:p>
            <a:pPr lvl="1" eaLnBrk="1" hangingPunct="1">
              <a:lnSpc>
                <a:spcPct val="120000"/>
              </a:lnSpc>
            </a:pPr>
            <a:r>
              <a:rPr lang="en-US" altLang="en-US" sz="1900">
                <a:latin typeface="Open Sans" panose="020B0606030504020204" pitchFamily="34" charset="0"/>
              </a:rPr>
              <a:t>The set of input and activation values are studied to derive rules describing the relationship between the input and hidden unit layers</a:t>
            </a:r>
          </a:p>
          <a:p>
            <a:pPr eaLnBrk="1" hangingPunct="1">
              <a:lnSpc>
                <a:spcPct val="120000"/>
              </a:lnSpc>
            </a:pPr>
            <a:r>
              <a:rPr lang="en-US" altLang="en-US" sz="1900" b="1" u="sng">
                <a:latin typeface="Open Sans" panose="020B0606030504020204" pitchFamily="34" charset="0"/>
              </a:rPr>
              <a:t>Sensitivity analysis</a:t>
            </a:r>
            <a:r>
              <a:rPr lang="en-US" altLang="en-US" sz="1900">
                <a:latin typeface="Open Sans" panose="020B0606030504020204" pitchFamily="34" charset="0"/>
              </a:rPr>
              <a:t>: assess the impact that a given input variable has on a network output.  The knowledge gained from this analysis can be represented in rules</a:t>
            </a:r>
            <a:endParaRPr lang="en-US" altLang="en-US" sz="2300">
              <a:latin typeface="Open Sans" panose="020B0606030504020204" pitchFamily="34" charset="0"/>
            </a:endParaRPr>
          </a:p>
        </p:txBody>
      </p:sp>
    </p:spTree>
  </p:cSld>
  <p:clrMapOvr>
    <a:masterClrMapping/>
  </p:clrMapOvr>
  <p:transition spd="slow">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a:extLst>
              <a:ext uri="{FF2B5EF4-FFF2-40B4-BE49-F238E27FC236}">
                <a16:creationId xmlns:a16="http://schemas.microsoft.com/office/drawing/2014/main" id="{02EC07F5-D2E4-F66E-DEBD-2A85047C95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96EC4DD-0E01-4928-89E0-75052F70E366}" type="slidenum">
              <a:rPr lang="en-US" altLang="en-US" sz="1100" smtClean="0">
                <a:latin typeface="Tahoma" panose="020B0604030504040204" pitchFamily="34" charset="0"/>
                <a:ea typeface="MS PGothic" panose="020B0600070205080204" pitchFamily="34" charset="-128"/>
              </a:rPr>
              <a:pPr>
                <a:spcBef>
                  <a:spcPct val="0"/>
                </a:spcBef>
                <a:buFontTx/>
                <a:buNone/>
              </a:pPr>
              <a:t>50</a:t>
            </a:fld>
            <a:endParaRPr lang="en-US" altLang="en-US" sz="1100">
              <a:latin typeface="Tahoma" panose="020B0604030504040204" pitchFamily="34" charset="0"/>
              <a:ea typeface="MS PGothic" panose="020B0600070205080204" pitchFamily="34" charset="-128"/>
            </a:endParaRPr>
          </a:p>
        </p:txBody>
      </p:sp>
      <p:sp>
        <p:nvSpPr>
          <p:cNvPr id="63491" name="Rectangle 2">
            <a:extLst>
              <a:ext uri="{FF2B5EF4-FFF2-40B4-BE49-F238E27FC236}">
                <a16:creationId xmlns:a16="http://schemas.microsoft.com/office/drawing/2014/main" id="{CC6269E0-AA14-9C3C-69E3-3CCCE0282333}"/>
              </a:ext>
            </a:extLst>
          </p:cNvPr>
          <p:cNvSpPr>
            <a:spLocks noGrp="1"/>
          </p:cNvSpPr>
          <p:nvPr>
            <p:ph type="title"/>
          </p:nvPr>
        </p:nvSpPr>
        <p:spPr>
          <a:xfrm>
            <a:off x="1676400" y="282575"/>
            <a:ext cx="7264400" cy="781050"/>
          </a:xfrm>
        </p:spPr>
        <p:txBody>
          <a:bodyPr/>
          <a:lstStyle/>
          <a:p>
            <a:pPr eaLnBrk="1" hangingPunct="1"/>
            <a:r>
              <a:rPr lang="en-US" altLang="en-US">
                <a:latin typeface="Open Sans" panose="020B0606030504020204" pitchFamily="34" charset="0"/>
                <a:ea typeface="MS PGothic" panose="020B0600070205080204" pitchFamily="34" charset="-128"/>
              </a:rPr>
              <a:t>Neural Network as a Classifier</a:t>
            </a:r>
          </a:p>
        </p:txBody>
      </p:sp>
      <p:sp>
        <p:nvSpPr>
          <p:cNvPr id="63492" name="Rectangle 3">
            <a:extLst>
              <a:ext uri="{FF2B5EF4-FFF2-40B4-BE49-F238E27FC236}">
                <a16:creationId xmlns:a16="http://schemas.microsoft.com/office/drawing/2014/main" id="{E63CFB90-7128-20C2-ADD4-01741EEA2ED2}"/>
              </a:ext>
            </a:extLst>
          </p:cNvPr>
          <p:cNvSpPr>
            <a:spLocks noGrp="1"/>
          </p:cNvSpPr>
          <p:nvPr>
            <p:ph type="body" idx="1"/>
          </p:nvPr>
        </p:nvSpPr>
        <p:spPr>
          <a:xfrm>
            <a:off x="546100" y="1219200"/>
            <a:ext cx="8051800" cy="5334000"/>
          </a:xfrm>
        </p:spPr>
        <p:txBody>
          <a:bodyPr>
            <a:normAutofit lnSpcReduction="10000"/>
          </a:bodyPr>
          <a:lstStyle/>
          <a:p>
            <a:pPr eaLnBrk="1" hangingPunct="1">
              <a:lnSpc>
                <a:spcPct val="110000"/>
              </a:lnSpc>
            </a:pPr>
            <a:r>
              <a:rPr lang="en-US" altLang="en-US" sz="1900">
                <a:latin typeface="Open Sans" panose="020B0606030504020204" pitchFamily="34" charset="0"/>
              </a:rPr>
              <a:t>Weakness</a:t>
            </a:r>
          </a:p>
          <a:p>
            <a:pPr lvl="1" eaLnBrk="1" hangingPunct="1">
              <a:lnSpc>
                <a:spcPct val="110000"/>
              </a:lnSpc>
            </a:pPr>
            <a:r>
              <a:rPr lang="en-US" altLang="en-US" sz="1900">
                <a:latin typeface="Open Sans" panose="020B0606030504020204" pitchFamily="34" charset="0"/>
              </a:rPr>
              <a:t>Long training time </a:t>
            </a:r>
          </a:p>
          <a:p>
            <a:pPr lvl="1" eaLnBrk="1" hangingPunct="1">
              <a:lnSpc>
                <a:spcPct val="110000"/>
              </a:lnSpc>
            </a:pPr>
            <a:r>
              <a:rPr lang="en-US" altLang="en-US" sz="1900">
                <a:latin typeface="Open Sans" panose="020B0606030504020204" pitchFamily="34" charset="0"/>
              </a:rPr>
              <a:t>Require a number of parameters typically best determined empirically, e.g., the network topology or “structure.”</a:t>
            </a:r>
          </a:p>
          <a:p>
            <a:pPr lvl="1" eaLnBrk="1" hangingPunct="1">
              <a:lnSpc>
                <a:spcPct val="110000"/>
              </a:lnSpc>
            </a:pPr>
            <a:r>
              <a:rPr lang="en-US" altLang="en-US" sz="1900">
                <a:latin typeface="Open Sans" panose="020B0606030504020204" pitchFamily="34" charset="0"/>
              </a:rPr>
              <a:t>Poor interpretability: Difficult to interpret the symbolic meaning behind the learned weights and of “hidden units” in the network</a:t>
            </a:r>
          </a:p>
          <a:p>
            <a:pPr eaLnBrk="1" hangingPunct="1">
              <a:lnSpc>
                <a:spcPct val="110000"/>
              </a:lnSpc>
            </a:pPr>
            <a:r>
              <a:rPr lang="en-US" altLang="en-US" sz="1900">
                <a:latin typeface="Open Sans" panose="020B0606030504020204" pitchFamily="34" charset="0"/>
              </a:rPr>
              <a:t>Strength</a:t>
            </a:r>
          </a:p>
          <a:p>
            <a:pPr lvl="1" eaLnBrk="1" hangingPunct="1">
              <a:lnSpc>
                <a:spcPct val="110000"/>
              </a:lnSpc>
            </a:pPr>
            <a:r>
              <a:rPr lang="en-US" altLang="en-US" sz="1900">
                <a:latin typeface="Open Sans" panose="020B0606030504020204" pitchFamily="34" charset="0"/>
              </a:rPr>
              <a:t>High tolerance to noisy data </a:t>
            </a:r>
          </a:p>
          <a:p>
            <a:pPr lvl="1" eaLnBrk="1" hangingPunct="1">
              <a:lnSpc>
                <a:spcPct val="110000"/>
              </a:lnSpc>
            </a:pPr>
            <a:r>
              <a:rPr lang="en-US" altLang="en-US" sz="1900">
                <a:latin typeface="Open Sans" panose="020B0606030504020204" pitchFamily="34" charset="0"/>
              </a:rPr>
              <a:t>Ability to classify untrained patterns </a:t>
            </a:r>
          </a:p>
          <a:p>
            <a:pPr lvl="1" eaLnBrk="1" hangingPunct="1">
              <a:lnSpc>
                <a:spcPct val="110000"/>
              </a:lnSpc>
            </a:pPr>
            <a:r>
              <a:rPr lang="en-US" altLang="en-US" sz="1900">
                <a:latin typeface="Open Sans" panose="020B0606030504020204" pitchFamily="34" charset="0"/>
              </a:rPr>
              <a:t>Well-suited for continuous-valued inputs </a:t>
            </a:r>
            <a:r>
              <a:rPr lang="en-US" altLang="en-US" sz="1900" i="1">
                <a:latin typeface="Open Sans" panose="020B0606030504020204" pitchFamily="34" charset="0"/>
              </a:rPr>
              <a:t>and outputs</a:t>
            </a:r>
          </a:p>
          <a:p>
            <a:pPr lvl="1" eaLnBrk="1" hangingPunct="1">
              <a:lnSpc>
                <a:spcPct val="110000"/>
              </a:lnSpc>
            </a:pPr>
            <a:r>
              <a:rPr lang="en-US" altLang="en-US" sz="1900">
                <a:latin typeface="Open Sans" panose="020B0606030504020204" pitchFamily="34" charset="0"/>
              </a:rPr>
              <a:t>Successful on an array of real-world data, e.g., hand-written letters</a:t>
            </a:r>
          </a:p>
          <a:p>
            <a:pPr lvl="1" eaLnBrk="1" hangingPunct="1">
              <a:lnSpc>
                <a:spcPct val="110000"/>
              </a:lnSpc>
            </a:pPr>
            <a:r>
              <a:rPr lang="en-US" altLang="en-US" sz="1900">
                <a:latin typeface="Open Sans" panose="020B0606030504020204" pitchFamily="34" charset="0"/>
              </a:rPr>
              <a:t>Algorithms are inherently parallel</a:t>
            </a:r>
          </a:p>
          <a:p>
            <a:pPr lvl="1" eaLnBrk="1" hangingPunct="1">
              <a:lnSpc>
                <a:spcPct val="110000"/>
              </a:lnSpc>
            </a:pPr>
            <a:r>
              <a:rPr lang="en-US" altLang="en-US" sz="1900">
                <a:latin typeface="Open Sans" panose="020B0606030504020204" pitchFamily="34" charset="0"/>
              </a:rPr>
              <a:t>Techniques have recently been developed for the extraction of rules from trained neural networks</a:t>
            </a:r>
          </a:p>
        </p:txBody>
      </p:sp>
    </p:spTree>
  </p:cSld>
  <p:clrMapOvr>
    <a:masterClrMapping/>
  </p:clrMapOvr>
  <p:transition spd="slow">
    <p:split orient="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7ACCBE3C-4DBE-2A91-43F0-6C0F86823551}"/>
              </a:ext>
            </a:extLst>
          </p:cNvPr>
          <p:cNvSpPr>
            <a:spLocks noGrp="1"/>
          </p:cNvSpPr>
          <p:nvPr>
            <p:ph type="title"/>
          </p:nvPr>
        </p:nvSpPr>
        <p:spPr/>
        <p:txBody>
          <a:bodyPr/>
          <a:lstStyle/>
          <a:p>
            <a:r>
              <a:rPr lang="en-US" altLang="en-US">
                <a:latin typeface="Open Sans" panose="020B0606030504020204" pitchFamily="34" charset="0"/>
              </a:rPr>
              <a:t>References</a:t>
            </a:r>
          </a:p>
        </p:txBody>
      </p:sp>
      <p:sp>
        <p:nvSpPr>
          <p:cNvPr id="65539" name="Content Placeholder 2">
            <a:extLst>
              <a:ext uri="{FF2B5EF4-FFF2-40B4-BE49-F238E27FC236}">
                <a16:creationId xmlns:a16="http://schemas.microsoft.com/office/drawing/2014/main" id="{2321FF9B-0BC5-D15C-59E5-6C6C651F7124}"/>
              </a:ext>
            </a:extLst>
          </p:cNvPr>
          <p:cNvSpPr>
            <a:spLocks noGrp="1"/>
          </p:cNvSpPr>
          <p:nvPr>
            <p:ph idx="1"/>
          </p:nvPr>
        </p:nvSpPr>
        <p:spPr>
          <a:xfrm>
            <a:off x="685800" y="1905000"/>
            <a:ext cx="8229600" cy="4724400"/>
          </a:xfrm>
        </p:spPr>
        <p:txBody>
          <a:bodyPr/>
          <a:lstStyle/>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Online Course by Lili Ayu Wulandhari, S.Si., M.Sc., Ph.D. </a:t>
            </a:r>
            <a:r>
              <a:rPr lang="en-US" altLang="en-US" sz="2000">
                <a:latin typeface="Arial" panose="020B0604020202020204" pitchFamily="34" charset="0"/>
                <a:ea typeface="Calibri" panose="020F0502020204030204" pitchFamily="34" charset="0"/>
                <a:cs typeface="Times New Roman" panose="02020603050405020304" pitchFamily="18" charset="0"/>
                <a:hlinkClick r:id="rId2"/>
              </a:rPr>
              <a:t>https://www.youtube.com/watch?v=eHmFexrOTUg&amp;list=PLhdyHWHl4RG_7KBV5sx3q_bS39bJX685o</a:t>
            </a:r>
            <a:r>
              <a:rPr lang="en-US" altLang="en-US" sz="2000">
                <a:latin typeface="Arial" panose="020B0604020202020204" pitchFamily="34" charset="0"/>
                <a:ea typeface="Calibri" panose="020F0502020204030204" pitchFamily="34" charset="0"/>
                <a:cs typeface="Times New Roman" panose="02020603050405020304" pitchFamily="18" charset="0"/>
              </a:rPr>
              <a:t> </a:t>
            </a: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Bishop, C. M. (2006). </a:t>
            </a:r>
            <a:r>
              <a:rPr lang="en-US" altLang="en-US" sz="2000" i="1">
                <a:latin typeface="Arial" panose="020B0604020202020204" pitchFamily="34" charset="0"/>
                <a:ea typeface="Calibri" panose="020F0502020204030204" pitchFamily="34" charset="0"/>
                <a:cs typeface="Times New Roman" panose="02020603050405020304" pitchFamily="18" charset="0"/>
              </a:rPr>
              <a:t>Pattern recognition and machine learning</a:t>
            </a:r>
            <a:r>
              <a:rPr lang="en-US" altLang="en-US" sz="2000">
                <a:latin typeface="Arial" panose="020B0604020202020204" pitchFamily="34" charset="0"/>
                <a:ea typeface="Calibri" panose="020F0502020204030204" pitchFamily="34" charset="0"/>
                <a:cs typeface="Times New Roman" panose="02020603050405020304" pitchFamily="18" charset="0"/>
              </a:rPr>
              <a:t>. springer.</a:t>
            </a: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Arial" panose="020B0604020202020204" pitchFamily="34" charset="0"/>
              </a:rPr>
              <a:t>Mitchell, Tom M. (1997). </a:t>
            </a:r>
            <a:r>
              <a:rPr lang="en-US" altLang="en-US" sz="2000" i="1">
                <a:latin typeface="Arial" panose="020B0604020202020204" pitchFamily="34" charset="0"/>
                <a:ea typeface="Calibri" panose="020F0502020204030204" pitchFamily="34" charset="0"/>
                <a:cs typeface="Arial" panose="020B0604020202020204" pitchFamily="34" charset="0"/>
              </a:rPr>
              <a:t>Machine</a:t>
            </a:r>
            <a:r>
              <a:rPr lang="en-US" altLang="en-US" sz="2000">
                <a:latin typeface="Arial" panose="020B0604020202020204" pitchFamily="34" charset="0"/>
                <a:ea typeface="Calibri" panose="020F0502020204030204" pitchFamily="34" charset="0"/>
                <a:cs typeface="Arial" panose="020B0604020202020204" pitchFamily="34" charset="0"/>
              </a:rPr>
              <a:t> </a:t>
            </a:r>
            <a:r>
              <a:rPr lang="en-US" altLang="en-US" sz="2000" i="1">
                <a:latin typeface="Arial" panose="020B0604020202020204" pitchFamily="34" charset="0"/>
                <a:ea typeface="Calibri" panose="020F0502020204030204" pitchFamily="34" charset="0"/>
                <a:cs typeface="Arial" panose="020B0604020202020204" pitchFamily="34" charset="0"/>
              </a:rPr>
              <a:t>learning</a:t>
            </a:r>
            <a:r>
              <a:rPr lang="en-US" altLang="en-US" sz="2000">
                <a:latin typeface="Arial" panose="020B0604020202020204" pitchFamily="34" charset="0"/>
                <a:ea typeface="Calibri" panose="020F0502020204030204" pitchFamily="34" charset="0"/>
                <a:cs typeface="Arial" panose="020B0604020202020204" pitchFamily="34" charset="0"/>
              </a:rPr>
              <a:t>. McGraw Hill.</a:t>
            </a: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Harrington, P. (2012).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in action</a:t>
            </a:r>
            <a:r>
              <a:rPr lang="en-US" altLang="en-US" sz="2000">
                <a:latin typeface="Arial" panose="020B0604020202020204" pitchFamily="34" charset="0"/>
                <a:ea typeface="Calibri" panose="020F0502020204030204" pitchFamily="34" charset="0"/>
                <a:cs typeface="Times New Roman" panose="02020603050405020304" pitchFamily="18" charset="0"/>
              </a:rPr>
              <a:t>. Manning Publications Co..</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endParaRPr lang="en-US" altLang="en-US" sz="3200">
              <a:latin typeface="Open Sans" panose="020B0606030504020204" pitchFamily="34" charset="0"/>
              <a:ea typeface="Calibri" panose="020F0502020204030204" pitchFamily="34" charset="0"/>
              <a:cs typeface="Times New Roman" panose="02020603050405020304" pitchFamily="18" charset="0"/>
            </a:endParaRPr>
          </a:p>
        </p:txBody>
      </p:sp>
      <p:sp>
        <p:nvSpPr>
          <p:cNvPr id="65540" name="Slide Number Placeholder 3">
            <a:extLst>
              <a:ext uri="{FF2B5EF4-FFF2-40B4-BE49-F238E27FC236}">
                <a16:creationId xmlns:a16="http://schemas.microsoft.com/office/drawing/2014/main" id="{CF3EC6A1-213A-FF45-D584-5A34A45209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66F2A59-D923-4DF6-99D6-52A3C5DB0D89}" type="slidenum">
              <a:rPr lang="en-US" altLang="en-US" sz="1200" smtClean="0">
                <a:solidFill>
                  <a:srgbClr val="898989"/>
                </a:solidFill>
              </a:rPr>
              <a:pPr>
                <a:spcBef>
                  <a:spcPct val="0"/>
                </a:spcBef>
                <a:buFontTx/>
                <a:buNone/>
              </a:pPr>
              <a:t>51</a:t>
            </a:fld>
            <a:endParaRPr lang="en-US" altLang="en-US" sz="1200">
              <a:solidFill>
                <a:srgbClr val="898989"/>
              </a:solidFill>
            </a:endParaRPr>
          </a:p>
        </p:txBody>
      </p:sp>
    </p:spTree>
  </p:cSld>
  <p:clrMapOvr>
    <a:masterClrMapping/>
  </p:clrMapOvr>
  <p:transition spd="slow">
    <p:split orient="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3">
            <a:extLst>
              <a:ext uri="{FF2B5EF4-FFF2-40B4-BE49-F238E27FC236}">
                <a16:creationId xmlns:a16="http://schemas.microsoft.com/office/drawing/2014/main" id="{4EF70CB9-73CC-97BF-3784-B4859D18FDD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780B4A7-F718-46CF-AB40-2E55509BACCC}" type="slidenum">
              <a:rPr lang="en-US" altLang="en-US" sz="1200" smtClean="0">
                <a:solidFill>
                  <a:srgbClr val="898989"/>
                </a:solidFill>
              </a:rPr>
              <a:pPr>
                <a:spcBef>
                  <a:spcPct val="0"/>
                </a:spcBef>
                <a:buFontTx/>
                <a:buNone/>
              </a:pPr>
              <a:t>52</a:t>
            </a:fld>
            <a:endParaRPr lang="en-US" altLang="en-US" sz="1200">
              <a:solidFill>
                <a:srgbClr val="898989"/>
              </a:solidFill>
            </a:endParaRPr>
          </a:p>
        </p:txBody>
      </p:sp>
      <p:sp>
        <p:nvSpPr>
          <p:cNvPr id="7" name="Title 4">
            <a:extLst>
              <a:ext uri="{FF2B5EF4-FFF2-40B4-BE49-F238E27FC236}">
                <a16:creationId xmlns:a16="http://schemas.microsoft.com/office/drawing/2014/main" id="{ABECF531-BD50-02F9-FF5F-7913FEFEA649}"/>
              </a:ext>
            </a:extLst>
          </p:cNvPr>
          <p:cNvSpPr txBox="1">
            <a:spLocks/>
          </p:cNvSpPr>
          <p:nvPr/>
        </p:nvSpPr>
        <p:spPr bwMode="auto">
          <a:xfrm>
            <a:off x="914400" y="3048000"/>
            <a:ext cx="7772400" cy="1362075"/>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sz="6600" dirty="0"/>
              <a:t>Q&amp;A</a:t>
            </a:r>
          </a:p>
        </p:txBody>
      </p:sp>
    </p:spTree>
  </p:cSld>
  <p:clrMapOvr>
    <a:masterClrMapping/>
  </p:clrMapOvr>
  <p:transition spd="slow">
    <p:split orient="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ubtitle 2">
            <a:extLst>
              <a:ext uri="{FF2B5EF4-FFF2-40B4-BE49-F238E27FC236}">
                <a16:creationId xmlns:a16="http://schemas.microsoft.com/office/drawing/2014/main" id="{2616DEC7-09FE-E5A8-8529-DCA8568EB422}"/>
              </a:ext>
            </a:extLst>
          </p:cNvPr>
          <p:cNvSpPr txBox="1">
            <a:spLocks noChangeArrowheads="1"/>
          </p:cNvSpPr>
          <p:nvPr/>
        </p:nvSpPr>
        <p:spPr bwMode="auto">
          <a:xfrm>
            <a:off x="2260600" y="4357688"/>
            <a:ext cx="64008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5" rIns="91428" bIns="4571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endParaRPr lang="en-US" altLang="en-US" sz="6300" b="1">
              <a:solidFill>
                <a:schemeClr val="bg1"/>
              </a:solidFill>
              <a:latin typeface="Edwardian Script ITC" panose="030303020407070D0804" pitchFamily="66" charset="0"/>
              <a:ea typeface="MS PGothic" panose="020B0600070205080204" pitchFamily="34" charset="-128"/>
            </a:endParaRPr>
          </a:p>
        </p:txBody>
      </p:sp>
      <p:sp>
        <p:nvSpPr>
          <p:cNvPr id="2" name="Rectangle 1">
            <a:extLst>
              <a:ext uri="{FF2B5EF4-FFF2-40B4-BE49-F238E27FC236}">
                <a16:creationId xmlns:a16="http://schemas.microsoft.com/office/drawing/2014/main" id="{B36A7463-32A3-0E4D-BFD4-D502A5281FD0}"/>
              </a:ext>
            </a:extLst>
          </p:cNvPr>
          <p:cNvSpPr/>
          <p:nvPr/>
        </p:nvSpPr>
        <p:spPr>
          <a:xfrm>
            <a:off x="3581400" y="3803690"/>
            <a:ext cx="3488455" cy="1107996"/>
          </a:xfrm>
          <a:prstGeom prst="rect">
            <a:avLst/>
          </a:prstGeom>
          <a:noFill/>
        </p:spPr>
        <p:txBody>
          <a:bodyPr wrap="none">
            <a:spAutoFit/>
          </a:bodyPr>
          <a:lstStyle/>
          <a:p>
            <a:pPr algn="ctr" eaLnBrk="1" hangingPunct="1">
              <a:buFont typeface="Arial" panose="020B0604020202020204" pitchFamily="34" charset="0"/>
              <a:buNone/>
              <a:defRPr/>
            </a:pPr>
            <a:r>
              <a:rPr lang="en-US" sz="6600" b="1" i="1" dirty="0">
                <a:ln w="10160">
                  <a:solidFill>
                    <a:schemeClr val="accent5"/>
                  </a:solidFill>
                  <a:prstDash val="solid"/>
                </a:ln>
                <a:solidFill>
                  <a:srgbClr val="FFFFFF"/>
                </a:solidFill>
                <a:effectLst>
                  <a:glow rad="63500">
                    <a:schemeClr val="accent5">
                      <a:satMod val="175000"/>
                      <a:alpha val="40000"/>
                    </a:schemeClr>
                  </a:glow>
                  <a:outerShdw blurRad="38100" dist="22860" dir="5400000" algn="tl" rotWithShape="0">
                    <a:srgbClr val="000000">
                      <a:alpha val="30000"/>
                    </a:srgbClr>
                  </a:outerShdw>
                </a:effectLst>
                <a:latin typeface="Monotype Corsiva" panose="03010101010201010101" pitchFamily="66" charset="0"/>
              </a:rPr>
              <a:t>Thank You</a:t>
            </a:r>
          </a:p>
        </p:txBody>
      </p:sp>
    </p:spTree>
  </p:cSld>
  <p:clrMapOvr>
    <a:masterClrMapping/>
  </p:clrMapOvr>
  <p:transition spd="slow">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8241</TotalTime>
  <Words>2170</Words>
  <Application>Microsoft Office PowerPoint</Application>
  <PresentationFormat>On-screen Show (4:3)</PresentationFormat>
  <Paragraphs>318</Paragraphs>
  <Slides>53</Slides>
  <Notes>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53</vt:i4>
      </vt:variant>
    </vt:vector>
  </HeadingPairs>
  <TitlesOfParts>
    <vt:vector size="65" baseType="lpstr">
      <vt:lpstr>Arial</vt:lpstr>
      <vt:lpstr>Calibri</vt:lpstr>
      <vt:lpstr>MS PGothic</vt:lpstr>
      <vt:lpstr>Open Sans</vt:lpstr>
      <vt:lpstr>Times New Roman</vt:lpstr>
      <vt:lpstr>Product Sans</vt:lpstr>
      <vt:lpstr>Tahoma</vt:lpstr>
      <vt:lpstr>Edwardian Script ITC</vt:lpstr>
      <vt:lpstr>Office Theme</vt:lpstr>
      <vt:lpstr>Visio.Drawing.6</vt:lpstr>
      <vt:lpstr>Microsoft Equation 3.0</vt:lpstr>
      <vt:lpstr>Equation</vt:lpstr>
      <vt:lpstr>PowerPoint Presentation</vt:lpstr>
      <vt:lpstr>Learning Outcomes</vt:lpstr>
      <vt:lpstr>Session Outcomes</vt:lpstr>
      <vt:lpstr>Topics</vt:lpstr>
      <vt:lpstr>Introduction to ANN</vt:lpstr>
      <vt:lpstr>Introduction to ANN</vt:lpstr>
      <vt:lpstr>ANN Elements</vt:lpstr>
      <vt:lpstr>ANN Characteristics</vt:lpstr>
      <vt:lpstr>ANN Implementation</vt:lpstr>
      <vt:lpstr>ANN Implementation</vt:lpstr>
      <vt:lpstr>Feed-Forward Network Functions</vt:lpstr>
      <vt:lpstr>Let’s Start with Perceptron</vt:lpstr>
      <vt:lpstr>Perceptron</vt:lpstr>
      <vt:lpstr>Perceptron</vt:lpstr>
      <vt:lpstr>General Structure of Perceptron</vt:lpstr>
      <vt:lpstr>ANN Architecture</vt:lpstr>
      <vt:lpstr>1. Single-Layer Feedforward Network</vt:lpstr>
      <vt:lpstr>Decision Boundary</vt:lpstr>
      <vt:lpstr>2. Multilayer Feedforward Network</vt:lpstr>
      <vt:lpstr>How a Multi-Layer ANN Works</vt:lpstr>
      <vt:lpstr>3. Recurrent Neural Network (RNN)</vt:lpstr>
      <vt:lpstr>Example 1: ANN Implementation</vt:lpstr>
      <vt:lpstr>Example 1: ANN Implementation (cont.)</vt:lpstr>
      <vt:lpstr>Network Training</vt:lpstr>
      <vt:lpstr>Artificial Neural Network </vt:lpstr>
      <vt:lpstr>Defining a Network Topology</vt:lpstr>
      <vt:lpstr>Learning Function and Activation Function</vt:lpstr>
      <vt:lpstr>Learning Function and Activation Function (cont.)</vt:lpstr>
      <vt:lpstr>Activation Function</vt:lpstr>
      <vt:lpstr>Activation Function (cont.)</vt:lpstr>
      <vt:lpstr>Activation Function (cont.)</vt:lpstr>
      <vt:lpstr>Activation Function (cont.)</vt:lpstr>
      <vt:lpstr>Activation Function (cont.)</vt:lpstr>
      <vt:lpstr>Activation Function (cont.)</vt:lpstr>
      <vt:lpstr>Example 2: Activation Function Calculation</vt:lpstr>
      <vt:lpstr>Perceptron Algorithm</vt:lpstr>
      <vt:lpstr>Perceptron Algorithm</vt:lpstr>
      <vt:lpstr>Perceptron Algorithm (cont.)</vt:lpstr>
      <vt:lpstr>Perceptron Algorithm:  Updating Weights</vt:lpstr>
      <vt:lpstr>Exercise: Perceptron Algorithm</vt:lpstr>
      <vt:lpstr>Backpropagation Neural Network (BPPN)</vt:lpstr>
      <vt:lpstr>Types of Learning</vt:lpstr>
      <vt:lpstr>Learning Algorithm: Backpropagation</vt:lpstr>
      <vt:lpstr>Backpropagation Neural Network Algorithm</vt:lpstr>
      <vt:lpstr>Backpropagation Neural Network Algorithm (cont.)</vt:lpstr>
      <vt:lpstr>Backpropagation Neural Network Algorithm (cont.)</vt:lpstr>
      <vt:lpstr>Backpropagation Neural Network Algorithm (cont.)</vt:lpstr>
      <vt:lpstr>Exercise</vt:lpstr>
      <vt:lpstr>Efficiency and Interpretability</vt:lpstr>
      <vt:lpstr>Neural Network as a Classifier</vt:lpstr>
      <vt:lpstr>References</vt:lpstr>
      <vt:lpstr>PowerPoint Presentation</vt:lpstr>
      <vt:lpstr>PowerPoint Presentation</vt:lpstr>
    </vt:vector>
  </TitlesOfParts>
  <Company>Bina Nusantara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yy</dc:creator>
  <cp:lastModifiedBy>Amalia Zahra</cp:lastModifiedBy>
  <cp:revision>246</cp:revision>
  <dcterms:created xsi:type="dcterms:W3CDTF">2014-12-16T09:41:31Z</dcterms:created>
  <dcterms:modified xsi:type="dcterms:W3CDTF">2023-06-11T22:32:49Z</dcterms:modified>
</cp:coreProperties>
</file>