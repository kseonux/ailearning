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498" r:id="rId3"/>
    <p:sldId id="501" r:id="rId4"/>
    <p:sldId id="502" r:id="rId5"/>
    <p:sldId id="503" r:id="rId6"/>
    <p:sldId id="504" r:id="rId7"/>
    <p:sldId id="505" r:id="rId8"/>
    <p:sldId id="506" r:id="rId9"/>
    <p:sldId id="511" r:id="rId10"/>
    <p:sldId id="512" r:id="rId11"/>
    <p:sldId id="513" r:id="rId12"/>
    <p:sldId id="514" r:id="rId13"/>
    <p:sldId id="515" r:id="rId14"/>
    <p:sldId id="270" r:id="rId15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650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2F562D-D695-45BF-A697-ADDAB4EE84A2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528ED0-00DD-4A85-A07A-FDE3B1D63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" y="4763"/>
            <a:ext cx="9139237" cy="6461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/>
          <p:cNvSpPr/>
          <p:nvPr/>
        </p:nvSpPr>
        <p:spPr>
          <a:xfrm>
            <a:off x="1691679" y="1628800"/>
            <a:ext cx="7452319" cy="5229200"/>
          </a:xfrm>
          <a:prstGeom prst="rect">
            <a:avLst/>
          </a:prstGeom>
          <a:solidFill>
            <a:srgbClr val="008F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35696" y="2708920"/>
            <a:ext cx="7128792" cy="1470025"/>
          </a:xfrm>
        </p:spPr>
        <p:txBody>
          <a:bodyPr/>
          <a:lstStyle>
            <a:lvl1pPr eaLnBrk="1" hangingPunct="1">
              <a:defRPr sz="4400">
                <a:solidFill>
                  <a:schemeClr val="bg1"/>
                </a:solidFill>
              </a:defRPr>
            </a:lvl1pPr>
          </a:lstStyle>
          <a:p>
            <a:pPr eaLnBrk="1" hangingPunct="1"/>
            <a:r>
              <a:rPr lang="en-US" sz="3200" b="1" dirty="0">
                <a:solidFill>
                  <a:schemeClr val="bg1"/>
                </a:solidFill>
                <a:latin typeface="Open Sans" pitchFamily="-84" charset="0"/>
                <a:ea typeface="ＭＳ Ｐゴシック" pitchFamily="34" charset="-128"/>
              </a:rPr>
              <a:t>Headline Open Sans Bold 32pt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7744" y="4295527"/>
            <a:ext cx="6400800" cy="576064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fld id="{255FA79B-1EB3-406D-9328-AE72EA92308F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25141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2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3937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371600"/>
            <a:ext cx="7543800" cy="639688"/>
          </a:xfrm>
        </p:spPr>
        <p:txBody>
          <a:bodyPr>
            <a:normAutofit/>
          </a:bodyPr>
          <a:lstStyle>
            <a:lvl1pPr algn="ctr">
              <a:defRPr sz="3000" b="1">
                <a:solidFill>
                  <a:srgbClr val="0079B8"/>
                </a:solidFill>
                <a:latin typeface="Open Sans"/>
              </a:defRPr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365125"/>
          </a:xfrm>
        </p:spPr>
        <p:txBody>
          <a:bodyPr/>
          <a:lstStyle/>
          <a:p>
            <a:fld id="{0128E760-7C15-42F8-B051-F548DC2F0B0B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53336"/>
            <a:ext cx="2895600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53336"/>
            <a:ext cx="2133600" cy="365125"/>
          </a:xfrm>
        </p:spPr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143000" y="2011288"/>
            <a:ext cx="7605464" cy="4458135"/>
          </a:xfrm>
        </p:spPr>
        <p:txBody>
          <a:bodyPr/>
          <a:lstStyle>
            <a:lvl1pPr>
              <a:defRPr>
                <a:latin typeface="Open Sans"/>
              </a:defRPr>
            </a:lvl1pPr>
            <a:lvl2pPr>
              <a:defRPr>
                <a:latin typeface="Open Sans"/>
              </a:defRPr>
            </a:lvl2pPr>
            <a:lvl3pPr>
              <a:defRPr>
                <a:latin typeface="Open Sans"/>
              </a:defRPr>
            </a:lvl3pPr>
            <a:lvl4pPr>
              <a:defRPr>
                <a:latin typeface="Open Sans"/>
              </a:defRPr>
            </a:lvl4pPr>
            <a:lvl5pPr>
              <a:defRPr>
                <a:latin typeface="Open San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761869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4406901"/>
            <a:ext cx="7344816" cy="678284"/>
          </a:xfrm>
        </p:spPr>
        <p:txBody>
          <a:bodyPr anchor="t">
            <a:noAutofit/>
          </a:bodyPr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1640" y="2906713"/>
            <a:ext cx="7344816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420D0-A89A-4A89-A6A7-9A4CF7EB6BD4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93648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19672" y="2636912"/>
            <a:ext cx="3456384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8064" y="2636912"/>
            <a:ext cx="3538736" cy="34892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9C1AB-1DC5-4B71-9B89-CF2156684163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16327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0081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19672" y="2708920"/>
            <a:ext cx="3456384" cy="3456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20072" y="2708919"/>
            <a:ext cx="3466728" cy="345638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EFF56-21CB-4098-81D8-F6320D606675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0" name="Text Placeholder 2"/>
          <p:cNvSpPr>
            <a:spLocks noGrp="1"/>
          </p:cNvSpPr>
          <p:nvPr>
            <p:ph type="body" idx="13"/>
          </p:nvPr>
        </p:nvSpPr>
        <p:spPr>
          <a:xfrm>
            <a:off x="5220072" y="2132856"/>
            <a:ext cx="3456384" cy="639762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9855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D5520-2A1D-4413-BB28-F5CA925DCCE9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35514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D85F3-8FA0-41EA-AEFF-94C1C27209D7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  <p:pic>
        <p:nvPicPr>
          <p:cNvPr id="5" name="Picture 1" descr="Background 03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693629" cy="685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13250" y="2859881"/>
            <a:ext cx="7067128" cy="11430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73697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1628800"/>
            <a:ext cx="6768752" cy="802010"/>
          </a:xfrm>
        </p:spPr>
        <p:txBody>
          <a:bodyPr anchor="b">
            <a:normAutofit/>
          </a:bodyPr>
          <a:lstStyle>
            <a:lvl1pPr algn="l">
              <a:defRPr sz="3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7705" y="2564904"/>
            <a:ext cx="3168352" cy="367240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0072" y="2564904"/>
            <a:ext cx="3430017" cy="367216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0CC21-0AC3-438E-81E0-A279C7D9AE2B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61704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688416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916832"/>
            <a:ext cx="6884168" cy="281074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688416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6F750-3035-4C51-8349-6269EA0EE55D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93814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5BFC9-20AB-426A-B235-B0F24E874B0C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35969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84784"/>
            <a:ext cx="2057400" cy="46413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43608" y="1484784"/>
            <a:ext cx="5433392" cy="46413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51378-1331-4C9F-A924-28596F4E2A1C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88760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0772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752600"/>
            <a:ext cx="38100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38100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491E0AA-C526-4DB6-8C69-A80A69E2D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FFB5CF1-154F-47A0-BA06-4C578D655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94B2404-3358-4070-A735-2883EE14D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E8D34A-865D-4660-995F-F0401CC819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906271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 descr="Background 02.jpg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4"/>
            <a:ext cx="9143999" cy="646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0" y="5157192"/>
            <a:ext cx="9143998" cy="1700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19672" y="1484784"/>
            <a:ext cx="706712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9672" y="2636912"/>
            <a:ext cx="7067128" cy="34892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7CD36-54DD-4229-9AEA-D1FDE206A5D4}" type="datetime1">
              <a:rPr lang="id-ID" smtClean="0"/>
              <a:pPr/>
              <a:t>28/04/2025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5333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3735F-2667-4028-B606-D96AABD86FDB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18913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000" b="1" kern="1200">
          <a:solidFill>
            <a:srgbClr val="0079B8"/>
          </a:solidFill>
          <a:latin typeface="Open Sans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Open Sans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Open Sans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cornell.edu/courses/cs4780/2018fa/lectures/lecturenote09.html" TargetMode="External"/><Relationship Id="rId2" Type="http://schemas.openxmlformats.org/officeDocument/2006/relationships/hyperlink" Target="https://cse.hkust.edu.hk/~qyang/221/Lectures/intro%20to%20svm%20221.pp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F5745-BF6D-4DAF-AC1D-D92D6B4CE0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ACD0BE-E9A2-46DE-8028-804070862E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F129D-6657-47D0-82E4-ACC03A7D9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1</a:t>
            </a:fld>
            <a:endParaRPr lang="id-ID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EA4AE48-DD8D-46DA-B9D1-73C236C20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887" y="1676400"/>
            <a:ext cx="7072313" cy="935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63850" marR="0" lvl="0" indent="-2863850" algn="l" rtl="0">
              <a:spcBef>
                <a:spcPts val="0"/>
              </a:spcBef>
              <a:spcAft>
                <a:spcPts val="0"/>
              </a:spcAft>
              <a:buNone/>
              <a:tabLst>
                <a:tab pos="2743200" algn="l"/>
              </a:tabLst>
            </a:pPr>
            <a:endParaRPr lang="en-US" sz="1400" dirty="0">
              <a:solidFill>
                <a:schemeClr val="bg1"/>
              </a:solidFill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861811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6">
            <a:extLst>
              <a:ext uri="{FF2B5EF4-FFF2-40B4-BE49-F238E27FC236}">
                <a16:creationId xmlns:a16="http://schemas.microsoft.com/office/drawing/2014/main" id="{7ED8D132-BAD9-4B01-BD30-49D4BD75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8992B239-0C0D-4EF4-B944-36CC075D2A5A}" type="slidenum">
              <a:rPr lang="en-US" altLang="en-US" sz="1200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</a:t>
            </a:fld>
            <a:endParaRPr lang="en-US" altLang="en-US" sz="120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034E3F2D-D9B7-49FF-9787-5B5D71D06D1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066800" y="1728936"/>
            <a:ext cx="7696200" cy="436706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Prepare the Dataset</a:t>
            </a:r>
          </a:p>
          <a:p>
            <a:pPr eaLnBrk="1" hangingPunct="1"/>
            <a:r>
              <a:rPr lang="en-US" altLang="en-US" sz="2400" dirty="0"/>
              <a:t>Choose two hyperplanes which separate data</a:t>
            </a:r>
          </a:p>
          <a:p>
            <a:pPr eaLnBrk="1" hangingPunct="1"/>
            <a:r>
              <a:rPr lang="en-US" altLang="en-US" sz="2400" dirty="0"/>
              <a:t>Maximize margin</a:t>
            </a:r>
          </a:p>
          <a:p>
            <a:pPr eaLnBrk="1" hangingPunct="1"/>
            <a:endParaRPr lang="en-US" altLang="en-US" sz="2400" dirty="0"/>
          </a:p>
          <a:p>
            <a:pPr marL="0" indent="0" eaLnBrk="1" hangingPunct="1">
              <a:buNone/>
            </a:pPr>
            <a:endParaRPr lang="en-US" altLang="en-US" sz="2400" dirty="0"/>
          </a:p>
        </p:txBody>
      </p:sp>
      <p:sp>
        <p:nvSpPr>
          <p:cNvPr id="27651" name="Rectangle 4">
            <a:extLst>
              <a:ext uri="{FF2B5EF4-FFF2-40B4-BE49-F238E27FC236}">
                <a16:creationId xmlns:a16="http://schemas.microsoft.com/office/drawing/2014/main" id="{27461C4A-7A6A-4984-949A-6229ECEA16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24200" y="381000"/>
            <a:ext cx="6019800" cy="990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dirty="0"/>
              <a:t>How to find the biggest margin/ optimal hyperplane?</a:t>
            </a:r>
          </a:p>
        </p:txBody>
      </p:sp>
      <p:sp>
        <p:nvSpPr>
          <p:cNvPr id="27652" name="TextBox 4">
            <a:extLst>
              <a:ext uri="{FF2B5EF4-FFF2-40B4-BE49-F238E27FC236}">
                <a16:creationId xmlns:a16="http://schemas.microsoft.com/office/drawing/2014/main" id="{0C724646-C5DB-496E-8AFC-3B3576413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-33338"/>
            <a:ext cx="1098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>
                <a:solidFill>
                  <a:srgbClr val="FBFCFF"/>
                </a:solidFill>
              </a:rPr>
              <a:t>Sec. 15.1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14C465-30B5-4543-BD40-6EE0CAA1DBCB}"/>
              </a:ext>
            </a:extLst>
          </p:cNvPr>
          <p:cNvSpPr/>
          <p:nvPr/>
        </p:nvSpPr>
        <p:spPr>
          <a:xfrm>
            <a:off x="52451" y="6453336"/>
            <a:ext cx="25565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en-US" sz="1400" dirty="0">
                <a:cs typeface="Times New Roman" panose="02020603050405020304" pitchFamily="18" charset="0"/>
              </a:rPr>
              <a:t>Slide by C. Manning and P. Nayak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AAFF10F-91BA-4D03-A794-02ACC0A8B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Step: Dataset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D7F38A-B0B6-464C-AA9A-F5D84B85A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8D34A-865D-4660-995F-F0401CC81955}" type="slidenum">
              <a:rPr lang="en-US" altLang="en-US" smtClean="0"/>
              <a:pPr/>
              <a:t>3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D4B0985-131B-4C15-967E-8028C26C2A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Most of the data have n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800" b="0" dirty="0"/>
              </a:p>
              <a:p>
                <a:r>
                  <a:rPr lang="en-US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associate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with +1 and -1 as their class.  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DD4B0985-131B-4C15-967E-8028C26C2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AB1671B-AB58-4A37-8EFA-C9D056087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693" y="3429000"/>
            <a:ext cx="5000613" cy="113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313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605F4-9640-4B45-B01D-4C9047988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020" y="1691444"/>
            <a:ext cx="7543800" cy="639688"/>
          </a:xfrm>
        </p:spPr>
        <p:txBody>
          <a:bodyPr>
            <a:normAutofit fontScale="90000"/>
          </a:bodyPr>
          <a:lstStyle/>
          <a:p>
            <a:r>
              <a:rPr lang="en-US" dirty="0"/>
              <a:t>Step 2: </a:t>
            </a:r>
            <a:r>
              <a:rPr lang="en-US" altLang="en-US" sz="3200" dirty="0"/>
              <a:t>Choose two hyperplanes which separate data</a:t>
            </a:r>
            <a:br>
              <a:rPr lang="en-US" altLang="en-US" sz="3200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F91B76-3BA4-423C-AFE2-626A393B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4</a:t>
            </a:fld>
            <a:endParaRPr lang="id-ID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B266533-5D6C-4B8E-AD8F-DB09CD6662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599542"/>
            <a:ext cx="4494297" cy="2567014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FB20CE-6F56-46DE-85F8-5A2935E6B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721" y="2566921"/>
            <a:ext cx="4714279" cy="292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010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605F4-9640-4B45-B01D-4C9047988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020" y="1691444"/>
            <a:ext cx="7543800" cy="639688"/>
          </a:xfrm>
        </p:spPr>
        <p:txBody>
          <a:bodyPr>
            <a:normAutofit fontScale="90000"/>
          </a:bodyPr>
          <a:lstStyle/>
          <a:p>
            <a:r>
              <a:rPr lang="en-US" dirty="0"/>
              <a:t>Step 2: </a:t>
            </a:r>
            <a:r>
              <a:rPr lang="en-US" altLang="en-US" sz="3200" dirty="0"/>
              <a:t>Choose two hyperplanes which separate data</a:t>
            </a:r>
            <a:br>
              <a:rPr lang="en-US" altLang="en-US" sz="3200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F91B76-3BA4-423C-AFE2-626A393B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5</a:t>
            </a:fld>
            <a:endParaRPr 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3FD1639-7A3D-4C32-A401-CE3E5AEB9E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3000" y="2331132"/>
                <a:ext cx="7605464" cy="4138291"/>
              </a:xfrm>
            </p:spPr>
            <p:txBody>
              <a:bodyPr/>
              <a:lstStyle/>
              <a:p>
                <a:r>
                  <a:rPr lang="en-US" dirty="0"/>
                  <a:t>Hyperplane Equation: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known hyperplane H0 separate the dataset and satisfy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then the H1 and H2 equation: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1: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2: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Therefore, H0 have same length with H1 and H2</a:t>
                </a:r>
              </a:p>
              <a:p>
                <a:endParaRPr lang="en-US" dirty="0"/>
              </a:p>
              <a:p>
                <a:r>
                  <a:rPr lang="en-US" dirty="0"/>
                  <a:t>However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is not needed, we could define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into 1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1: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2: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B3FD1639-7A3D-4C32-A401-CE3E5AEB9E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3000" y="2331132"/>
                <a:ext cx="7605464" cy="4138291"/>
              </a:xfrm>
              <a:blipFill>
                <a:blip r:embed="rId2"/>
                <a:stretch>
                  <a:fillRect l="-722" t="-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5377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DA709-77BE-4EF7-A7E0-24A73C528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664" y="1612834"/>
            <a:ext cx="7543800" cy="639688"/>
          </a:xfrm>
        </p:spPr>
        <p:txBody>
          <a:bodyPr>
            <a:normAutofit fontScale="90000"/>
          </a:bodyPr>
          <a:lstStyle/>
          <a:p>
            <a:r>
              <a:rPr lang="en-US" dirty="0"/>
              <a:t>Step 2: </a:t>
            </a:r>
            <a:r>
              <a:rPr lang="en-US" altLang="en-US" sz="2800" dirty="0"/>
              <a:t>Choose two hyperplanes which separate data</a:t>
            </a:r>
            <a:br>
              <a:rPr lang="en-US" altLang="en-US" sz="2800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809501-F638-4C3E-9250-F18B4B8B1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6</a:t>
            </a:fld>
            <a:endParaRPr 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F0B6507-3F63-4F34-BFB0-0E62EDF002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6986" y="2617646"/>
                <a:ext cx="7605464" cy="283087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We will not use all the hyperplane, only hyperplane that satisfy the constraint:</a:t>
                </a:r>
              </a:p>
              <a:p>
                <a:pPr marL="210820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; for class 1</a:t>
                </a:r>
              </a:p>
              <a:p>
                <a:pPr marL="341313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and</a:t>
                </a:r>
                <a:endParaRPr lang="en-US" b="0" dirty="0">
                  <a:ea typeface="Cambria Math" panose="02040503050406030204" pitchFamily="18" charset="0"/>
                </a:endParaRPr>
              </a:p>
              <a:p>
                <a:pPr marL="1890713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≤−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; for class </a:t>
                </a:r>
                <a:r>
                  <a:rPr lang="en-US" dirty="0">
                    <a:ea typeface="Cambria Math" panose="02040503050406030204" pitchFamily="18" charset="0"/>
                  </a:rPr>
                  <a:t>-1</a:t>
                </a:r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  <a:p>
                <a:r>
                  <a:rPr lang="en-US" dirty="0"/>
                  <a:t>For class -1,we could multiple both side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 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F0B6507-3F63-4F34-BFB0-0E62EDF002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6986" y="2617646"/>
                <a:ext cx="7605464" cy="2830878"/>
              </a:xfrm>
              <a:blipFill>
                <a:blip r:embed="rId2"/>
                <a:stretch>
                  <a:fillRect l="-722" t="-2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8020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1ECF6-0FA1-45D5-B4F3-0000C21E5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Maximize Margin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6FA149-23CE-4847-991C-D8FAFE4F3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7</a:t>
            </a:fld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0ECBBD-FA41-4ADB-AEEE-0EE96473F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distance of the hyperplane</a:t>
            </a: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109B760D-F436-40A3-8C7F-74B6136CD1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6253452"/>
              </p:ext>
            </p:extLst>
          </p:nvPr>
        </p:nvGraphicFramePr>
        <p:xfrm>
          <a:off x="3971091" y="2650976"/>
          <a:ext cx="2320925" cy="198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700" imgH="444500" progId="Equation.3">
                  <p:embed/>
                </p:oleObj>
              </mc:Choice>
              <mc:Fallback>
                <p:oleObj name="Equation" r:id="rId2" imgW="520700" imgH="444500" progId="Equation.3">
                  <p:embed/>
                  <p:pic>
                    <p:nvPicPr>
                      <p:cNvPr id="30725" name="Object 2">
                        <a:extLst>
                          <a:ext uri="{FF2B5EF4-FFF2-40B4-BE49-F238E27FC236}">
                            <a16:creationId xmlns:a16="http://schemas.microsoft.com/office/drawing/2014/main" id="{14506DBB-F754-469E-83C2-C2CD47BDAA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1091" y="2650976"/>
                        <a:ext cx="2320925" cy="1982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8180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02576-5778-444B-98C4-887A958D7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E92170-6CCC-4719-B5A4-25FB73A32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8</a:t>
            </a:fld>
            <a:endParaRPr lang="id-ID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505F561-433D-4C6C-B6E3-36FAD379D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513775"/>
              </p:ext>
            </p:extLst>
          </p:nvPr>
        </p:nvGraphicFramePr>
        <p:xfrm>
          <a:off x="1636542" y="2378112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78661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418758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41471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832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751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712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354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3711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6FC1B9-0E7A-45F6-AA58-47724A97031E}"/>
                  </a:ext>
                </a:extLst>
              </p:cNvPr>
              <p:cNvSpPr txBox="1"/>
              <p:nvPr/>
            </p:nvSpPr>
            <p:spPr>
              <a:xfrm>
                <a:off x="2286000" y="4599136"/>
                <a:ext cx="4572000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.1+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6FC1B9-0E7A-45F6-AA58-47724A970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4599136"/>
                <a:ext cx="4572000" cy="14773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741B46C8-B7F5-4FFC-8C09-D9C4B92A0C47}"/>
              </a:ext>
            </a:extLst>
          </p:cNvPr>
          <p:cNvSpPr/>
          <p:nvPr/>
        </p:nvSpPr>
        <p:spPr>
          <a:xfrm>
            <a:off x="1519311" y="2715065"/>
            <a:ext cx="6471138" cy="365125"/>
          </a:xfrm>
          <a:prstGeom prst="rect">
            <a:avLst/>
          </a:prstGeom>
          <a:noFill/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CDA66CB1-1D86-4CE6-8035-39612B5B1A02}"/>
              </a:ext>
            </a:extLst>
          </p:cNvPr>
          <p:cNvCxnSpPr>
            <a:endCxn id="7" idx="1"/>
          </p:cNvCxnSpPr>
          <p:nvPr/>
        </p:nvCxnSpPr>
        <p:spPr>
          <a:xfrm rot="16200000" flipH="1">
            <a:off x="668660" y="3720459"/>
            <a:ext cx="2467991" cy="766689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778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02576-5778-444B-98C4-887A958D7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E92170-6CCC-4719-B5A4-25FB73A32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9</a:t>
            </a:fld>
            <a:endParaRPr lang="id-ID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505F561-433D-4C6C-B6E3-36FAD379DD7E}"/>
              </a:ext>
            </a:extLst>
          </p:cNvPr>
          <p:cNvGraphicFramePr>
            <a:graphicFrameLocks noGrp="1"/>
          </p:cNvGraphicFramePr>
          <p:nvPr/>
        </p:nvGraphicFramePr>
        <p:xfrm>
          <a:off x="1636542" y="2378112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78661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418758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41471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832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751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712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354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3711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6FC1B9-0E7A-45F6-AA58-47724A97031E}"/>
                  </a:ext>
                </a:extLst>
              </p:cNvPr>
              <p:cNvSpPr txBox="1"/>
              <p:nvPr/>
            </p:nvSpPr>
            <p:spPr>
              <a:xfrm>
                <a:off x="1636542" y="4599136"/>
                <a:ext cx="6745457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i="1" dirty="0">
                    <a:latin typeface="Cambria Math" panose="02040503050406030204" pitchFamily="18" charset="0"/>
                  </a:rPr>
                  <a:t>The result from above table: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1)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br>
                  <a:rPr lang="en-US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2)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3)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4)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6FC1B9-0E7A-45F6-AA58-47724A9703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542" y="4599136"/>
                <a:ext cx="6745457" cy="1754326"/>
              </a:xfrm>
              <a:prstGeom prst="rect">
                <a:avLst/>
              </a:prstGeom>
              <a:blipFill>
                <a:blip r:embed="rId2"/>
                <a:stretch>
                  <a:fillRect l="-723" t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4954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32D01-961D-4AE0-B91A-E072B1528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B7B16E-68A7-4399-BFFE-25B77315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10</a:t>
            </a:fld>
            <a:endParaRPr 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9549EC-1CED-467C-A14C-5A63F54643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Finding the w1, w2, and b values using elimination and substitution.</a:t>
                </a:r>
              </a:p>
              <a:p>
                <a:r>
                  <a:rPr lang="en-US" dirty="0"/>
                  <a:t>Elimination Equation 1 and Equation 2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Elimination Equation 1 and Equation 3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9549EC-1CED-467C-A14C-5A63F54643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2" t="-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83F4F5-C74B-4B2F-9D0D-BDE16EE8C342}"/>
              </a:ext>
            </a:extLst>
          </p:cNvPr>
          <p:cNvCxnSpPr/>
          <p:nvPr/>
        </p:nvCxnSpPr>
        <p:spPr>
          <a:xfrm>
            <a:off x="3418449" y="3770142"/>
            <a:ext cx="3134751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B8ECB6-E81E-4E18-965D-D63DBB44BB38}"/>
                  </a:ext>
                </a:extLst>
              </p:cNvPr>
              <p:cNvSpPr txBox="1"/>
              <p:nvPr/>
            </p:nvSpPr>
            <p:spPr>
              <a:xfrm>
                <a:off x="6353626" y="3277699"/>
                <a:ext cx="39914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B8ECB6-E81E-4E18-965D-D63DBB44B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626" y="3277699"/>
                <a:ext cx="399148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82063EA-7DAE-4B43-AAD3-82085BA0007E}"/>
              </a:ext>
            </a:extLst>
          </p:cNvPr>
          <p:cNvCxnSpPr/>
          <p:nvPr/>
        </p:nvCxnSpPr>
        <p:spPr>
          <a:xfrm>
            <a:off x="3418449" y="5604268"/>
            <a:ext cx="3134751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056F1D-0FDC-4875-AA1C-0F583BD8632A}"/>
                  </a:ext>
                </a:extLst>
              </p:cNvPr>
              <p:cNvSpPr txBox="1"/>
              <p:nvPr/>
            </p:nvSpPr>
            <p:spPr>
              <a:xfrm>
                <a:off x="6353626" y="5111825"/>
                <a:ext cx="39914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056F1D-0FDC-4875-AA1C-0F583BD86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626" y="5111825"/>
                <a:ext cx="399148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0800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5E093-ACB1-49C9-B914-7F83415A8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E2E2DB-1C5D-4573-A7E2-13BEB4A27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11</a:t>
            </a:fld>
            <a:endParaRPr 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F63C52E-5985-4652-969C-2EC79FE285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Elimination Equation 2 and Equation 3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br>
                  <a:rPr lang="en-US" dirty="0"/>
                </a:b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Therefore, the Hyperplane Equation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F63C52E-5985-4652-969C-2EC79FE285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2" t="-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2D13D67-3193-4476-B23E-67156BC39477}"/>
              </a:ext>
            </a:extLst>
          </p:cNvPr>
          <p:cNvCxnSpPr/>
          <p:nvPr/>
        </p:nvCxnSpPr>
        <p:spPr>
          <a:xfrm>
            <a:off x="3418449" y="3073081"/>
            <a:ext cx="3134751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C9180F-A6E0-4CB8-B112-8AB4C8703717}"/>
                  </a:ext>
                </a:extLst>
              </p:cNvPr>
              <p:cNvSpPr txBox="1"/>
              <p:nvPr/>
            </p:nvSpPr>
            <p:spPr>
              <a:xfrm>
                <a:off x="6353626" y="2580638"/>
                <a:ext cx="39914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32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C9180F-A6E0-4CB8-B112-8AB4C8703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3626" y="2580638"/>
                <a:ext cx="399148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6547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D890C-7866-4DA1-ABC0-A147B26F4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4FE7C6-9B19-4227-82CC-1FBC993B7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12</a:t>
            </a:fld>
            <a:endParaRPr 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F9FCEC1-C5E4-4670-B6A5-96CA0DC209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Now we have new data; x1 = -9 and x2=0, what is the y ?</a:t>
                </a:r>
              </a:p>
              <a:p>
                <a:r>
                  <a:rPr lang="en-US" dirty="0"/>
                  <a:t>Using the hyperplane equation from training data: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−9+0−1=−10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𝑆𝑖𝑔𝑛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−10</m:t>
                          </m:r>
                        </m:e>
                      </m:d>
                    </m:oMath>
                  </m:oMathPara>
                </a14:m>
                <a:br>
                  <a:rPr lang="en-US" b="0" dirty="0">
                    <a:ea typeface="Cambria Math" panose="02040503050406030204" pitchFamily="18" charset="0"/>
                  </a:rPr>
                </a:b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Because the result is -10, the class will be -1. Due to the constrain:</a:t>
                </a:r>
              </a:p>
              <a:p>
                <a:pPr marL="210820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; for class 1</a:t>
                </a:r>
              </a:p>
              <a:p>
                <a:pPr marL="341313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and</a:t>
                </a:r>
                <a:endParaRPr lang="en-US" b="0" dirty="0">
                  <a:ea typeface="Cambria Math" panose="02040503050406030204" pitchFamily="18" charset="0"/>
                </a:endParaRPr>
              </a:p>
              <a:p>
                <a:pPr marL="1890713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≤−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; for class </a:t>
                </a:r>
                <a:r>
                  <a:rPr lang="en-US" dirty="0">
                    <a:ea typeface="Cambria Math" panose="02040503050406030204" pitchFamily="18" charset="0"/>
                  </a:rPr>
                  <a:t>-1</a:t>
                </a:r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F9FCEC1-C5E4-4670-B6A5-96CA0DC209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2" t="-821" r="-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9540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FC17A-25E5-4059-A75F-DD2610EFD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BB099F-433D-4332-9C02-50811AB9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13</a:t>
            </a:fld>
            <a:endParaRPr lang="id-ID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764ADF63-2B96-4C2F-A78B-AEC8AB10B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449619"/>
              </p:ext>
            </p:extLst>
          </p:nvPr>
        </p:nvGraphicFramePr>
        <p:xfrm>
          <a:off x="3458930" y="2011288"/>
          <a:ext cx="3657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89448282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86036772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402408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471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283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536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196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204219"/>
                  </a:ext>
                </a:extLst>
              </a:tr>
            </a:tbl>
          </a:graphicData>
        </a:graphic>
      </p:graphicFrame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98D5163-16F8-490C-87F2-6FD28FCA9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4297288"/>
            <a:ext cx="7605464" cy="2172135"/>
          </a:xfrm>
        </p:spPr>
        <p:txBody>
          <a:bodyPr/>
          <a:lstStyle/>
          <a:p>
            <a:r>
              <a:rPr lang="en-US" dirty="0"/>
              <a:t>From above data training, find the hyperplane equation</a:t>
            </a:r>
          </a:p>
          <a:p>
            <a:endParaRPr lang="en-US" dirty="0"/>
          </a:p>
          <a:p>
            <a:r>
              <a:rPr lang="en-US" dirty="0"/>
              <a:t>Assume you have x1= 2, and x2=-1, Determine the class of this new data.</a:t>
            </a:r>
          </a:p>
        </p:txBody>
      </p:sp>
    </p:spTree>
    <p:extLst>
      <p:ext uri="{BB962C8B-B14F-4D97-AF65-F5344CB8AC3E}">
        <p14:creationId xmlns:p14="http://schemas.microsoft.com/office/powerpoint/2010/main" val="3151856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07AD0-3C0D-4657-AC86-9B073DF28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76D010-EC5C-422D-ABD3-3838707CC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3735F-2667-4028-B606-D96AABD86FDB}" type="slidenum">
              <a:rPr lang="id-ID" smtClean="0"/>
              <a:pPr/>
              <a:t>14</a:t>
            </a:fld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000ED-7D90-424C-A7E5-3BD01D9BE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Siti Aminah, Dina </a:t>
            </a:r>
            <a:r>
              <a:rPr lang="en-US" dirty="0" err="1"/>
              <a:t>Cahyati</a:t>
            </a:r>
            <a:r>
              <a:rPr lang="en-US" dirty="0"/>
              <a:t>, Ari Wibisono, </a:t>
            </a:r>
            <a:r>
              <a:rPr lang="en-US" dirty="0" err="1"/>
              <a:t>Dhimas</a:t>
            </a:r>
            <a:r>
              <a:rPr lang="en-US" dirty="0"/>
              <a:t> </a:t>
            </a:r>
            <a:r>
              <a:rPr lang="en-US" dirty="0" err="1"/>
              <a:t>Arief</a:t>
            </a:r>
            <a:r>
              <a:rPr lang="en-US" dirty="0"/>
              <a:t>, Learning to Classify: the Support Vector Machines. Universitas Indonesia</a:t>
            </a:r>
          </a:p>
          <a:p>
            <a:r>
              <a:rPr lang="en-US" dirty="0"/>
              <a:t>Andrew Moore and Martin Law. 2022. Introduction to Support Vector Machines. </a:t>
            </a:r>
            <a:r>
              <a:rPr lang="en-US" dirty="0">
                <a:hlinkClick r:id="rId2"/>
              </a:rPr>
              <a:t>https://cse.hkust.edu.hk/~qyang/221/Lectures/intro%20to%20svm%20221.ppt</a:t>
            </a:r>
            <a:endParaRPr lang="en-US" dirty="0"/>
          </a:p>
          <a:p>
            <a:r>
              <a:rPr lang="en-US" dirty="0">
                <a:hlinkClick r:id="rId3"/>
              </a:rPr>
              <a:t>https://www.cs.cornell.edu/courses/cs4780/2018fa/lectures/lecturenote09.html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9766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" id="{6005E162-EB9D-4868-AAE5-4943B54EC81F}" vid="{461BC5E4-AAE9-422B-A358-27971E921F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140</TotalTime>
  <Words>759</Words>
  <Application>Microsoft Office PowerPoint</Application>
  <PresentationFormat>On-screen Show (4:3)</PresentationFormat>
  <Paragraphs>129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Cambria Math</vt:lpstr>
      <vt:lpstr>Open Sans</vt:lpstr>
      <vt:lpstr>Times New Roman</vt:lpstr>
      <vt:lpstr>Theme</vt:lpstr>
      <vt:lpstr>Equation</vt:lpstr>
      <vt:lpstr>Support Vector Machines</vt:lpstr>
      <vt:lpstr>How to find the biggest margin/ optimal hyperplane?</vt:lpstr>
      <vt:lpstr>First Step: Dataset</vt:lpstr>
      <vt:lpstr>Step 2: Choose two hyperplanes which separate data </vt:lpstr>
      <vt:lpstr>Step 2: Choose two hyperplanes which separate data </vt:lpstr>
      <vt:lpstr>Step 2: Choose two hyperplanes which separate data </vt:lpstr>
      <vt:lpstr>Step 3: Maximize Margin</vt:lpstr>
      <vt:lpstr>Example</vt:lpstr>
      <vt:lpstr>Example</vt:lpstr>
      <vt:lpstr>Example</vt:lpstr>
      <vt:lpstr>Example</vt:lpstr>
      <vt:lpstr>Example</vt:lpstr>
      <vt:lpstr>Exercise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Vector Machines</dc:title>
  <dc:creator>Felix Indra Kurniadi</dc:creator>
  <cp:lastModifiedBy>Office 365 Kelas 19</cp:lastModifiedBy>
  <cp:revision>13</cp:revision>
  <dcterms:created xsi:type="dcterms:W3CDTF">2022-02-02T12:02:26Z</dcterms:created>
  <dcterms:modified xsi:type="dcterms:W3CDTF">2025-04-28T13:53:56Z</dcterms:modified>
</cp:coreProperties>
</file>